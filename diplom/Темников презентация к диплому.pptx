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7" r:id="rId6"/>
    <p:sldId id="261" r:id="rId7"/>
    <p:sldId id="268" r:id="rId8"/>
    <p:sldId id="269" r:id="rId9"/>
    <p:sldId id="275" r:id="rId10"/>
    <p:sldId id="271" r:id="rId11"/>
    <p:sldId id="270" r:id="rId12"/>
    <p:sldId id="276" r:id="rId13"/>
    <p:sldId id="272" r:id="rId14"/>
    <p:sldId id="273" r:id="rId15"/>
    <p:sldId id="274" r:id="rId1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44" autoAdjust="0"/>
    <p:restoredTop sz="94660"/>
  </p:normalViewPr>
  <p:slideViewPr>
    <p:cSldViewPr>
      <p:cViewPr varScale="1">
        <p:scale>
          <a:sx n="99" d="100"/>
          <a:sy n="99" d="100"/>
        </p:scale>
        <p:origin x="-33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25"/>
          <c:w val="0.4617143794058729"/>
          <c:h val="0.63613981162587008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313"/>
          <c:y val="0.26828827962204815"/>
          <c:w val="0.47075011378664056"/>
          <c:h val="0.61617777725816736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51152000"/>
        <c:axId val="51153536"/>
      </c:barChart>
      <c:catAx>
        <c:axId val="51152000"/>
        <c:scaling>
          <c:orientation val="minMax"/>
        </c:scaling>
        <c:axPos val="b"/>
        <c:numFmt formatCode="General" sourceLinked="1"/>
        <c:tickLblPos val="nextTo"/>
        <c:crossAx val="51153536"/>
        <c:crosses val="autoZero"/>
        <c:auto val="1"/>
        <c:lblAlgn val="ctr"/>
        <c:lblOffset val="100"/>
      </c:catAx>
      <c:valAx>
        <c:axId val="51153536"/>
        <c:scaling>
          <c:orientation val="minMax"/>
        </c:scaling>
        <c:axPos val="l"/>
        <c:majorGridlines/>
        <c:numFmt formatCode="General" sourceLinked="1"/>
        <c:tickLblPos val="nextTo"/>
        <c:crossAx val="51152000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08.06.2016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08.06.2016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Autofit/>
          </a:bodyPr>
          <a:lstStyle/>
          <a:p>
            <a:pPr algn="ctr"/>
            <a:r>
              <a:rPr lang="ru-RU" sz="2000" dirty="0" smtClean="0"/>
              <a:t>ВЫПУСКНАЯ КВАЛИФИКАЦИОННАЯ (БАКАЛАВРСКАЯ) РАБОТА</a:t>
            </a:r>
            <a:br>
              <a:rPr lang="ru-RU" sz="2000" dirty="0" smtClean="0"/>
            </a:br>
            <a:r>
              <a:rPr lang="ru-RU" sz="2000" dirty="0" smtClean="0"/>
              <a:t>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a:t>
            </a:r>
            <a:endParaRPr lang="ru-RU" sz="2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Студента группы 521 </a:t>
            </a:r>
          </a:p>
          <a:p>
            <a:r>
              <a:rPr lang="ru-RU" dirty="0" err="1" smtClean="0"/>
              <a:t>Темникова</a:t>
            </a:r>
            <a:r>
              <a:rPr lang="ru-RU" dirty="0" smtClean="0"/>
              <a:t> Андрея Владимировича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</a:p>
          <a:p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60032" y="65973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6381328"/>
            <a:ext cx="1777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ЧЕЛЯБИНСК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2016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 (СУЖЦ)</a:t>
            </a:r>
          </a:p>
          <a:p>
            <a:r>
              <a:rPr lang="ru-RU" dirty="0" smtClean="0"/>
              <a:t>Объект исследования: СУЖЦ </a:t>
            </a:r>
            <a:r>
              <a:rPr lang="en-US" dirty="0" smtClean="0"/>
              <a:t>PTC Windchill </a:t>
            </a:r>
            <a:r>
              <a:rPr lang="ru-RU" dirty="0" smtClean="0"/>
              <a:t>на 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	 PTC </a:t>
            </a:r>
            <a:r>
              <a:rPr lang="en-US" dirty="0" err="1" smtClean="0"/>
              <a:t>Windchill</a:t>
            </a:r>
            <a:r>
              <a:rPr lang="en-US" dirty="0" smtClean="0"/>
              <a:t>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Управление жизненным циклом продукции на ПАО «Радиозавод»</a:t>
            </a:r>
            <a:endParaRPr lang="ru-RU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659791"/>
            <a:ext cx="7499350" cy="4376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Действующие информационные системы ПАО «Радиозавод»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СУБД </a:t>
            </a:r>
            <a:r>
              <a:rPr lang="ru-RU" dirty="0" err="1" smtClean="0"/>
              <a:t>Clipper</a:t>
            </a:r>
            <a:r>
              <a:rPr lang="ru-RU" dirty="0" smtClean="0"/>
              <a:t> – с помощью этой системы был полностью автоматизирован учет на предприятии, в том числе, частично, и жизненный цикл продукции. </a:t>
            </a:r>
          </a:p>
          <a:p>
            <a:r>
              <a:rPr lang="ru-RU" dirty="0" smtClean="0"/>
              <a:t>САПР "КОМПАС" – применяется для разработки чертежей и моделей для изделий. </a:t>
            </a:r>
          </a:p>
          <a:p>
            <a:r>
              <a:rPr lang="ru-RU" dirty="0" smtClean="0"/>
              <a:t>САПР "</a:t>
            </a:r>
            <a:r>
              <a:rPr lang="en-US" dirty="0" smtClean="0">
                <a:latin typeface="Corbel" pitchFamily="34" charset="0"/>
              </a:rPr>
              <a:t>P</a:t>
            </a:r>
            <a:r>
              <a:rPr lang="ru-RU" dirty="0" smtClean="0">
                <a:latin typeface="Corbel" pitchFamily="34" charset="0"/>
              </a:rPr>
              <a:t>-</a:t>
            </a:r>
            <a:r>
              <a:rPr lang="en-US" dirty="0" smtClean="0">
                <a:latin typeface="Corbel" pitchFamily="34" charset="0"/>
              </a:rPr>
              <a:t>CAD</a:t>
            </a:r>
            <a:r>
              <a:rPr lang="ru-RU" dirty="0" smtClean="0"/>
              <a:t>" – система используется для проектирования печатных плат</a:t>
            </a:r>
          </a:p>
          <a:p>
            <a:r>
              <a:rPr lang="ru-RU" dirty="0" smtClean="0"/>
              <a:t>1С:</a:t>
            </a:r>
            <a:r>
              <a:rPr lang="en-US" dirty="0" smtClean="0">
                <a:latin typeface="Corbel" pitchFamily="34" charset="0"/>
              </a:rPr>
              <a:t>ERP</a:t>
            </a:r>
            <a:r>
              <a:rPr lang="en-US" dirty="0" smtClean="0"/>
              <a:t> </a:t>
            </a:r>
            <a:r>
              <a:rPr lang="ru" dirty="0" smtClean="0"/>
              <a:t>–</a:t>
            </a:r>
            <a:r>
              <a:rPr lang="en-US" dirty="0" smtClean="0"/>
              <a:t> </a:t>
            </a:r>
            <a:r>
              <a:rPr lang="ru-RU" dirty="0" smtClean="0"/>
              <a:t>применяется для различных экономических расчетов и создания необходимой отчетности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556792"/>
            <a:ext cx="7746064" cy="4824536"/>
          </a:xfrm>
        </p:spPr>
        <p:txBody>
          <a:bodyPr>
            <a:normAutofit fontScale="85000" lnSpcReduction="20000"/>
          </a:bodyPr>
          <a:lstStyle/>
          <a:p>
            <a:r>
              <a:rPr lang="ru-RU" dirty="0" smtClean="0"/>
              <a:t>Несопоставимость форматов данных имеющихся электронных моделей с применяемыми в </a:t>
            </a:r>
            <a:r>
              <a:rPr lang="en-US" dirty="0" smtClean="0"/>
              <a:t>Windchill</a:t>
            </a:r>
            <a:r>
              <a:rPr lang="ru-RU" dirty="0" smtClean="0"/>
              <a:t>, наличие большого числа бумажных носителей;</a:t>
            </a:r>
          </a:p>
          <a:p>
            <a:r>
              <a:rPr lang="ru-RU" dirty="0" smtClean="0"/>
              <a:t>Недостаточная система типов данных для корректного управления структурой изделия;</a:t>
            </a:r>
          </a:p>
          <a:p>
            <a:r>
              <a:rPr lang="ru-RU" dirty="0" smtClean="0"/>
              <a:t>Алгоритм внесения конструкторских изменений не соответствует требованиям ГОСТ на ЕСКД;</a:t>
            </a:r>
          </a:p>
          <a:p>
            <a:r>
              <a:rPr lang="ru-RU" dirty="0" smtClean="0"/>
              <a:t>Стандартные отчеты недостаточны и не соответствуют ЕСКД;</a:t>
            </a:r>
          </a:p>
          <a:p>
            <a:r>
              <a:rPr lang="ru-RU" dirty="0" smtClean="0"/>
              <a:t>Требуется синхронизация данных с другими КИС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Алгоритм перехода специалистов к работе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Электронные модели по текущим проектам завести в систему под видом изображений;</a:t>
            </a:r>
          </a:p>
          <a:p>
            <a:r>
              <a:rPr lang="ru-RU" dirty="0" smtClean="0"/>
              <a:t>Моделирование новых изделий производить через интерфейс СУЖЦ и интегрированной САПР; </a:t>
            </a:r>
          </a:p>
          <a:p>
            <a:r>
              <a:rPr lang="ru-RU" dirty="0" smtClean="0"/>
              <a:t>С новыми заказами работать схожим образом.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Обновление объектной модели </a:t>
            </a:r>
            <a:r>
              <a:rPr lang="en-US" dirty="0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" y="1916832"/>
            <a:ext cx="4471074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отчетов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Основная часть сопроводительной документации создаётся посредством конструктора запросов, либо уже предоставляется по умолчанию.</a:t>
            </a:r>
          </a:p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Для организации внутреннего документооборота требуются </a:t>
            </a:r>
            <a:r>
              <a:rPr lang="ru-RU" dirty="0" smtClean="0"/>
              <a:t>следующие отчеты в печатном виде:</a:t>
            </a:r>
          </a:p>
          <a:p>
            <a:r>
              <a:rPr lang="ru-RU" dirty="0" smtClean="0"/>
              <a:t>Ведомость покупных;</a:t>
            </a:r>
          </a:p>
          <a:p>
            <a:r>
              <a:rPr lang="ru-RU" dirty="0" smtClean="0"/>
              <a:t>Ведомость применяемости;</a:t>
            </a:r>
          </a:p>
          <a:p>
            <a:r>
              <a:rPr lang="ru-RU" dirty="0" smtClean="0"/>
              <a:t>Картотека трудового нормирования;</a:t>
            </a:r>
          </a:p>
          <a:p>
            <a:r>
              <a:rPr lang="ru-RU" dirty="0" smtClean="0"/>
              <a:t>Картотека планирования.</a:t>
            </a:r>
          </a:p>
          <a:p>
            <a:pPr marL="360000">
              <a:spcBef>
                <a:spcPts val="1200"/>
              </a:spcBef>
              <a:buNone/>
            </a:pPr>
            <a:r>
              <a:rPr lang="ru-RU" dirty="0" smtClean="0"/>
              <a:t>	Основные требования в ТЗ:</a:t>
            </a:r>
          </a:p>
          <a:p>
            <a:r>
              <a:rPr lang="ru-RU" sz="3100" dirty="0" smtClean="0"/>
              <a:t>Создание на основе данных только из </a:t>
            </a:r>
            <a:r>
              <a:rPr lang="en-US" sz="3100" dirty="0" smtClean="0"/>
              <a:t>Windchill</a:t>
            </a:r>
            <a:r>
              <a:rPr lang="ru-RU" sz="3100" dirty="0" smtClean="0"/>
              <a:t>;</a:t>
            </a:r>
          </a:p>
          <a:p>
            <a:r>
              <a:rPr lang="ru-RU" sz="3100" dirty="0" smtClean="0"/>
              <a:t>Возможность просмотра и изменения в электронном виде;</a:t>
            </a:r>
          </a:p>
          <a:p>
            <a:r>
              <a:rPr lang="ru-RU" sz="3100" dirty="0" smtClean="0"/>
              <a:t>Соответствие </a:t>
            </a:r>
            <a:r>
              <a:rPr lang="ru-RU" dirty="0" smtClean="0"/>
              <a:t>печатных форм нормам ЕСКД.</a:t>
            </a:r>
          </a:p>
          <a:p>
            <a:pPr>
              <a:buNone/>
            </a:pPr>
            <a:endParaRPr lang="ru-RU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608" y="274638"/>
            <a:ext cx="81003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Синхронизация данных в различных информационных системах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790791"/>
            <a:ext cx="7499350" cy="411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Разработаны методические рекомендации по организации  перехода специалистов к работе в новой системе;</a:t>
            </a:r>
          </a:p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ЕСКД;</a:t>
            </a:r>
          </a:p>
          <a:p>
            <a:r>
              <a:rPr lang="ru-RU" dirty="0" smtClean="0"/>
              <a:t>Определен перечень отчетов, требующих реализации в виде самостоятельного программного модуля и предоставлены требования к ним;</a:t>
            </a:r>
          </a:p>
          <a:p>
            <a:r>
              <a:rPr lang="ru-RU" dirty="0" smtClean="0"/>
              <a:t>Создана объектная модель, удовлетворяющая всем потребностям предприятия при автоматической обработке изделия и работе с документацией;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системах.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2497</TotalTime>
  <Words>452</Words>
  <Application>Microsoft Office PowerPoint</Application>
  <PresentationFormat>Экран (4:3)</PresentationFormat>
  <Paragraphs>106</Paragraphs>
  <Slides>15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6" baseType="lpstr">
      <vt:lpstr>Солнцестояние</vt:lpstr>
      <vt:lpstr>ВЫПУСКНАЯ КВАЛИФИКАЦИОННАЯ (БАКАЛАВРСКАЯ) РАБОТА 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vt:lpstr>
      <vt:lpstr>Описание работы</vt:lpstr>
      <vt:lpstr>Информационное обеспечение</vt:lpstr>
      <vt:lpstr>Описание ПАО «Радиозавод»</vt:lpstr>
      <vt:lpstr>PTC Windchill </vt:lpstr>
      <vt:lpstr>Управление жизненным циклом продукции на ПАО «Радиозавод»</vt:lpstr>
      <vt:lpstr>Действующие информационные системы ПАО «Радиозавод» </vt:lpstr>
      <vt:lpstr>Обзор выявленных проблем функционирования информационного обеспечения СУЖЦ</vt:lpstr>
      <vt:lpstr>Алгоритм перехода специалистов к работе в СУЖЦ</vt:lpstr>
      <vt:lpstr>Обновление объектной модели Windchill</vt:lpstr>
      <vt:lpstr>Проведение конструкторских изменений</vt:lpstr>
      <vt:lpstr>Система отчетов</vt:lpstr>
      <vt:lpstr>Синхронизация данных в различных информационных системах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136</cp:revision>
  <dcterms:created xsi:type="dcterms:W3CDTF">2016-05-07T16:58:22Z</dcterms:created>
  <dcterms:modified xsi:type="dcterms:W3CDTF">2016-06-08T11:54:06Z</dcterms:modified>
</cp:coreProperties>
</file>