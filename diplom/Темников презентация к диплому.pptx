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Default Extension="xlsx" ContentType="application/vnd.openxmlformats-officedocument.spreadsheetml.sheet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notesMasterIdLst>
    <p:notesMasterId r:id="rId19"/>
  </p:notesMasterIdLst>
  <p:sldIdLst>
    <p:sldId id="256" r:id="rId2"/>
    <p:sldId id="257" r:id="rId3"/>
    <p:sldId id="277" r:id="rId4"/>
    <p:sldId id="258" r:id="rId5"/>
    <p:sldId id="259" r:id="rId6"/>
    <p:sldId id="267" r:id="rId7"/>
    <p:sldId id="261" r:id="rId8"/>
    <p:sldId id="269" r:id="rId9"/>
    <p:sldId id="278" r:id="rId10"/>
    <p:sldId id="275" r:id="rId11"/>
    <p:sldId id="271" r:id="rId12"/>
    <p:sldId id="270" r:id="rId13"/>
    <p:sldId id="276" r:id="rId14"/>
    <p:sldId id="272" r:id="rId15"/>
    <p:sldId id="279" r:id="rId16"/>
    <p:sldId id="273" r:id="rId17"/>
    <p:sldId id="274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-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44" autoAdjust="0"/>
    <p:restoredTop sz="94660"/>
  </p:normalViewPr>
  <p:slideViewPr>
    <p:cSldViewPr>
      <p:cViewPr varScale="1">
        <p:scale>
          <a:sx n="99" d="100"/>
          <a:sy n="99" d="100"/>
        </p:scale>
        <p:origin x="-33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title>
      <c:tx>
        <c:rich>
          <a:bodyPr/>
          <a:lstStyle/>
          <a:p>
            <a:pPr>
              <a:defRPr/>
            </a:pPr>
            <a:r>
              <a:rPr lang="ru-RU" dirty="0" smtClean="0"/>
              <a:t>Соотношение</a:t>
            </a:r>
            <a:r>
              <a:rPr lang="ru-RU" baseline="0" dirty="0" smtClean="0"/>
              <a:t> рабочих мест</a:t>
            </a:r>
            <a:endParaRPr lang="ru-RU" dirty="0"/>
          </a:p>
        </c:rich>
      </c:tx>
      <c:layout/>
    </c:title>
    <c:plotArea>
      <c:layout>
        <c:manualLayout>
          <c:layoutTarget val="inner"/>
          <c:xMode val="edge"/>
          <c:yMode val="edge"/>
          <c:x val="1.6696397532890622E-2"/>
          <c:y val="0.24731418731252136"/>
          <c:w val="0.46171437940587301"/>
          <c:h val="0.63613981162587074"/>
        </c:manualLayout>
      </c:layout>
      <c:pie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explosion val="11"/>
          </c:dPt>
          <c:dLbls>
            <c:showVal val="1"/>
            <c:showLeaderLines val="1"/>
          </c:dLbls>
          <c:cat>
            <c:strRef>
              <c:f>Лист1!$A$2:$A$3</c:f>
              <c:strCache>
                <c:ptCount val="2"/>
                <c:pt idx="0">
                  <c:v>Оснащенные АРМ</c:v>
                </c:pt>
                <c:pt idx="1">
                  <c:v>Неоснащенные АРМ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300</c:v>
                </c:pt>
                <c:pt idx="1">
                  <c:v>1000</c:v>
                </c:pt>
              </c:numCache>
            </c:numRef>
          </c:val>
        </c:ser>
        <c:firstSliceAng val="0"/>
      </c:pieChart>
    </c:plotArea>
    <c:legend>
      <c:legendPos val="r"/>
      <c:layout>
        <c:manualLayout>
          <c:xMode val="edge"/>
          <c:yMode val="edge"/>
          <c:x val="0.49795856015998341"/>
          <c:y val="0.26828827962204838"/>
          <c:w val="0.47075011378664067"/>
          <c:h val="0.6161777772581678"/>
        </c:manualLayout>
      </c:layout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plotArea>
      <c:layout/>
      <c:barChart>
        <c:barDir val="col"/>
        <c:grouping val="clustered"/>
        <c:ser>
          <c:idx val="0"/>
          <c:order val="0"/>
          <c:tx>
            <c:strRef>
              <c:f>Лист1!$B$1</c:f>
              <c:strCache>
                <c:ptCount val="1"/>
                <c:pt idx="0">
                  <c:v>Выручка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2300</c:v>
                </c:pt>
                <c:pt idx="1">
                  <c:v>2700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Выпуск продукции</c:v>
                </c:pt>
              </c:strCache>
            </c:strRef>
          </c:tx>
          <c:cat>
            <c:numRef>
              <c:f>Лист1!$A$2:$A$3</c:f>
              <c:numCache>
                <c:formatCode>General</c:formatCode>
                <c:ptCount val="2"/>
                <c:pt idx="0">
                  <c:v>2014</c:v>
                </c:pt>
                <c:pt idx="1">
                  <c:v>2015</c:v>
                </c:pt>
              </c:numCache>
            </c:numRef>
          </c:cat>
          <c:val>
            <c:numRef>
              <c:f>Лист1!$C$2:$C$3</c:f>
              <c:numCache>
                <c:formatCode>General</c:formatCode>
                <c:ptCount val="2"/>
                <c:pt idx="0">
                  <c:v>2200</c:v>
                </c:pt>
                <c:pt idx="1">
                  <c:v>2600</c:v>
                </c:pt>
              </c:numCache>
            </c:numRef>
          </c:val>
        </c:ser>
        <c:axId val="68855296"/>
        <c:axId val="68856832"/>
      </c:barChart>
      <c:catAx>
        <c:axId val="68855296"/>
        <c:scaling>
          <c:orientation val="minMax"/>
        </c:scaling>
        <c:axPos val="b"/>
        <c:numFmt formatCode="General" sourceLinked="1"/>
        <c:tickLblPos val="nextTo"/>
        <c:crossAx val="68856832"/>
        <c:crosses val="autoZero"/>
        <c:auto val="1"/>
        <c:lblAlgn val="ctr"/>
        <c:lblOffset val="100"/>
      </c:catAx>
      <c:valAx>
        <c:axId val="68856832"/>
        <c:scaling>
          <c:orientation val="minMax"/>
        </c:scaling>
        <c:axPos val="l"/>
        <c:majorGridlines/>
        <c:numFmt formatCode="General" sourceLinked="1"/>
        <c:tickLblPos val="nextTo"/>
        <c:crossAx val="68855296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ru-RU"/>
    </a:p>
  </c:txPr>
  <c:externalData r:id="rId1"/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51CD-DDEE-4C94-BB34-847B0B8C60E7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D8D83173-D390-4DCB-9C7A-4707ABE88E3E}">
      <dgm:prSet phldrT="[Текст]" custT="1"/>
      <dgm:spPr/>
      <dgm:t>
        <a:bodyPr/>
        <a:lstStyle/>
        <a:p>
          <a:r>
            <a:rPr lang="ru-RU" sz="2000" dirty="0" smtClean="0"/>
            <a:t>Источник данных</a:t>
          </a:r>
          <a:endParaRPr lang="ru-RU" sz="2000" dirty="0"/>
        </a:p>
      </dgm:t>
    </dgm:pt>
    <dgm:pt modelId="{1CE6144B-2EEE-46B7-80EB-12DFF5CDB262}" type="parTrans" cxnId="{D463D5BB-1422-4FB1-A459-C047D6CA4054}">
      <dgm:prSet/>
      <dgm:spPr/>
      <dgm:t>
        <a:bodyPr/>
        <a:lstStyle/>
        <a:p>
          <a:endParaRPr lang="ru-RU"/>
        </a:p>
      </dgm:t>
    </dgm:pt>
    <dgm:pt modelId="{4C68C74E-8D09-4EBF-B5C1-D6C4BA5076FA}" type="sibTrans" cxnId="{D463D5BB-1422-4FB1-A459-C047D6CA4054}">
      <dgm:prSet/>
      <dgm:spPr/>
      <dgm:t>
        <a:bodyPr/>
        <a:lstStyle/>
        <a:p>
          <a:endParaRPr lang="ru-RU"/>
        </a:p>
      </dgm:t>
    </dgm:pt>
    <dgm:pt modelId="{DB9E0135-4CA6-438F-9689-A532D6BC4F03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9132188F-F245-4CA6-BC8A-B1620824BFA5}" type="parTrans" cxnId="{709C586F-57B8-4F72-BE8E-08A91EF6AE8B}">
      <dgm:prSet/>
      <dgm:spPr/>
      <dgm:t>
        <a:bodyPr/>
        <a:lstStyle/>
        <a:p>
          <a:endParaRPr lang="ru-RU"/>
        </a:p>
      </dgm:t>
    </dgm:pt>
    <dgm:pt modelId="{A332F93A-F5F1-4CE8-A9D6-AF4377FFD1C4}" type="sibTrans" cxnId="{709C586F-57B8-4F72-BE8E-08A91EF6AE8B}">
      <dgm:prSet/>
      <dgm:spPr/>
      <dgm:t>
        <a:bodyPr/>
        <a:lstStyle/>
        <a:p>
          <a:endParaRPr lang="ru-RU"/>
        </a:p>
      </dgm:t>
    </dgm:pt>
    <dgm:pt modelId="{2E143423-D846-4FC3-B092-A5E5A8AD58D8}">
      <dgm:prSet phldrT="[Текст]" custT="1"/>
      <dgm:spPr/>
      <dgm:t>
        <a:bodyPr/>
        <a:lstStyle/>
        <a:p>
          <a:r>
            <a:rPr lang="ru-RU" sz="2000" dirty="0" smtClean="0"/>
            <a:t>Информационная система</a:t>
          </a:r>
          <a:endParaRPr lang="ru-RU" sz="2000" dirty="0"/>
        </a:p>
      </dgm:t>
    </dgm:pt>
    <dgm:pt modelId="{05759D80-FE95-428F-B4F6-B527AC806F6D}" type="parTrans" cxnId="{5BAB40A1-4326-4822-A6C0-41B5C2FF2221}">
      <dgm:prSet/>
      <dgm:spPr/>
      <dgm:t>
        <a:bodyPr/>
        <a:lstStyle/>
        <a:p>
          <a:endParaRPr lang="ru-RU"/>
        </a:p>
      </dgm:t>
    </dgm:pt>
    <dgm:pt modelId="{EA213773-A95A-468A-B388-2C764C76314E}" type="sibTrans" cxnId="{5BAB40A1-4326-4822-A6C0-41B5C2FF2221}">
      <dgm:prSet/>
      <dgm:spPr/>
      <dgm:t>
        <a:bodyPr/>
        <a:lstStyle/>
        <a:p>
          <a:endParaRPr lang="ru-RU"/>
        </a:p>
      </dgm:t>
    </dgm:pt>
    <dgm:pt modelId="{44A115B1-7E92-4D36-82CD-D78B477DD944}">
      <dgm:prSet phldrT="[Текст]" custT="1"/>
      <dgm:spPr/>
      <dgm:t>
        <a:bodyPr/>
        <a:lstStyle/>
        <a:p>
          <a:r>
            <a:rPr lang="ru-RU" sz="2000" dirty="0" smtClean="0"/>
            <a:t>Информационное обеспечение</a:t>
          </a:r>
          <a:endParaRPr lang="ru-RU" sz="2000" dirty="0"/>
        </a:p>
      </dgm:t>
    </dgm:pt>
    <dgm:pt modelId="{FFCCD4BA-C931-4F01-9569-C24FFC0443FC}" type="parTrans" cxnId="{FB4BE385-CE16-4C5E-934B-8C97A0780FC0}">
      <dgm:prSet/>
      <dgm:spPr/>
      <dgm:t>
        <a:bodyPr/>
        <a:lstStyle/>
        <a:p>
          <a:endParaRPr lang="ru-RU"/>
        </a:p>
      </dgm:t>
    </dgm:pt>
    <dgm:pt modelId="{B3449E95-8B80-4D3B-88B1-7E8C8089BFE4}" type="sibTrans" cxnId="{FB4BE385-CE16-4C5E-934B-8C97A0780FC0}">
      <dgm:prSet/>
      <dgm:spPr/>
      <dgm:t>
        <a:bodyPr/>
        <a:lstStyle/>
        <a:p>
          <a:endParaRPr lang="ru-RU"/>
        </a:p>
      </dgm:t>
    </dgm:pt>
    <dgm:pt modelId="{FFDC4EE2-A19D-4573-894A-912F7F979952}">
      <dgm:prSet phldrT="[Текст]" custT="1"/>
      <dgm:spPr/>
      <dgm:t>
        <a:bodyPr/>
        <a:lstStyle/>
        <a:p>
          <a:r>
            <a:rPr lang="ru-RU" sz="2000" dirty="0" smtClean="0"/>
            <a:t>Потребитель</a:t>
          </a:r>
          <a:endParaRPr lang="ru-RU" sz="2000" dirty="0"/>
        </a:p>
      </dgm:t>
    </dgm:pt>
    <dgm:pt modelId="{051363D7-25C8-4599-9148-8DAF0CA87CE5}" type="parTrans" cxnId="{9CCC1154-8FC0-4838-AA08-4BAD5274BA55}">
      <dgm:prSet/>
      <dgm:spPr/>
      <dgm:t>
        <a:bodyPr/>
        <a:lstStyle/>
        <a:p>
          <a:endParaRPr lang="ru-RU"/>
        </a:p>
      </dgm:t>
    </dgm:pt>
    <dgm:pt modelId="{E76832B0-D844-4FA3-9465-74844B301A7F}" type="sibTrans" cxnId="{9CCC1154-8FC0-4838-AA08-4BAD5274BA55}">
      <dgm:prSet/>
      <dgm:spPr/>
      <dgm:t>
        <a:bodyPr/>
        <a:lstStyle/>
        <a:p>
          <a:endParaRPr lang="ru-RU"/>
        </a:p>
      </dgm:t>
    </dgm:pt>
    <dgm:pt modelId="{1F0E8ECC-1DD3-42F1-AF87-AA9B7B2C32E4}" type="pres">
      <dgm:prSet presAssocID="{6E4351CD-DDEE-4C94-BB34-847B0B8C60E7}" presName="linearFlow" presStyleCnt="0">
        <dgm:presLayoutVars>
          <dgm:resizeHandles val="exact"/>
        </dgm:presLayoutVars>
      </dgm:prSet>
      <dgm:spPr/>
    </dgm:pt>
    <dgm:pt modelId="{D8D8CB3C-ADA6-460A-9B0F-FBA7C668EE2E}" type="pres">
      <dgm:prSet presAssocID="{D8D83173-D390-4DCB-9C7A-4707ABE88E3E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814B84-C840-4CB8-B840-53E7A5F47A56}" type="pres">
      <dgm:prSet presAssocID="{4C68C74E-8D09-4EBF-B5C1-D6C4BA5076FA}" presName="sibTrans" presStyleLbl="sibTrans2D1" presStyleIdx="0" presStyleCnt="4"/>
      <dgm:spPr/>
      <dgm:t>
        <a:bodyPr/>
        <a:lstStyle/>
        <a:p>
          <a:endParaRPr lang="ru-RU"/>
        </a:p>
      </dgm:t>
    </dgm:pt>
    <dgm:pt modelId="{5FF483EC-41CB-43D7-BEA5-773F7A488FF3}" type="pres">
      <dgm:prSet presAssocID="{4C68C74E-8D09-4EBF-B5C1-D6C4BA5076FA}" presName="connectorText" presStyleLbl="sibTrans2D1" presStyleIdx="0" presStyleCnt="4"/>
      <dgm:spPr/>
      <dgm:t>
        <a:bodyPr/>
        <a:lstStyle/>
        <a:p>
          <a:endParaRPr lang="ru-RU"/>
        </a:p>
      </dgm:t>
    </dgm:pt>
    <dgm:pt modelId="{4368DC4C-2B20-405B-B020-FD8CE3BADAE5}" type="pres">
      <dgm:prSet presAssocID="{DB9E0135-4CA6-438F-9689-A532D6BC4F03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B60C0B9-D263-4AE2-957D-39BD98BBDE75}" type="pres">
      <dgm:prSet presAssocID="{A332F93A-F5F1-4CE8-A9D6-AF4377FFD1C4}" presName="sibTrans" presStyleLbl="sibTrans2D1" presStyleIdx="1" presStyleCnt="4"/>
      <dgm:spPr/>
      <dgm:t>
        <a:bodyPr/>
        <a:lstStyle/>
        <a:p>
          <a:endParaRPr lang="ru-RU"/>
        </a:p>
      </dgm:t>
    </dgm:pt>
    <dgm:pt modelId="{05A6DDF8-2555-4B34-8235-18E03D303814}" type="pres">
      <dgm:prSet presAssocID="{A332F93A-F5F1-4CE8-A9D6-AF4377FFD1C4}" presName="connectorText" presStyleLbl="sibTrans2D1" presStyleIdx="1" presStyleCnt="4"/>
      <dgm:spPr/>
      <dgm:t>
        <a:bodyPr/>
        <a:lstStyle/>
        <a:p>
          <a:endParaRPr lang="ru-RU"/>
        </a:p>
      </dgm:t>
    </dgm:pt>
    <dgm:pt modelId="{D70F2819-3677-4A0F-83DA-A4C2BAF9B175}" type="pres">
      <dgm:prSet presAssocID="{2E143423-D846-4FC3-B092-A5E5A8AD58D8}" presName="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7994AA3-1769-489F-80D9-DFD47A786B8B}" type="pres">
      <dgm:prSet presAssocID="{EA213773-A95A-468A-B388-2C764C76314E}" presName="sibTrans" presStyleLbl="sibTrans2D1" presStyleIdx="2" presStyleCnt="4"/>
      <dgm:spPr/>
      <dgm:t>
        <a:bodyPr/>
        <a:lstStyle/>
        <a:p>
          <a:endParaRPr lang="ru-RU"/>
        </a:p>
      </dgm:t>
    </dgm:pt>
    <dgm:pt modelId="{05F33685-B05A-491F-BD1D-4505CFD8BD5E}" type="pres">
      <dgm:prSet presAssocID="{EA213773-A95A-468A-B388-2C764C76314E}" presName="connectorText" presStyleLbl="sibTrans2D1" presStyleIdx="2" presStyleCnt="4"/>
      <dgm:spPr/>
      <dgm:t>
        <a:bodyPr/>
        <a:lstStyle/>
        <a:p>
          <a:endParaRPr lang="ru-RU"/>
        </a:p>
      </dgm:t>
    </dgm:pt>
    <dgm:pt modelId="{4C5365E0-9431-4A5A-AF12-AF1C1ADC926F}" type="pres">
      <dgm:prSet presAssocID="{44A115B1-7E92-4D36-82CD-D78B477DD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70D027E-0031-46C3-815D-2D7282544530}" type="pres">
      <dgm:prSet presAssocID="{B3449E95-8B80-4D3B-88B1-7E8C8089BFE4}" presName="sibTrans" presStyleLbl="sibTrans2D1" presStyleIdx="3" presStyleCnt="4"/>
      <dgm:spPr/>
      <dgm:t>
        <a:bodyPr/>
        <a:lstStyle/>
        <a:p>
          <a:endParaRPr lang="ru-RU"/>
        </a:p>
      </dgm:t>
    </dgm:pt>
    <dgm:pt modelId="{450A17E4-98BC-4FE5-A57B-EFE300CEDD60}" type="pres">
      <dgm:prSet presAssocID="{B3449E95-8B80-4D3B-88B1-7E8C8089BFE4}" presName="connectorText" presStyleLbl="sibTrans2D1" presStyleIdx="3" presStyleCnt="4"/>
      <dgm:spPr/>
      <dgm:t>
        <a:bodyPr/>
        <a:lstStyle/>
        <a:p>
          <a:endParaRPr lang="ru-RU"/>
        </a:p>
      </dgm:t>
    </dgm:pt>
    <dgm:pt modelId="{E2A8A1ED-0DF9-44D3-81C0-D751A923E2ED}" type="pres">
      <dgm:prSet presAssocID="{FFDC4EE2-A19D-4573-894A-912F7F979952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8AD06C16-61A2-4091-92A8-F2CA8E3AE613}" type="presOf" srcId="{6E4351CD-DDEE-4C94-BB34-847B0B8C60E7}" destId="{1F0E8ECC-1DD3-42F1-AF87-AA9B7B2C32E4}" srcOrd="0" destOrd="0" presId="urn:microsoft.com/office/officeart/2005/8/layout/process2"/>
    <dgm:cxn modelId="{5BAB40A1-4326-4822-A6C0-41B5C2FF2221}" srcId="{6E4351CD-DDEE-4C94-BB34-847B0B8C60E7}" destId="{2E143423-D846-4FC3-B092-A5E5A8AD58D8}" srcOrd="2" destOrd="0" parTransId="{05759D80-FE95-428F-B4F6-B527AC806F6D}" sibTransId="{EA213773-A95A-468A-B388-2C764C76314E}"/>
    <dgm:cxn modelId="{9B1FBE1E-1BA7-42BC-8603-C81FE78E65B6}" type="presOf" srcId="{44A115B1-7E92-4D36-82CD-D78B477DD944}" destId="{4C5365E0-9431-4A5A-AF12-AF1C1ADC926F}" srcOrd="0" destOrd="0" presId="urn:microsoft.com/office/officeart/2005/8/layout/process2"/>
    <dgm:cxn modelId="{494EE28A-14E3-49F3-94BC-AA711284A705}" type="presOf" srcId="{DB9E0135-4CA6-438F-9689-A532D6BC4F03}" destId="{4368DC4C-2B20-405B-B020-FD8CE3BADAE5}" srcOrd="0" destOrd="0" presId="urn:microsoft.com/office/officeart/2005/8/layout/process2"/>
    <dgm:cxn modelId="{D68626BD-549D-4A6F-8CAA-56D448F78403}" type="presOf" srcId="{4C68C74E-8D09-4EBF-B5C1-D6C4BA5076FA}" destId="{5FF483EC-41CB-43D7-BEA5-773F7A488FF3}" srcOrd="1" destOrd="0" presId="urn:microsoft.com/office/officeart/2005/8/layout/process2"/>
    <dgm:cxn modelId="{709C586F-57B8-4F72-BE8E-08A91EF6AE8B}" srcId="{6E4351CD-DDEE-4C94-BB34-847B0B8C60E7}" destId="{DB9E0135-4CA6-438F-9689-A532D6BC4F03}" srcOrd="1" destOrd="0" parTransId="{9132188F-F245-4CA6-BC8A-B1620824BFA5}" sibTransId="{A332F93A-F5F1-4CE8-A9D6-AF4377FFD1C4}"/>
    <dgm:cxn modelId="{48CA92A3-EF0C-4E77-B308-9A2750B5C449}" type="presOf" srcId="{B3449E95-8B80-4D3B-88B1-7E8C8089BFE4}" destId="{E70D027E-0031-46C3-815D-2D7282544530}" srcOrd="0" destOrd="0" presId="urn:microsoft.com/office/officeart/2005/8/layout/process2"/>
    <dgm:cxn modelId="{5AABA2C0-BE8E-49F7-93EF-DA63ADAE63CF}" type="presOf" srcId="{4C68C74E-8D09-4EBF-B5C1-D6C4BA5076FA}" destId="{B7814B84-C840-4CB8-B840-53E7A5F47A56}" srcOrd="0" destOrd="0" presId="urn:microsoft.com/office/officeart/2005/8/layout/process2"/>
    <dgm:cxn modelId="{6598B7E8-8AA3-45E2-B090-06D84CCEAC42}" type="presOf" srcId="{A332F93A-F5F1-4CE8-A9D6-AF4377FFD1C4}" destId="{05A6DDF8-2555-4B34-8235-18E03D303814}" srcOrd="1" destOrd="0" presId="urn:microsoft.com/office/officeart/2005/8/layout/process2"/>
    <dgm:cxn modelId="{12307573-380A-4508-A528-48C14F4AEB43}" type="presOf" srcId="{EA213773-A95A-468A-B388-2C764C76314E}" destId="{B7994AA3-1769-489F-80D9-DFD47A786B8B}" srcOrd="0" destOrd="0" presId="urn:microsoft.com/office/officeart/2005/8/layout/process2"/>
    <dgm:cxn modelId="{FB4BE385-CE16-4C5E-934B-8C97A0780FC0}" srcId="{6E4351CD-DDEE-4C94-BB34-847B0B8C60E7}" destId="{44A115B1-7E92-4D36-82CD-D78B477DD944}" srcOrd="3" destOrd="0" parTransId="{FFCCD4BA-C931-4F01-9569-C24FFC0443FC}" sibTransId="{B3449E95-8B80-4D3B-88B1-7E8C8089BFE4}"/>
    <dgm:cxn modelId="{94F10C03-2BAD-475F-9D8C-AD2CE1744DED}" type="presOf" srcId="{D8D83173-D390-4DCB-9C7A-4707ABE88E3E}" destId="{D8D8CB3C-ADA6-460A-9B0F-FBA7C668EE2E}" srcOrd="0" destOrd="0" presId="urn:microsoft.com/office/officeart/2005/8/layout/process2"/>
    <dgm:cxn modelId="{E191EB22-6702-42A0-97DA-3967F4484EE2}" type="presOf" srcId="{B3449E95-8B80-4D3B-88B1-7E8C8089BFE4}" destId="{450A17E4-98BC-4FE5-A57B-EFE300CEDD60}" srcOrd="1" destOrd="0" presId="urn:microsoft.com/office/officeart/2005/8/layout/process2"/>
    <dgm:cxn modelId="{9CCC1154-8FC0-4838-AA08-4BAD5274BA55}" srcId="{6E4351CD-DDEE-4C94-BB34-847B0B8C60E7}" destId="{FFDC4EE2-A19D-4573-894A-912F7F979952}" srcOrd="4" destOrd="0" parTransId="{051363D7-25C8-4599-9148-8DAF0CA87CE5}" sibTransId="{E76832B0-D844-4FA3-9465-74844B301A7F}"/>
    <dgm:cxn modelId="{D463D5BB-1422-4FB1-A459-C047D6CA4054}" srcId="{6E4351CD-DDEE-4C94-BB34-847B0B8C60E7}" destId="{D8D83173-D390-4DCB-9C7A-4707ABE88E3E}" srcOrd="0" destOrd="0" parTransId="{1CE6144B-2EEE-46B7-80EB-12DFF5CDB262}" sibTransId="{4C68C74E-8D09-4EBF-B5C1-D6C4BA5076FA}"/>
    <dgm:cxn modelId="{DD471AFC-0EBA-41E8-A0D6-C11DBC6F8FFD}" type="presOf" srcId="{EA213773-A95A-468A-B388-2C764C76314E}" destId="{05F33685-B05A-491F-BD1D-4505CFD8BD5E}" srcOrd="1" destOrd="0" presId="urn:microsoft.com/office/officeart/2005/8/layout/process2"/>
    <dgm:cxn modelId="{1FCCEDB9-5C31-4C59-B9F8-5B9736109E17}" type="presOf" srcId="{2E143423-D846-4FC3-B092-A5E5A8AD58D8}" destId="{D70F2819-3677-4A0F-83DA-A4C2BAF9B175}" srcOrd="0" destOrd="0" presId="urn:microsoft.com/office/officeart/2005/8/layout/process2"/>
    <dgm:cxn modelId="{4D8BA143-8C14-4B88-A2F0-C51782734A2F}" type="presOf" srcId="{A332F93A-F5F1-4CE8-A9D6-AF4377FFD1C4}" destId="{CB60C0B9-D263-4AE2-957D-39BD98BBDE75}" srcOrd="0" destOrd="0" presId="urn:microsoft.com/office/officeart/2005/8/layout/process2"/>
    <dgm:cxn modelId="{963F49A3-6EBA-415A-85A4-49134F743FFB}" type="presOf" srcId="{FFDC4EE2-A19D-4573-894A-912F7F979952}" destId="{E2A8A1ED-0DF9-44D3-81C0-D751A923E2ED}" srcOrd="0" destOrd="0" presId="urn:microsoft.com/office/officeart/2005/8/layout/process2"/>
    <dgm:cxn modelId="{B1E71E58-2D35-4A74-9968-25F53376E841}" type="presParOf" srcId="{1F0E8ECC-1DD3-42F1-AF87-AA9B7B2C32E4}" destId="{D8D8CB3C-ADA6-460A-9B0F-FBA7C668EE2E}" srcOrd="0" destOrd="0" presId="urn:microsoft.com/office/officeart/2005/8/layout/process2"/>
    <dgm:cxn modelId="{1252137C-9564-4D66-ADE8-0AEC74F7DA35}" type="presParOf" srcId="{1F0E8ECC-1DD3-42F1-AF87-AA9B7B2C32E4}" destId="{B7814B84-C840-4CB8-B840-53E7A5F47A56}" srcOrd="1" destOrd="0" presId="urn:microsoft.com/office/officeart/2005/8/layout/process2"/>
    <dgm:cxn modelId="{F376AED7-988A-494C-BCB4-3EABFF8A5DCD}" type="presParOf" srcId="{B7814B84-C840-4CB8-B840-53E7A5F47A56}" destId="{5FF483EC-41CB-43D7-BEA5-773F7A488FF3}" srcOrd="0" destOrd="0" presId="urn:microsoft.com/office/officeart/2005/8/layout/process2"/>
    <dgm:cxn modelId="{44540A91-3543-4FE0-A1B9-5053DF00ED5A}" type="presParOf" srcId="{1F0E8ECC-1DD3-42F1-AF87-AA9B7B2C32E4}" destId="{4368DC4C-2B20-405B-B020-FD8CE3BADAE5}" srcOrd="2" destOrd="0" presId="urn:microsoft.com/office/officeart/2005/8/layout/process2"/>
    <dgm:cxn modelId="{2E4F0DE4-8861-42D9-898E-0C0565CA484B}" type="presParOf" srcId="{1F0E8ECC-1DD3-42F1-AF87-AA9B7B2C32E4}" destId="{CB60C0B9-D263-4AE2-957D-39BD98BBDE75}" srcOrd="3" destOrd="0" presId="urn:microsoft.com/office/officeart/2005/8/layout/process2"/>
    <dgm:cxn modelId="{8044EDC0-3C56-4ECF-A2B3-CE3F1302FE99}" type="presParOf" srcId="{CB60C0B9-D263-4AE2-957D-39BD98BBDE75}" destId="{05A6DDF8-2555-4B34-8235-18E03D303814}" srcOrd="0" destOrd="0" presId="urn:microsoft.com/office/officeart/2005/8/layout/process2"/>
    <dgm:cxn modelId="{B53840B7-40B2-4960-85CA-F5420B8EDA9F}" type="presParOf" srcId="{1F0E8ECC-1DD3-42F1-AF87-AA9B7B2C32E4}" destId="{D70F2819-3677-4A0F-83DA-A4C2BAF9B175}" srcOrd="4" destOrd="0" presId="urn:microsoft.com/office/officeart/2005/8/layout/process2"/>
    <dgm:cxn modelId="{5D0A9F77-08C7-4466-BE71-EC0D0CD48EDB}" type="presParOf" srcId="{1F0E8ECC-1DD3-42F1-AF87-AA9B7B2C32E4}" destId="{B7994AA3-1769-489F-80D9-DFD47A786B8B}" srcOrd="5" destOrd="0" presId="urn:microsoft.com/office/officeart/2005/8/layout/process2"/>
    <dgm:cxn modelId="{CC281DFA-D9C8-43A4-8F7F-7F12498EC989}" type="presParOf" srcId="{B7994AA3-1769-489F-80D9-DFD47A786B8B}" destId="{05F33685-B05A-491F-BD1D-4505CFD8BD5E}" srcOrd="0" destOrd="0" presId="urn:microsoft.com/office/officeart/2005/8/layout/process2"/>
    <dgm:cxn modelId="{AA1F483A-D5E8-4F85-AD70-750C345853F7}" type="presParOf" srcId="{1F0E8ECC-1DD3-42F1-AF87-AA9B7B2C32E4}" destId="{4C5365E0-9431-4A5A-AF12-AF1C1ADC926F}" srcOrd="6" destOrd="0" presId="urn:microsoft.com/office/officeart/2005/8/layout/process2"/>
    <dgm:cxn modelId="{A91A405C-3CD7-4CAE-A106-EA9DF7B10624}" type="presParOf" srcId="{1F0E8ECC-1DD3-42F1-AF87-AA9B7B2C32E4}" destId="{E70D027E-0031-46C3-815D-2D7282544530}" srcOrd="7" destOrd="0" presId="urn:microsoft.com/office/officeart/2005/8/layout/process2"/>
    <dgm:cxn modelId="{B585B95F-961A-4EF6-91A9-5D056727BD81}" type="presParOf" srcId="{E70D027E-0031-46C3-815D-2D7282544530}" destId="{450A17E4-98BC-4FE5-A57B-EFE300CEDD60}" srcOrd="0" destOrd="0" presId="urn:microsoft.com/office/officeart/2005/8/layout/process2"/>
    <dgm:cxn modelId="{1C52D1F3-6433-4FB6-AC3B-D3D63F5B4079}" type="presParOf" srcId="{1F0E8ECC-1DD3-42F1-AF87-AA9B7B2C32E4}" destId="{E2A8A1ED-0DF9-44D3-81C0-D751A923E2ED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D8D8CB3C-ADA6-460A-9B0F-FBA7C668EE2E}">
      <dsp:nvSpPr>
        <dsp:cNvPr id="0" name=""/>
        <dsp:cNvSpPr/>
      </dsp:nvSpPr>
      <dsp:spPr>
        <a:xfrm>
          <a:off x="1800642" y="3012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Источник данных</a:t>
          </a:r>
          <a:endParaRPr lang="ru-RU" sz="2000" kern="1200" dirty="0"/>
        </a:p>
      </dsp:txBody>
      <dsp:txXfrm>
        <a:off x="1800642" y="3012"/>
        <a:ext cx="2817771" cy="704442"/>
      </dsp:txXfrm>
    </dsp:sp>
    <dsp:sp modelId="{B7814B84-C840-4CB8-B840-53E7A5F47A56}">
      <dsp:nvSpPr>
        <dsp:cNvPr id="0" name=""/>
        <dsp:cNvSpPr/>
      </dsp:nvSpPr>
      <dsp:spPr>
        <a:xfrm rot="5400000">
          <a:off x="3077444" y="725066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725066"/>
        <a:ext cx="264166" cy="316999"/>
      </dsp:txXfrm>
    </dsp:sp>
    <dsp:sp modelId="{4368DC4C-2B20-405B-B020-FD8CE3BADAE5}">
      <dsp:nvSpPr>
        <dsp:cNvPr id="0" name=""/>
        <dsp:cNvSpPr/>
      </dsp:nvSpPr>
      <dsp:spPr>
        <a:xfrm>
          <a:off x="1800642" y="1059676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1059676"/>
        <a:ext cx="2817771" cy="704442"/>
      </dsp:txXfrm>
    </dsp:sp>
    <dsp:sp modelId="{CB60C0B9-D263-4AE2-957D-39BD98BBDE75}">
      <dsp:nvSpPr>
        <dsp:cNvPr id="0" name=""/>
        <dsp:cNvSpPr/>
      </dsp:nvSpPr>
      <dsp:spPr>
        <a:xfrm rot="5400000">
          <a:off x="3077444" y="1781730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1781730"/>
        <a:ext cx="264166" cy="316999"/>
      </dsp:txXfrm>
    </dsp:sp>
    <dsp:sp modelId="{D70F2819-3677-4A0F-83DA-A4C2BAF9B175}">
      <dsp:nvSpPr>
        <dsp:cNvPr id="0" name=""/>
        <dsp:cNvSpPr/>
      </dsp:nvSpPr>
      <dsp:spPr>
        <a:xfrm>
          <a:off x="1800642" y="2116341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Информационная система</a:t>
          </a:r>
          <a:endParaRPr lang="ru-RU" sz="2000" kern="1200" dirty="0"/>
        </a:p>
      </dsp:txBody>
      <dsp:txXfrm>
        <a:off x="1800642" y="2116341"/>
        <a:ext cx="2817771" cy="704442"/>
      </dsp:txXfrm>
    </dsp:sp>
    <dsp:sp modelId="{B7994AA3-1769-489F-80D9-DFD47A786B8B}">
      <dsp:nvSpPr>
        <dsp:cNvPr id="0" name=""/>
        <dsp:cNvSpPr/>
      </dsp:nvSpPr>
      <dsp:spPr>
        <a:xfrm rot="5400000">
          <a:off x="3077444" y="2838394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2838394"/>
        <a:ext cx="264166" cy="316999"/>
      </dsp:txXfrm>
    </dsp:sp>
    <dsp:sp modelId="{4C5365E0-9431-4A5A-AF12-AF1C1ADC926F}">
      <dsp:nvSpPr>
        <dsp:cNvPr id="0" name=""/>
        <dsp:cNvSpPr/>
      </dsp:nvSpPr>
      <dsp:spPr>
        <a:xfrm>
          <a:off x="1800642" y="3173005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Информационное обеспечение</a:t>
          </a:r>
          <a:endParaRPr lang="ru-RU" sz="2000" kern="1200" dirty="0"/>
        </a:p>
      </dsp:txBody>
      <dsp:txXfrm>
        <a:off x="1800642" y="3173005"/>
        <a:ext cx="2817771" cy="704442"/>
      </dsp:txXfrm>
    </dsp:sp>
    <dsp:sp modelId="{E70D027E-0031-46C3-815D-2D7282544530}">
      <dsp:nvSpPr>
        <dsp:cNvPr id="0" name=""/>
        <dsp:cNvSpPr/>
      </dsp:nvSpPr>
      <dsp:spPr>
        <a:xfrm rot="5400000">
          <a:off x="3077444" y="3895059"/>
          <a:ext cx="264166" cy="31699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300" kern="1200"/>
        </a:p>
      </dsp:txBody>
      <dsp:txXfrm rot="5400000">
        <a:off x="3077444" y="3895059"/>
        <a:ext cx="264166" cy="316999"/>
      </dsp:txXfrm>
    </dsp:sp>
    <dsp:sp modelId="{E2A8A1ED-0DF9-44D3-81C0-D751A923E2ED}">
      <dsp:nvSpPr>
        <dsp:cNvPr id="0" name=""/>
        <dsp:cNvSpPr/>
      </dsp:nvSpPr>
      <dsp:spPr>
        <a:xfrm>
          <a:off x="1800642" y="4229669"/>
          <a:ext cx="2817771" cy="70444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kern="1200" dirty="0" smtClean="0"/>
            <a:t>Потребитель</a:t>
          </a:r>
          <a:endParaRPr lang="ru-RU" sz="2000" kern="1200" dirty="0"/>
        </a:p>
      </dsp:txBody>
      <dsp:txXfrm>
        <a:off x="1800642" y="4229669"/>
        <a:ext cx="2817771" cy="7044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F778D-310F-475E-9065-D555319E7AF3}" type="datetimeFigureOut">
              <a:rPr lang="ru-RU" smtClean="0"/>
              <a:pPr/>
              <a:t>09.06.2016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C1BC2-EF03-4DB1-9C78-43FA9764743C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8C1BC2-EF03-4DB1-9C78-43FA9764743C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/>
          <p:cNvSpPr>
            <a:spLocks noGrp="1"/>
          </p:cNvSpPr>
          <p:nvPr>
            <p:ph type="ctrTitle"/>
          </p:nvPr>
        </p:nvSpPr>
        <p:spPr>
          <a:xfrm>
            <a:off x="1432560" y="359898"/>
            <a:ext cx="740664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2" name="Подзаголовок 21"/>
          <p:cNvSpPr>
            <a:spLocks noGrp="1"/>
          </p:cNvSpPr>
          <p:nvPr>
            <p:ph type="subTitle" idx="1"/>
          </p:nvPr>
        </p:nvSpPr>
        <p:spPr>
          <a:xfrm>
            <a:off x="1432560" y="1850064"/>
            <a:ext cx="740664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88564FB-3C06-4767-A4C9-25F0048A8F50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20" name="Нижний колонтитул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921433" y="1413802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1157176" y="1345016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B5B3BCC0-81F8-4BFB-A7CF-64058E23A4AC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2890" y="-54"/>
            <a:ext cx="6858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578392" y="1066800"/>
            <a:ext cx="64008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123A61D-A991-4EBD-9BC2-62963864A1E1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 bwMode="invGray">
          <a:xfrm>
            <a:off x="2286000" y="0"/>
            <a:ext cx="762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Овал 8"/>
          <p:cNvSpPr/>
          <p:nvPr/>
        </p:nvSpPr>
        <p:spPr>
          <a:xfrm>
            <a:off x="2408064" y="2745870"/>
            <a:ext cx="64008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143560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276088" y="1524000"/>
            <a:ext cx="36576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BC28292-EEC6-48B6-8531-A930B1FBF08E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5160336"/>
            <a:ext cx="82296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63440" y="328278"/>
            <a:ext cx="402336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45720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63440" y="969336"/>
            <a:ext cx="402336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D455BE1E-6477-4B75-AB6D-B4FCBF8F7353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35608" y="274320"/>
            <a:ext cx="7498080" cy="1143000"/>
          </a:xfrm>
        </p:spPr>
        <p:txBody>
          <a:bodyPr anchor="ctr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56DB545-5AAE-4662-94E0-A59A9D626458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014984" y="0"/>
            <a:ext cx="8129016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1FBE6603-A586-4219-B919-8A53BB1B20EC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16778"/>
            <a:ext cx="381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406964"/>
            <a:ext cx="381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57200" y="2133600"/>
            <a:ext cx="81534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7276982A-A0B5-4DA4-975D-787CB93F4505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86896" y="1066800"/>
            <a:ext cx="27432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DC87C9-F69C-4C0C-9DBA-0E10D474DDD6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762000" y="1066800"/>
            <a:ext cx="4572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>
            <a:extLst/>
          </a:lstStyle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838200" y="1143003"/>
            <a:ext cx="44196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indent="0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9" name="Блок-схема: процесс 8"/>
          <p:cNvSpPr/>
          <p:nvPr/>
        </p:nvSpPr>
        <p:spPr>
          <a:xfrm rot="19468671">
            <a:off x="396725" y="954341"/>
            <a:ext cx="6858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0" name="Блок-схема: процесс 9"/>
          <p:cNvSpPr/>
          <p:nvPr/>
        </p:nvSpPr>
        <p:spPr>
          <a:xfrm rot="2103354" flipH="1">
            <a:off x="5003667" y="936786"/>
            <a:ext cx="649224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8200" y="4800600"/>
            <a:ext cx="44196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43BF4DBE-D7D0-4E1A-9DBE-A6E29511B4DF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6A5C4CB-C049-4D0B-BA3C-D2B2C4588AA4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ирог 6"/>
          <p:cNvSpPr/>
          <p:nvPr/>
        </p:nvSpPr>
        <p:spPr>
          <a:xfrm>
            <a:off x="-815927" y="-815922"/>
            <a:ext cx="1638887" cy="1638887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Овал 7"/>
          <p:cNvSpPr/>
          <p:nvPr/>
        </p:nvSpPr>
        <p:spPr>
          <a:xfrm>
            <a:off x="168816" y="21102"/>
            <a:ext cx="1702191" cy="1702191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Кольцо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-407500" t="-50000" r="507500" b="15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2" name="Прямоугольник 11"/>
          <p:cNvSpPr/>
          <p:nvPr/>
        </p:nvSpPr>
        <p:spPr>
          <a:xfrm>
            <a:off x="1012873" y="-54"/>
            <a:ext cx="8131127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1435608" y="274638"/>
            <a:ext cx="7498080" cy="1143000"/>
          </a:xfrm>
          <a:prstGeom prst="rect">
            <a:avLst/>
          </a:prstGeom>
        </p:spPr>
        <p:txBody>
          <a:bodyPr anchor="ctr">
            <a:normAutofit/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Текст 8"/>
          <p:cNvSpPr>
            <a:spLocks noGrp="1"/>
          </p:cNvSpPr>
          <p:nvPr>
            <p:ph type="body" idx="1"/>
          </p:nvPr>
        </p:nvSpPr>
        <p:spPr>
          <a:xfrm>
            <a:off x="1435608" y="1447800"/>
            <a:ext cx="7498080" cy="480060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4" name="Дата 23"/>
          <p:cNvSpPr>
            <a:spLocks noGrp="1"/>
          </p:cNvSpPr>
          <p:nvPr>
            <p:ph type="dt" sz="half" idx="2"/>
          </p:nvPr>
        </p:nvSpPr>
        <p:spPr>
          <a:xfrm>
            <a:off x="3581400" y="6305550"/>
            <a:ext cx="21336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fld id="{971F65F4-F821-4FD1-9B7D-BC9DF92C8A4B}" type="datetime1">
              <a:rPr lang="ru-RU" smtClean="0"/>
              <a:pPr/>
              <a:t>09.06.2016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3"/>
          </p:nvPr>
        </p:nvSpPr>
        <p:spPr>
          <a:xfrm>
            <a:off x="5715000" y="6305550"/>
            <a:ext cx="28956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lang="ru-RU"/>
          </a:p>
        </p:txBody>
      </p:sp>
      <p:sp>
        <p:nvSpPr>
          <p:cNvPr id="22" name="Номер слайда 21"/>
          <p:cNvSpPr>
            <a:spLocks noGrp="1"/>
          </p:cNvSpPr>
          <p:nvPr>
            <p:ph type="sldNum" sz="quarter" idx="4"/>
          </p:nvPr>
        </p:nvSpPr>
        <p:spPr>
          <a:xfrm>
            <a:off x="8613648" y="6305550"/>
            <a:ext cx="4572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fld id="{0EC1B211-457E-4361-983F-013AFA25B34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5" name="Прямоугольник 14"/>
          <p:cNvSpPr/>
          <p:nvPr/>
        </p:nvSpPr>
        <p:spPr bwMode="invGray">
          <a:xfrm>
            <a:off x="1014984" y="-54"/>
            <a:ext cx="73152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4300" kern="1200">
          <a:solidFill>
            <a:schemeClr val="tx2">
              <a:satMod val="130000"/>
            </a:schemeClr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1640" y="2204864"/>
            <a:ext cx="7406640" cy="1472184"/>
          </a:xfrm>
        </p:spPr>
        <p:txBody>
          <a:bodyPr>
            <a:noAutofit/>
          </a:bodyPr>
          <a:lstStyle/>
          <a:p>
            <a:pPr algn="ctr"/>
            <a:r>
              <a:rPr lang="ru-RU" sz="2000" dirty="0" smtClean="0"/>
              <a:t>ВЫПУСКНАЯ КВАЛИФИКАЦИОННАЯ (БАКАЛАВРСКАЯ) РАБОТА</a:t>
            </a:r>
            <a:br>
              <a:rPr lang="ru-RU" sz="2000" dirty="0" smtClean="0"/>
            </a:br>
            <a:r>
              <a:rPr lang="ru-RU" sz="2000" dirty="0" smtClean="0"/>
              <a:t>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a:t>
            </a:r>
            <a:endParaRPr lang="ru-RU" sz="2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59632" y="4437112"/>
            <a:ext cx="7406640" cy="1752600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Студента группы 521 </a:t>
            </a:r>
          </a:p>
          <a:p>
            <a:r>
              <a:rPr lang="ru-RU" dirty="0" err="1" smtClean="0"/>
              <a:t>Темникова</a:t>
            </a:r>
            <a:r>
              <a:rPr lang="ru-RU" dirty="0" smtClean="0"/>
              <a:t> Андрея Владимировича</a:t>
            </a:r>
          </a:p>
          <a:p>
            <a:r>
              <a:rPr lang="ru-RU" dirty="0" smtClean="0"/>
              <a:t>Научный руководитель: </a:t>
            </a:r>
            <a:r>
              <a:rPr lang="ru-RU" dirty="0"/>
              <a:t>д.т.н., доцент, профессор кафедры математики и </a:t>
            </a:r>
            <a:r>
              <a:rPr lang="ru-RU" dirty="0" smtClean="0"/>
              <a:t>информатики </a:t>
            </a:r>
          </a:p>
          <a:p>
            <a:r>
              <a:rPr lang="ru-RU" dirty="0" err="1" smtClean="0"/>
              <a:t>Переверзев</a:t>
            </a:r>
            <a:r>
              <a:rPr lang="ru-RU" dirty="0" smtClean="0"/>
              <a:t> </a:t>
            </a:r>
            <a:r>
              <a:rPr lang="ru-RU" dirty="0"/>
              <a:t>Павел Петрович 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</a:t>
            </a:fld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971600" y="260648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ФЕДЕРАЛЬНОЕ ГОСУДАРСТВЕННОЕ ОБРАЗОВАТЕЛЬНОЕ БЮДЖЕТНОЕ УЧРЕЖДЕНИЕ ВЫСШЕГО ОБРАЗОВАНИЯ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«ФИНАНСОВЫЙ УНИВЕРСИТЕТ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ПРИ ПРАВИТЕЛЬСТВЕ РОССИЙСКОЙ ФЕДЕРАЦИИ»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ЧЕЛЯБИНСКИЙ ФИЛИАЛ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r>
              <a:rPr kumimoji="0" lang="ru-RU" sz="14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Кафедра «Математика и информатика»</a:t>
            </a:r>
            <a: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/>
            </a:r>
            <a:br>
              <a:rPr kumimoji="0" lang="ru-RU" sz="14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</a:b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60032" y="65973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4211960" y="6381328"/>
            <a:ext cx="1777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ЧЕЛЯБИНСК</a:t>
            </a:r>
            <a:r>
              <a:rPr lang="ru-RU" sz="1600" dirty="0" smtClean="0"/>
              <a:t> </a:t>
            </a:r>
            <a:r>
              <a:rPr lang="ru-RU" sz="1600" dirty="0" smtClean="0">
                <a:solidFill>
                  <a:schemeClr val="tx2">
                    <a:shade val="30000"/>
                    <a:satMod val="150000"/>
                  </a:schemeClr>
                </a:solidFill>
              </a:rPr>
              <a:t>2016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smtClean="0"/>
              <a:t>Цель исследования: повышение эффективности работы системы управления жизненным циклом продукции (СУЖЦ)</a:t>
            </a:r>
          </a:p>
          <a:p>
            <a:r>
              <a:rPr lang="ru-RU" dirty="0" smtClean="0"/>
              <a:t>Объект исследования: СУЖЦ </a:t>
            </a:r>
            <a:r>
              <a:rPr lang="en-US" dirty="0" smtClean="0"/>
              <a:t>PTC Windchill </a:t>
            </a:r>
            <a:r>
              <a:rPr lang="ru-RU" dirty="0" smtClean="0"/>
              <a:t>на ПАО «Радиозавод»</a:t>
            </a:r>
          </a:p>
          <a:p>
            <a:r>
              <a:rPr lang="ru-RU" dirty="0" smtClean="0"/>
              <a:t>Предмет исследования: разработка и совершенствование информационного обеспечения для системы управления жизненным циклом продукции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работы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15616" y="1484784"/>
            <a:ext cx="7498080" cy="5112568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1</a:t>
            </a:r>
            <a:r>
              <a:rPr lang="ru-RU" dirty="0" smtClean="0"/>
              <a:t>. Разработать модель данных, которая бы отвечала потребности предприятия в типах объектов для управления жизненным циклом;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2</a:t>
            </a:r>
            <a:r>
              <a:rPr lang="ru-RU" dirty="0" smtClean="0"/>
              <a:t>. Наладить рабочий процесс таким образом, чтобы он соответствовал требованиям стандартов;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3</a:t>
            </a:r>
            <a:r>
              <a:rPr lang="ru-RU" dirty="0" smtClean="0"/>
              <a:t>. Разработать методические рекомендации по переходу специалистов на работу в СУЖЦ;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4</a:t>
            </a:r>
            <a:r>
              <a:rPr lang="ru-RU" dirty="0" smtClean="0"/>
              <a:t>. Подготовить систему автоматически генерируемых отчетов по жизненному циклу продукции;</a:t>
            </a:r>
          </a:p>
          <a:p>
            <a:pPr>
              <a:spcBef>
                <a:spcPts val="1200"/>
              </a:spcBef>
              <a:buNone/>
            </a:pPr>
            <a:r>
              <a:rPr lang="en-US" dirty="0" smtClean="0"/>
              <a:t>	</a:t>
            </a:r>
            <a:r>
              <a:rPr lang="ru-RU" dirty="0" smtClean="0"/>
              <a:t>5</a:t>
            </a:r>
            <a:r>
              <a:rPr lang="ru-RU" dirty="0" smtClean="0"/>
              <a:t>. Обеспечить сопоставимость данных в КИС предприятия, основанных на различных программных платформах.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Информационное обеспечение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4</a:t>
            </a:fld>
            <a:endParaRPr lang="ru-RU"/>
          </a:p>
        </p:txBody>
      </p:sp>
      <p:graphicFrame>
        <p:nvGraphicFramePr>
          <p:cNvPr id="5" name="Содержимое 7"/>
          <p:cNvGraphicFramePr>
            <a:graphicFrameLocks/>
          </p:cNvGraphicFramePr>
          <p:nvPr/>
        </p:nvGraphicFramePr>
        <p:xfrm>
          <a:off x="2339752" y="1412776"/>
          <a:ext cx="6419056" cy="4937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03648" y="2348880"/>
            <a:ext cx="28803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Ввод данных в систему</a:t>
            </a:r>
            <a:endParaRPr lang="ru-RU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331640" y="4221088"/>
            <a:ext cx="3096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Предоставление данных пользователю</a:t>
            </a:r>
            <a:endParaRPr lang="ru-RU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Описание ПАО «Радиозавод»</a:t>
            </a:r>
            <a:endParaRPr lang="ru-RU" dirty="0"/>
          </a:p>
        </p:txBody>
      </p:sp>
      <p:graphicFrame>
        <p:nvGraphicFramePr>
          <p:cNvPr id="7" name="Содержимое 6"/>
          <p:cNvGraphicFramePr>
            <a:graphicFrameLocks noGrp="1"/>
          </p:cNvGraphicFramePr>
          <p:nvPr>
            <p:ph idx="1"/>
          </p:nvPr>
        </p:nvGraphicFramePr>
        <p:xfrm>
          <a:off x="971600" y="1124744"/>
          <a:ext cx="4176464" cy="2952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5</a:t>
            </a:fld>
            <a:endParaRPr lang="ru-RU"/>
          </a:p>
        </p:txBody>
      </p:sp>
      <p:graphicFrame>
        <p:nvGraphicFramePr>
          <p:cNvPr id="8" name="Диаграмма 7"/>
          <p:cNvGraphicFramePr/>
          <p:nvPr/>
        </p:nvGraphicFramePr>
        <p:xfrm>
          <a:off x="5148064" y="2276872"/>
          <a:ext cx="3624064" cy="396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16216" y="1988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220072" y="1412776"/>
            <a:ext cx="3904531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160" b="1" dirty="0" smtClean="0"/>
              <a:t>Экономические показатели  </a:t>
            </a:r>
          </a:p>
          <a:p>
            <a:pPr algn="ctr"/>
            <a:r>
              <a:rPr lang="ru-RU" sz="2160" b="1" dirty="0" smtClean="0"/>
              <a:t>за 2014 и 2015 года в млн. руб.</a:t>
            </a:r>
            <a:endParaRPr lang="ru-RU" sz="216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 </a:t>
            </a:r>
            <a:r>
              <a:rPr lang="en-US" dirty="0" smtClean="0"/>
              <a:t>PTC </a:t>
            </a:r>
            <a:r>
              <a:rPr lang="en-US" dirty="0" smtClean="0"/>
              <a:t>Windchill 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412776"/>
            <a:ext cx="7498080" cy="4800600"/>
          </a:xfrm>
        </p:spPr>
        <p:txBody>
          <a:bodyPr>
            <a:normAutofit fontScale="70000" lnSpcReduction="20000"/>
          </a:bodyPr>
          <a:lstStyle/>
          <a:p>
            <a:pPr lvl="0">
              <a:buNone/>
            </a:pPr>
            <a:r>
              <a:rPr lang="en-US" dirty="0" smtClean="0"/>
              <a:t>	</a:t>
            </a:r>
            <a:r>
              <a:rPr lang="en-US" dirty="0" smtClean="0"/>
              <a:t>PTC </a:t>
            </a:r>
            <a:r>
              <a:rPr lang="en-US" dirty="0" smtClean="0"/>
              <a:t>Windchill </a:t>
            </a:r>
            <a:r>
              <a:rPr lang="ru-RU" dirty="0" smtClean="0"/>
              <a:t>представляет собой современный инструмент для совместной работы пользователей на основе </a:t>
            </a:r>
            <a:r>
              <a:rPr lang="ru-RU" dirty="0" err="1" smtClean="0"/>
              <a:t>веб-технологий</a:t>
            </a:r>
            <a:r>
              <a:rPr lang="ru-RU" dirty="0" smtClean="0"/>
              <a:t>, и создана специально для обеспечения эффективной разработки и управления информацией об изделии. Система реализует следующие функции:</a:t>
            </a:r>
          </a:p>
          <a:p>
            <a:pPr lvl="0"/>
            <a:r>
              <a:rPr lang="ru-RU" dirty="0" smtClean="0"/>
              <a:t>Механизм организации совместного использования данных;</a:t>
            </a:r>
          </a:p>
          <a:p>
            <a:pPr lvl="0"/>
            <a:r>
              <a:rPr lang="ru-RU" dirty="0" smtClean="0"/>
              <a:t>Хранение данных в защищенном хранилище и разграничение прав доступа;</a:t>
            </a:r>
          </a:p>
          <a:p>
            <a:pPr lvl="0"/>
            <a:r>
              <a:rPr lang="ru-RU" dirty="0" smtClean="0"/>
              <a:t>Управление информацией;</a:t>
            </a:r>
          </a:p>
          <a:p>
            <a:pPr lvl="0"/>
            <a:r>
              <a:rPr lang="ru-RU" dirty="0" smtClean="0"/>
              <a:t>Управление изменениями;</a:t>
            </a:r>
          </a:p>
          <a:p>
            <a:pPr lvl="0"/>
            <a:r>
              <a:rPr lang="ru-RU" dirty="0" smtClean="0"/>
              <a:t>Возможность хранения всей истории проектирования и многое другое.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Управление жизненным циклом продукции на ПАО «Радиозавод»</a:t>
            </a:r>
            <a:endParaRPr lang="ru-RU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435100" y="1659791"/>
            <a:ext cx="7499350" cy="4376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32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Обзор выявленных проблем функционирования информационного обеспечения СУЖЦ</a:t>
            </a:r>
            <a:endParaRPr lang="ru-RU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187624" y="1556792"/>
            <a:ext cx="7746064" cy="5112568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dirty="0" smtClean="0"/>
              <a:t>	1. Несопоставимость </a:t>
            </a:r>
            <a:r>
              <a:rPr lang="ru-RU" dirty="0" smtClean="0"/>
              <a:t>форматов данных имеющихся электронных моделей с применяемыми в </a:t>
            </a:r>
            <a:r>
              <a:rPr lang="en-US" dirty="0" smtClean="0"/>
              <a:t>Windchill</a:t>
            </a:r>
            <a:r>
              <a:rPr lang="ru-RU" dirty="0" smtClean="0"/>
              <a:t>, наличие большого числа бумажных носителей;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2. Недостаточная </a:t>
            </a:r>
            <a:r>
              <a:rPr lang="ru-RU" dirty="0" smtClean="0"/>
              <a:t>система типов данных для корректного управления структурой изделия;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3. Алгоритм </a:t>
            </a:r>
            <a:r>
              <a:rPr lang="ru-RU" dirty="0" smtClean="0"/>
              <a:t>внесения конструкторских изменений не соответствует требованиям ГОСТ на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4. Стандартные </a:t>
            </a:r>
            <a:r>
              <a:rPr lang="ru-RU" dirty="0" smtClean="0"/>
              <a:t>отчеты недостаточны и не соответствуют ЕСКД;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5. Требуется </a:t>
            </a:r>
            <a:r>
              <a:rPr lang="ru-RU" dirty="0" smtClean="0"/>
              <a:t>синхронизация данных с другими КИС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Негативные эффекты выявленных проблем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dirty="0" smtClean="0"/>
              <a:t>	1</a:t>
            </a:r>
            <a:r>
              <a:rPr lang="ru-RU" dirty="0" smtClean="0"/>
              <a:t>. Большая часть информации и документации, созданных на предприятии за всё время его работы, не могут быть корректно перенесены в </a:t>
            </a:r>
            <a:r>
              <a:rPr lang="ru-RU" dirty="0" smtClean="0"/>
              <a:t>систему</a:t>
            </a:r>
            <a:r>
              <a:rPr lang="ru-RU" dirty="0" smtClean="0"/>
              <a:t>;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2</a:t>
            </a:r>
            <a:r>
              <a:rPr lang="ru-RU" dirty="0" smtClean="0"/>
              <a:t>. </a:t>
            </a:r>
            <a:r>
              <a:rPr lang="ru-RU" dirty="0" smtClean="0"/>
              <a:t>Невозможно правильно (в условиях целевого предприятия) создать структуру изделия и сгенерировать сопроводительную документацию по требованиям ГОСТ;</a:t>
            </a:r>
            <a:endParaRPr lang="ru-RU" dirty="0" smtClean="0"/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3</a:t>
            </a:r>
            <a:r>
              <a:rPr lang="ru-RU" dirty="0" smtClean="0"/>
              <a:t>. </a:t>
            </a:r>
            <a:r>
              <a:rPr lang="ru-RU" dirty="0" smtClean="0"/>
              <a:t>Организация работы над изделиями не соответствует требованиям ГОСТ на ЕСКД;</a:t>
            </a:r>
            <a:endParaRPr lang="ru-RU" dirty="0" smtClean="0"/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4</a:t>
            </a:r>
            <a:r>
              <a:rPr lang="ru-RU" dirty="0" smtClean="0"/>
              <a:t>. </a:t>
            </a:r>
            <a:r>
              <a:rPr lang="ru-RU" dirty="0" smtClean="0"/>
              <a:t>Система отчетов </a:t>
            </a:r>
            <a:r>
              <a:rPr lang="ru-RU" dirty="0" smtClean="0"/>
              <a:t>в стандартной поставке </a:t>
            </a:r>
            <a:r>
              <a:rPr lang="en-US" dirty="0" smtClean="0"/>
              <a:t>Windchill</a:t>
            </a:r>
            <a:r>
              <a:rPr lang="ru-RU" dirty="0" smtClean="0"/>
              <a:t> недостаточна для обеспечения потребностей отделов ПАО «Радиозавод», требуется её значительное расширение. </a:t>
            </a:r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5</a:t>
            </a:r>
            <a:r>
              <a:rPr lang="ru-RU" dirty="0" smtClean="0"/>
              <a:t>. </a:t>
            </a:r>
            <a:r>
              <a:rPr lang="ru-RU" dirty="0" smtClean="0"/>
              <a:t>Данные в различных КИС предприятия разнятся, так как нет средств синхронизации;</a:t>
            </a:r>
            <a:endParaRPr lang="ru-RU" dirty="0" smtClean="0"/>
          </a:p>
          <a:p>
            <a:pPr>
              <a:spcBef>
                <a:spcPts val="1200"/>
              </a:spcBef>
              <a:buNone/>
            </a:pPr>
            <a:r>
              <a:rPr lang="ru-RU" dirty="0" smtClean="0"/>
              <a:t>	6</a:t>
            </a:r>
            <a:r>
              <a:rPr lang="ru-RU" dirty="0" smtClean="0"/>
              <a:t>. Помимо всего прочего, есть некоторые ограничения в плане принимаемых мер, касающихся, в основном, недостаточного развития информационной среды предприятия.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9</a:t>
            </a:fld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Алгоритм перехода специалистов к работе в СУЖЦ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smtClean="0"/>
              <a:t>Электронные модели по текущим проектам завести в систему под видом изображений;</a:t>
            </a:r>
          </a:p>
          <a:p>
            <a:r>
              <a:rPr lang="ru-RU" dirty="0" smtClean="0"/>
              <a:t>Моделирование новых изделий производить через интерфейс СУЖЦ и интегрированной САПР; </a:t>
            </a:r>
            <a:endParaRPr lang="en-US" dirty="0" smtClean="0"/>
          </a:p>
          <a:p>
            <a:r>
              <a:rPr lang="ru-RU" dirty="0" smtClean="0"/>
              <a:t>Бумажные носители сканировать и вводить в систему как изображения;</a:t>
            </a:r>
          </a:p>
          <a:p>
            <a:r>
              <a:rPr lang="ru-RU" dirty="0" smtClean="0"/>
              <a:t>С новыми заказами работать схожим образом. </a:t>
            </a:r>
            <a:endParaRPr lang="ru-RU" dirty="0" smtClean="0"/>
          </a:p>
          <a:p>
            <a:pPr>
              <a:buNone/>
            </a:pPr>
            <a:r>
              <a:rPr lang="ru-RU" dirty="0" smtClean="0"/>
              <a:t>	</a:t>
            </a:r>
          </a:p>
          <a:p>
            <a:pPr>
              <a:buNone/>
            </a:pPr>
            <a:r>
              <a:rPr lang="ru-RU" dirty="0" smtClean="0"/>
              <a:t>	</a:t>
            </a:r>
            <a:r>
              <a:rPr lang="ru-RU" dirty="0" smtClean="0"/>
              <a:t>Эффект: </a:t>
            </a:r>
          </a:p>
          <a:p>
            <a:pPr>
              <a:buNone/>
            </a:pPr>
            <a:r>
              <a:rPr lang="ru-RU" dirty="0" smtClean="0"/>
              <a:t>	1. Решена проблема несопоставимости форматов данных имеющихся электронных моделей; </a:t>
            </a:r>
          </a:p>
          <a:p>
            <a:pPr>
              <a:buNone/>
            </a:pPr>
            <a:r>
              <a:rPr lang="ru-RU" dirty="0" smtClean="0"/>
              <a:t>	2. Ускорен перевод текущих и новых заказов в новую систему. </a:t>
            </a:r>
            <a:endParaRPr lang="ru-RU" dirty="0" smtClean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10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Обновление объектной модели </a:t>
            </a:r>
            <a:r>
              <a:rPr lang="en-US" dirty="0" smtClean="0"/>
              <a:t>Windchill</a:t>
            </a:r>
            <a:endParaRPr lang="ru-RU" dirty="0"/>
          </a:p>
        </p:txBody>
      </p:sp>
      <p:graphicFrame>
        <p:nvGraphicFramePr>
          <p:cNvPr id="8" name="Содержимое 7"/>
          <p:cNvGraphicFramePr>
            <a:graphicFrameLocks noGrp="1"/>
          </p:cNvGraphicFramePr>
          <p:nvPr>
            <p:ph sz="half" idx="1"/>
          </p:nvPr>
        </p:nvGraphicFramePr>
        <p:xfrm>
          <a:off x="1475656" y="1916832"/>
          <a:ext cx="36576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Агрегат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Содержимое 6"/>
          <p:cNvGraphicFramePr>
            <a:graphicFrameLocks noGrp="1"/>
          </p:cNvGraphicFramePr>
          <p:nvPr>
            <p:ph sz="half" idx="2"/>
          </p:nvPr>
        </p:nvGraphicFramePr>
        <p:xfrm>
          <a:off x="5292080" y="1916832"/>
          <a:ext cx="365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Тип объекта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Заказ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ТТП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Электрический</a:t>
                      </a:r>
                      <a:r>
                        <a:rPr lang="ru-RU" baseline="0" dirty="0" smtClean="0"/>
                        <a:t> компонент</a:t>
                      </a:r>
                      <a:endParaRPr lang="ru-RU" dirty="0" smtClean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Режим сборки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Сборка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Неразборный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Компонент</a:t>
                      </a:r>
                      <a:endParaRPr lang="ru-RU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Раздел спецификации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Сборочная единица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Деталь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Прочее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Материал</a:t>
                      </a:r>
                    </a:p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ru-RU" dirty="0" smtClean="0"/>
                        <a:t>Комплект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11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843808" y="1412776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0" name="TextBox 9"/>
          <p:cNvSpPr txBox="1"/>
          <p:nvPr/>
        </p:nvSpPr>
        <p:spPr>
          <a:xfrm>
            <a:off x="6588224" y="1412776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1259632" y="4077072"/>
            <a:ext cx="40324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Эффект: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Появилась возможность автоматической передачи данных между КИС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Упростился процесс проектирования технологического маршрута</a:t>
            </a:r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 Автоматизирован процесс генерации спецификации на изделие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Проведение конструкторских изменений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" y="1916832"/>
            <a:ext cx="4471074" cy="316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7795" y="2132856"/>
            <a:ext cx="4556205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72000" y="1628800"/>
            <a:ext cx="0" cy="4824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07704" y="1556792"/>
            <a:ext cx="920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Было</a:t>
            </a:r>
            <a:endParaRPr lang="ru-RU" sz="24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6300192" y="1556792"/>
            <a:ext cx="975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 smtClean="0"/>
              <a:t>Стало</a:t>
            </a:r>
            <a:endParaRPr lang="ru-RU" sz="24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4716017" y="5085184"/>
            <a:ext cx="374441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Упростился </a:t>
            </a:r>
            <a:r>
              <a:rPr lang="ru-RU" sz="1600" dirty="0" smtClean="0"/>
              <a:t>процесс внесения и отслеживания последующих изменений</a:t>
            </a:r>
          </a:p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Алгоритм </a:t>
            </a:r>
            <a:r>
              <a:rPr lang="ru-RU" sz="1600" dirty="0" smtClean="0"/>
              <a:t>отвечает требованиям ЕСКД</a:t>
            </a:r>
          </a:p>
          <a:p>
            <a:pPr lvl="0">
              <a:buFont typeface="Arial" pitchFamily="34" charset="0"/>
              <a:buChar char="•"/>
            </a:pPr>
            <a:r>
              <a:rPr lang="ru-RU" sz="1600" dirty="0" smtClean="0"/>
              <a:t> Несколько </a:t>
            </a:r>
            <a:r>
              <a:rPr lang="ru-RU" sz="1600" dirty="0" smtClean="0"/>
              <a:t>увеличилось время проведения изменения</a:t>
            </a:r>
          </a:p>
          <a:p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043608" y="5157192"/>
            <a:ext cx="3528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ru-RU" sz="1600" dirty="0" smtClean="0"/>
              <a:t> Не соответствует ЕСКД;</a:t>
            </a:r>
          </a:p>
          <a:p>
            <a:pPr>
              <a:buFont typeface="Arial" pitchFamily="34" charset="0"/>
              <a:buChar char="•"/>
            </a:pPr>
            <a:r>
              <a:rPr lang="ru-RU" sz="1600" dirty="0" smtClean="0"/>
              <a:t> Требуется организовать хранение печатных документов;</a:t>
            </a:r>
          </a:p>
          <a:p>
            <a:pPr>
              <a:buFont typeface="Arial" pitchFamily="34" charset="0"/>
              <a:buChar char="•"/>
            </a:pPr>
            <a:r>
              <a:rPr lang="ru-RU" sz="1600" dirty="0" smtClean="0"/>
              <a:t> Нет возможности присоединить документ к конкретному изменению изделия 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отчетов</a:t>
            </a:r>
            <a:endParaRPr lang="ru-RU" dirty="0"/>
          </a:p>
        </p:txBody>
      </p:sp>
      <p:sp>
        <p:nvSpPr>
          <p:cNvPr id="9" name="Содержимое 8"/>
          <p:cNvSpPr>
            <a:spLocks noGrp="1"/>
          </p:cNvSpPr>
          <p:nvPr>
            <p:ph idx="1"/>
          </p:nvPr>
        </p:nvSpPr>
        <p:spPr>
          <a:xfrm>
            <a:off x="1043608" y="1447800"/>
            <a:ext cx="7890080" cy="5221560"/>
          </a:xfrm>
        </p:spPr>
        <p:txBody>
          <a:bodyPr>
            <a:normAutofit fontScale="55000" lnSpcReduction="20000"/>
          </a:bodyPr>
          <a:lstStyle/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Основная часть сопроводительной документации создаётся посредством конструктора запросов, либо уже предоставляется по умолчанию.</a:t>
            </a:r>
          </a:p>
          <a:p>
            <a:pPr>
              <a:spcBef>
                <a:spcPts val="1200"/>
              </a:spcBef>
              <a:buNone/>
            </a:pPr>
            <a:r>
              <a:rPr lang="ru-RU" sz="3100" dirty="0" smtClean="0"/>
              <a:t>	Для организации внутреннего документооборота требуются </a:t>
            </a:r>
            <a:r>
              <a:rPr lang="ru-RU" dirty="0" smtClean="0"/>
              <a:t>следующие отчеты в печатном виде:</a:t>
            </a:r>
          </a:p>
          <a:p>
            <a:r>
              <a:rPr lang="ru-RU" dirty="0" smtClean="0"/>
              <a:t>Ведомость покупных;</a:t>
            </a:r>
          </a:p>
          <a:p>
            <a:r>
              <a:rPr lang="ru-RU" dirty="0" smtClean="0"/>
              <a:t>Ведомость применяемости;</a:t>
            </a:r>
          </a:p>
          <a:p>
            <a:r>
              <a:rPr lang="ru-RU" dirty="0" smtClean="0"/>
              <a:t>Картотека трудового нормирования;</a:t>
            </a:r>
          </a:p>
          <a:p>
            <a:r>
              <a:rPr lang="ru-RU" dirty="0" smtClean="0"/>
              <a:t>Картотека планирования.</a:t>
            </a:r>
          </a:p>
          <a:p>
            <a:pPr marL="360000">
              <a:spcBef>
                <a:spcPts val="1200"/>
              </a:spcBef>
              <a:buNone/>
            </a:pPr>
            <a:r>
              <a:rPr lang="ru-RU" dirty="0" smtClean="0"/>
              <a:t>	Основные требования в ТЗ:</a:t>
            </a:r>
          </a:p>
          <a:p>
            <a:r>
              <a:rPr lang="ru-RU" sz="3100" dirty="0" smtClean="0"/>
              <a:t>Создание на основе данных только из </a:t>
            </a:r>
            <a:r>
              <a:rPr lang="en-US" sz="3100" dirty="0" smtClean="0"/>
              <a:t>Windchill</a:t>
            </a:r>
            <a:r>
              <a:rPr lang="ru-RU" sz="3100" dirty="0" smtClean="0"/>
              <a:t>;</a:t>
            </a:r>
          </a:p>
          <a:p>
            <a:r>
              <a:rPr lang="ru-RU" sz="3100" dirty="0" smtClean="0"/>
              <a:t>Возможность просмотра и изменения в электронном виде;</a:t>
            </a:r>
          </a:p>
          <a:p>
            <a:r>
              <a:rPr lang="ru-RU" sz="3100" dirty="0" smtClean="0"/>
              <a:t>Соответствие </a:t>
            </a:r>
            <a:r>
              <a:rPr lang="ru-RU" dirty="0" smtClean="0"/>
              <a:t>печатных форм нормам ЕСКД</a:t>
            </a:r>
            <a:r>
              <a:rPr lang="ru-RU" dirty="0" smtClean="0"/>
              <a:t>.</a:t>
            </a:r>
          </a:p>
          <a:p>
            <a:endParaRPr lang="ru-RU" dirty="0" smtClean="0"/>
          </a:p>
          <a:p>
            <a:pPr>
              <a:buNone/>
            </a:pPr>
            <a:r>
              <a:rPr lang="ru-RU" dirty="0" smtClean="0"/>
              <a:t>	</a:t>
            </a:r>
            <a:r>
              <a:rPr lang="ru-RU" dirty="0" smtClean="0"/>
              <a:t>Эффект:</a:t>
            </a:r>
          </a:p>
          <a:p>
            <a:pPr>
              <a:buNone/>
            </a:pPr>
            <a:r>
              <a:rPr lang="ru-RU" dirty="0" smtClean="0"/>
              <a:t>	1. Все необходимые отчеты по жизненному циклу изделия автоматически генерируется непосредственно из СУЖЦ</a:t>
            </a:r>
          </a:p>
          <a:p>
            <a:pPr>
              <a:buNone/>
            </a:pPr>
            <a:r>
              <a:rPr lang="ru-RU" dirty="0" smtClean="0"/>
              <a:t>	2. В</a:t>
            </a:r>
            <a:r>
              <a:rPr lang="ru-RU" dirty="0" smtClean="0"/>
              <a:t>ся сопроводительная документация приведена в соответствие с ГОСТ на ЕСКД. </a:t>
            </a:r>
            <a:endParaRPr lang="ru-RU" dirty="0" smtClean="0"/>
          </a:p>
          <a:p>
            <a:pPr>
              <a:buNone/>
            </a:pPr>
            <a:endParaRPr lang="ru-RU" dirty="0" smtClean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3608" y="274638"/>
            <a:ext cx="8100392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Синхронизация данных в различных информационных системах</a:t>
            </a:r>
            <a:endParaRPr lang="ru-RU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 bwMode="auto">
          <a:xfrm>
            <a:off x="1187624" y="1556792"/>
            <a:ext cx="7499350" cy="4114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1259632" y="5657671"/>
            <a:ext cx="7560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Эффект:</a:t>
            </a:r>
          </a:p>
          <a:p>
            <a:r>
              <a:rPr lang="ru-RU" dirty="0" smtClean="0"/>
              <a:t>Данные во всех КИС предприятия синхронизированы, при генерации отчетов не будут возникать ошибки и неоднозначности.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Экономическая эффективность</a:t>
            </a:r>
            <a:endParaRPr lang="ru-RU" dirty="0"/>
          </a:p>
        </p:txBody>
      </p:sp>
      <p:graphicFrame>
        <p:nvGraphicFramePr>
          <p:cNvPr id="5" name="Содержимое 4"/>
          <p:cNvGraphicFramePr>
            <a:graphicFrameLocks noGrp="1"/>
          </p:cNvGraphicFramePr>
          <p:nvPr>
            <p:ph idx="1"/>
          </p:nvPr>
        </p:nvGraphicFramePr>
        <p:xfrm>
          <a:off x="1043608" y="1556793"/>
          <a:ext cx="7776864" cy="4278326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5040560"/>
                <a:gridCol w="1512168"/>
                <a:gridCol w="1224136"/>
              </a:tblGrid>
              <a:tr h="267323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Показатель эффективности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AS-IS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 smtClean="0"/>
                        <a:t>TO</a:t>
                      </a:r>
                      <a:r>
                        <a:rPr lang="ru-RU" sz="1300" baseline="0" dirty="0" smtClean="0"/>
                        <a:t> </a:t>
                      </a:r>
                      <a:r>
                        <a:rPr lang="ru-RU" sz="1300" dirty="0" smtClean="0"/>
                        <a:t>BE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 anchor="ctr"/>
                </a:tc>
              </a:tr>
              <a:tr h="5510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Среднее количество введенных в производство изделий в год (шт.)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5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7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5510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Среднее количество завершенных (отчужденных) заказов в год (шт.)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3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4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8421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Качественные показатели продукции (% отказа во время гарантированного срока эксплуатации)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0,4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0,25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5510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Среднее время освоения производства изделия (мес.)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18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15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5510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Количество использованных пачек бумаги А4 на заказ (шт.)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60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36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5510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Количество рулонов бумаги для широкоформатной печати (шт.)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8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1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  <a:tr h="38369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Количество использованных картриджей (шт.)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30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300" dirty="0"/>
                        <a:t>18</a:t>
                      </a:r>
                      <a:endParaRPr lang="ru-RU" sz="1300" dirty="0">
                        <a:latin typeface="Times New Roman"/>
                        <a:ea typeface="Calibri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971601" y="5949280"/>
            <a:ext cx="7848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Ежемесячная экономия на расходных материалах составит около 210 тысяч рублей в год.</a:t>
            </a:r>
            <a:endParaRPr lang="ru-R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Разработаны методические рекомендации по организации  перехода специалистов к работе в новой системе;</a:t>
            </a:r>
          </a:p>
          <a:p>
            <a:r>
              <a:rPr lang="ru-RU" dirty="0" smtClean="0"/>
              <a:t>Разработан алгоритм внесения изменений в документации на проект, соответствующий требованиям ГОСТ на ЕСКД;</a:t>
            </a:r>
          </a:p>
          <a:p>
            <a:r>
              <a:rPr lang="ru-RU" dirty="0" smtClean="0"/>
              <a:t>Определен перечень отчетов, требующих реализации в виде самостоятельного программного модуля и предоставлены требования к ним;</a:t>
            </a:r>
          </a:p>
          <a:p>
            <a:r>
              <a:rPr lang="ru-RU" dirty="0" smtClean="0"/>
              <a:t>Создана объектная модель, удовлетворяющая всем потребностям предприятия при автоматической обработке изделия и работе с документацией;</a:t>
            </a:r>
          </a:p>
          <a:p>
            <a:r>
              <a:rPr lang="ru-RU" dirty="0" smtClean="0"/>
              <a:t>Разработана утилита синхронизации данных в разнородных информационных </a:t>
            </a:r>
            <a:r>
              <a:rPr lang="ru-RU" dirty="0" smtClean="0"/>
              <a:t>системах;</a:t>
            </a:r>
          </a:p>
          <a:p>
            <a:r>
              <a:rPr lang="ru-RU" dirty="0" smtClean="0"/>
              <a:t>СУЖЦ приведена в работоспособное состояния и может реализовать </a:t>
            </a:r>
            <a:r>
              <a:rPr lang="ru-RU" smtClean="0"/>
              <a:t>требуемый функционал.</a:t>
            </a:r>
            <a:endParaRPr lang="ru-RU" dirty="0" smtClean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16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Благодарю за внимание!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Исполнитель: студент группы 521 Темников Андрей Владимирович</a:t>
            </a:r>
          </a:p>
          <a:p>
            <a:r>
              <a:rPr lang="ru-RU" dirty="0" smtClean="0"/>
              <a:t>Научный руководитель: д.т.н., доцент, профессор кафедры математики и информатики </a:t>
            </a:r>
            <a:r>
              <a:rPr lang="ru-RU" dirty="0" err="1" smtClean="0"/>
              <a:t>Переверзев</a:t>
            </a:r>
            <a:r>
              <a:rPr lang="ru-RU" dirty="0" smtClean="0"/>
              <a:t> Павел Петрович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C1B211-457E-4361-983F-013AFA25B34F}" type="slidenum">
              <a:rPr lang="ru-RU" smtClean="0"/>
              <a:pPr/>
              <a:t>17</a:t>
            </a:fld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лнцестояние">
  <a:themeElements>
    <a:clrScheme name="Солнцестояние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Солнцестояние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Солнцестояние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2925</TotalTime>
  <Words>541</Words>
  <Application>Microsoft Office PowerPoint</Application>
  <PresentationFormat>Экран (4:3)</PresentationFormat>
  <Paragraphs>165</Paragraphs>
  <Slides>17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Солнцестояние</vt:lpstr>
      <vt:lpstr>ВЫПУСКНАЯ КВАЛИФИКАЦИОННАЯ (БАКАЛАВРСКАЯ) РАБОТА НА ТЕМУ: «РАЗРАБОТКА ИНФОРМАЦИОННОГО ОБЕСПЕЧЕНИЯ ДЛЯ СИСТЕМ УПРАВЛЕНИЯ ЖИЗНЕННЫМ ЦИКЛОМ ПРОДУКЦИИ НА ПРОМЫШЛЕННОМ ПРЕДПРИЯТИИ НА ПРИМЕРЕ ПАО «РАДИОЗАВОД»</vt:lpstr>
      <vt:lpstr>Описание работы</vt:lpstr>
      <vt:lpstr>Задачи работы</vt:lpstr>
      <vt:lpstr>Информационное обеспечение</vt:lpstr>
      <vt:lpstr>Описание ПАО «Радиозавод»</vt:lpstr>
      <vt:lpstr> PTC Windchill </vt:lpstr>
      <vt:lpstr>Управление жизненным циклом продукции на ПАО «Радиозавод»</vt:lpstr>
      <vt:lpstr>Обзор выявленных проблем функционирования информационного обеспечения СУЖЦ</vt:lpstr>
      <vt:lpstr>Негативные эффекты выявленных проблем</vt:lpstr>
      <vt:lpstr>Алгоритм перехода специалистов к работе в СУЖЦ</vt:lpstr>
      <vt:lpstr>Обновление объектной модели Windchill</vt:lpstr>
      <vt:lpstr>Проведение конструкторских изменений</vt:lpstr>
      <vt:lpstr>Система отчетов</vt:lpstr>
      <vt:lpstr>Синхронизация данных в различных информационных системах</vt:lpstr>
      <vt:lpstr>Экономическая эффективность</vt:lpstr>
      <vt:lpstr>Выводы</vt:lpstr>
      <vt:lpstr>Благодарю за внимание!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производственной практике на ПАО «Радиозавод» в городе Кыштыме</dc:title>
  <dc:creator>Андрей</dc:creator>
  <cp:lastModifiedBy>Андрей</cp:lastModifiedBy>
  <cp:revision>189</cp:revision>
  <dcterms:created xsi:type="dcterms:W3CDTF">2016-05-07T16:58:22Z</dcterms:created>
  <dcterms:modified xsi:type="dcterms:W3CDTF">2016-06-09T20:44:32Z</dcterms:modified>
</cp:coreProperties>
</file>