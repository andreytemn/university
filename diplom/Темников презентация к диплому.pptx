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Layouts/slideLayout8.xml" ContentType="application/vnd.openxmlformats-officedocument.presentationml.slideLayout+xml"/>
  <Override PartName="/ppt/diagrams/colors1.xml" ContentType="application/vnd.openxmlformats-officedocument.drawingml.diagramColors+xml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diagrams/drawing1.xml" ContentType="application/vnd.ms-office.drawingml.diagramDrawing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Default Extension="jpeg" ContentType="image/jpeg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diagrams/quickStyle1.xml" ContentType="application/vnd.openxmlformats-officedocument.drawingml.diagramStyl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diagrams/layout1.xml" ContentType="application/vnd.openxmlformats-officedocument.drawingml.diagramLayout+xml"/>
  <Default Extension="xlsx" ContentType="application/vnd.openxmlformats-officedocument.spreadsheetml.sheet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diagrams/data1.xml" ContentType="application/vnd.openxmlformats-officedocument.drawingml.diagramData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88" r:id="rId1"/>
  </p:sldMasterIdLst>
  <p:notesMasterIdLst>
    <p:notesMasterId r:id="rId19"/>
  </p:notesMasterIdLst>
  <p:sldIdLst>
    <p:sldId id="256" r:id="rId2"/>
    <p:sldId id="257" r:id="rId3"/>
    <p:sldId id="277" r:id="rId4"/>
    <p:sldId id="258" r:id="rId5"/>
    <p:sldId id="259" r:id="rId6"/>
    <p:sldId id="267" r:id="rId7"/>
    <p:sldId id="261" r:id="rId8"/>
    <p:sldId id="269" r:id="rId9"/>
    <p:sldId id="278" r:id="rId10"/>
    <p:sldId id="275" r:id="rId11"/>
    <p:sldId id="271" r:id="rId12"/>
    <p:sldId id="270" r:id="rId13"/>
    <p:sldId id="276" r:id="rId14"/>
    <p:sldId id="272" r:id="rId15"/>
    <p:sldId id="279" r:id="rId16"/>
    <p:sldId id="273" r:id="rId17"/>
    <p:sldId id="274" r:id="rId18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Стиль из темы 1 -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C7853C-536D-4A76-A0AE-DD22124D55A5}" styleName="Стиль из темы 1 - акцент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8FB837D-C827-4EFA-A057-4D05807E0F7C}" styleName="Стиль из темы 1 - акцент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012ECD-51FC-41F1-AA8D-1B2483CD663E}" styleName="Светлый стиль 2 - акцент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Средний стиль 1 -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344" autoAdjust="0"/>
    <p:restoredTop sz="94660"/>
  </p:normalViewPr>
  <p:slideViewPr>
    <p:cSldViewPr>
      <p:cViewPr varScale="1">
        <p:scale>
          <a:sx n="99" d="100"/>
          <a:sy n="99" d="100"/>
        </p:scale>
        <p:origin x="-330" y="-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_____Microsoft_Office_Excel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_____Microsoft_Office_Excel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lang val="ru-RU"/>
  <c:chart>
    <c:title>
      <c:tx>
        <c:rich>
          <a:bodyPr/>
          <a:lstStyle/>
          <a:p>
            <a:pPr>
              <a:defRPr/>
            </a:pPr>
            <a:r>
              <a:rPr lang="ru-RU" dirty="0" smtClean="0"/>
              <a:t>Соотношение</a:t>
            </a:r>
            <a:r>
              <a:rPr lang="ru-RU" baseline="0" dirty="0" smtClean="0"/>
              <a:t> рабочих мест</a:t>
            </a:r>
            <a:endParaRPr lang="ru-RU" dirty="0"/>
          </a:p>
        </c:rich>
      </c:tx>
      <c:layout/>
    </c:title>
    <c:plotArea>
      <c:layout>
        <c:manualLayout>
          <c:layoutTarget val="inner"/>
          <c:xMode val="edge"/>
          <c:yMode val="edge"/>
          <c:x val="1.6696397532890622E-2"/>
          <c:y val="0.24731418731252147"/>
          <c:w val="0.46171437940587312"/>
          <c:h val="0.6361398116258713"/>
        </c:manualLayout>
      </c:layout>
      <c:pie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explosion val="11"/>
          </c:dPt>
          <c:dLbls>
            <c:showVal val="1"/>
            <c:showLeaderLines val="1"/>
          </c:dLbls>
          <c:cat>
            <c:strRef>
              <c:f>Лист1!$A$2:$A$3</c:f>
              <c:strCache>
                <c:ptCount val="2"/>
                <c:pt idx="0">
                  <c:v>Оснащенные АРМ</c:v>
                </c:pt>
                <c:pt idx="1">
                  <c:v>Неоснащенные АРМ</c:v>
                </c:pt>
              </c:strCache>
            </c:strRef>
          </c:cat>
          <c:val>
            <c:numRef>
              <c:f>Лист1!$B$2:$B$3</c:f>
              <c:numCache>
                <c:formatCode>General</c:formatCode>
                <c:ptCount val="2"/>
                <c:pt idx="0">
                  <c:v>300</c:v>
                </c:pt>
                <c:pt idx="1">
                  <c:v>1000</c:v>
                </c:pt>
              </c:numCache>
            </c:numRef>
          </c:val>
        </c:ser>
        <c:firstSliceAng val="0"/>
      </c:pieChart>
    </c:plotArea>
    <c:legend>
      <c:legendPos val="r"/>
      <c:layout>
        <c:manualLayout>
          <c:xMode val="edge"/>
          <c:yMode val="edge"/>
          <c:x val="0.49795856015998363"/>
          <c:y val="0.26828827962204854"/>
          <c:w val="0.47075011378664078"/>
          <c:h val="0.61617777725816802"/>
        </c:manualLayout>
      </c:layout>
    </c:legend>
    <c:plotVisOnly val="1"/>
  </c:chart>
  <c:txPr>
    <a:bodyPr/>
    <a:lstStyle/>
    <a:p>
      <a:pPr>
        <a:defRPr sz="1800"/>
      </a:pPr>
      <a:endParaRPr lang="ru-RU"/>
    </a:p>
  </c:txPr>
  <c:externalData r:id="rId1"/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lang val="ru-RU"/>
  <c:chart>
    <c:plotArea>
      <c:layout/>
      <c:barChart>
        <c:barDir val="col"/>
        <c:grouping val="clustered"/>
        <c:ser>
          <c:idx val="0"/>
          <c:order val="0"/>
          <c:tx>
            <c:strRef>
              <c:f>Лист1!$B$1</c:f>
              <c:strCache>
                <c:ptCount val="1"/>
                <c:pt idx="0">
                  <c:v>Выручка</c:v>
                </c:pt>
              </c:strCache>
            </c:strRef>
          </c:tx>
          <c:cat>
            <c:numRef>
              <c:f>Лист1!$A$2:$A$3</c:f>
              <c:numCache>
                <c:formatCode>General</c:formatCode>
                <c:ptCount val="2"/>
                <c:pt idx="0">
                  <c:v>2014</c:v>
                </c:pt>
                <c:pt idx="1">
                  <c:v>2015</c:v>
                </c:pt>
              </c:numCache>
            </c:numRef>
          </c:cat>
          <c:val>
            <c:numRef>
              <c:f>Лист1!$B$2:$B$3</c:f>
              <c:numCache>
                <c:formatCode>General</c:formatCode>
                <c:ptCount val="2"/>
                <c:pt idx="0">
                  <c:v>2300</c:v>
                </c:pt>
                <c:pt idx="1">
                  <c:v>2700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Выпуск продукции</c:v>
                </c:pt>
              </c:strCache>
            </c:strRef>
          </c:tx>
          <c:cat>
            <c:numRef>
              <c:f>Лист1!$A$2:$A$3</c:f>
              <c:numCache>
                <c:formatCode>General</c:formatCode>
                <c:ptCount val="2"/>
                <c:pt idx="0">
                  <c:v>2014</c:v>
                </c:pt>
                <c:pt idx="1">
                  <c:v>2015</c:v>
                </c:pt>
              </c:numCache>
            </c:numRef>
          </c:cat>
          <c:val>
            <c:numRef>
              <c:f>Лист1!$C$2:$C$3</c:f>
              <c:numCache>
                <c:formatCode>General</c:formatCode>
                <c:ptCount val="2"/>
                <c:pt idx="0">
                  <c:v>2200</c:v>
                </c:pt>
                <c:pt idx="1">
                  <c:v>2600</c:v>
                </c:pt>
              </c:numCache>
            </c:numRef>
          </c:val>
        </c:ser>
        <c:axId val="85158144"/>
        <c:axId val="85164032"/>
      </c:barChart>
      <c:catAx>
        <c:axId val="85158144"/>
        <c:scaling>
          <c:orientation val="minMax"/>
        </c:scaling>
        <c:axPos val="b"/>
        <c:numFmt formatCode="General" sourceLinked="1"/>
        <c:tickLblPos val="nextTo"/>
        <c:crossAx val="85164032"/>
        <c:crosses val="autoZero"/>
        <c:auto val="1"/>
        <c:lblAlgn val="ctr"/>
        <c:lblOffset val="100"/>
      </c:catAx>
      <c:valAx>
        <c:axId val="85164032"/>
        <c:scaling>
          <c:orientation val="minMax"/>
        </c:scaling>
        <c:axPos val="l"/>
        <c:majorGridlines/>
        <c:numFmt formatCode="General" sourceLinked="1"/>
        <c:tickLblPos val="nextTo"/>
        <c:crossAx val="85158144"/>
        <c:crosses val="autoZero"/>
        <c:crossBetween val="between"/>
      </c:valAx>
    </c:plotArea>
    <c:legend>
      <c:legendPos val="r"/>
      <c:layout/>
    </c:legend>
    <c:plotVisOnly val="1"/>
  </c:chart>
  <c:txPr>
    <a:bodyPr/>
    <a:lstStyle/>
    <a:p>
      <a:pPr>
        <a:defRPr sz="1800"/>
      </a:pPr>
      <a:endParaRPr lang="ru-RU"/>
    </a:p>
  </c:txPr>
  <c:externalData r:id="rId1"/>
</c:chartSpac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E4351CD-DDEE-4C94-BB34-847B0B8C60E7}" type="doc">
      <dgm:prSet loTypeId="urn:microsoft.com/office/officeart/2005/8/layout/process2" loCatId="process" qsTypeId="urn:microsoft.com/office/officeart/2005/8/quickstyle/simple1" qsCatId="simple" csTypeId="urn:microsoft.com/office/officeart/2005/8/colors/accent1_2" csCatId="accent1" phldr="1"/>
      <dgm:spPr/>
    </dgm:pt>
    <dgm:pt modelId="{D8D83173-D390-4DCB-9C7A-4707ABE88E3E}">
      <dgm:prSet phldrT="[Текст]" custT="1"/>
      <dgm:spPr/>
      <dgm:t>
        <a:bodyPr/>
        <a:lstStyle/>
        <a:p>
          <a:r>
            <a:rPr lang="ru-RU" sz="2000" dirty="0" smtClean="0"/>
            <a:t>Источник данных</a:t>
          </a:r>
          <a:endParaRPr lang="ru-RU" sz="2000" dirty="0"/>
        </a:p>
      </dgm:t>
    </dgm:pt>
    <dgm:pt modelId="{1CE6144B-2EEE-46B7-80EB-12DFF5CDB262}" type="parTrans" cxnId="{D463D5BB-1422-4FB1-A459-C047D6CA4054}">
      <dgm:prSet/>
      <dgm:spPr/>
      <dgm:t>
        <a:bodyPr/>
        <a:lstStyle/>
        <a:p>
          <a:endParaRPr lang="ru-RU"/>
        </a:p>
      </dgm:t>
    </dgm:pt>
    <dgm:pt modelId="{4C68C74E-8D09-4EBF-B5C1-D6C4BA5076FA}" type="sibTrans" cxnId="{D463D5BB-1422-4FB1-A459-C047D6CA4054}">
      <dgm:prSet/>
      <dgm:spPr/>
      <dgm:t>
        <a:bodyPr/>
        <a:lstStyle/>
        <a:p>
          <a:endParaRPr lang="ru-RU"/>
        </a:p>
      </dgm:t>
    </dgm:pt>
    <dgm:pt modelId="{DB9E0135-4CA6-438F-9689-A532D6BC4F03}">
      <dgm:prSet phldrT="[Текст]" custT="1"/>
      <dgm:spPr/>
      <dgm:t>
        <a:bodyPr/>
        <a:lstStyle/>
        <a:p>
          <a:r>
            <a:rPr lang="ru-RU" sz="2000" dirty="0" smtClean="0"/>
            <a:t>Информационное обеспечение</a:t>
          </a:r>
          <a:endParaRPr lang="ru-RU" sz="2000" dirty="0"/>
        </a:p>
      </dgm:t>
    </dgm:pt>
    <dgm:pt modelId="{9132188F-F245-4CA6-BC8A-B1620824BFA5}" type="parTrans" cxnId="{709C586F-57B8-4F72-BE8E-08A91EF6AE8B}">
      <dgm:prSet/>
      <dgm:spPr/>
      <dgm:t>
        <a:bodyPr/>
        <a:lstStyle/>
        <a:p>
          <a:endParaRPr lang="ru-RU"/>
        </a:p>
      </dgm:t>
    </dgm:pt>
    <dgm:pt modelId="{A332F93A-F5F1-4CE8-A9D6-AF4377FFD1C4}" type="sibTrans" cxnId="{709C586F-57B8-4F72-BE8E-08A91EF6AE8B}">
      <dgm:prSet/>
      <dgm:spPr/>
      <dgm:t>
        <a:bodyPr/>
        <a:lstStyle/>
        <a:p>
          <a:endParaRPr lang="ru-RU"/>
        </a:p>
      </dgm:t>
    </dgm:pt>
    <dgm:pt modelId="{2E143423-D846-4FC3-B092-A5E5A8AD58D8}">
      <dgm:prSet phldrT="[Текст]" custT="1"/>
      <dgm:spPr/>
      <dgm:t>
        <a:bodyPr/>
        <a:lstStyle/>
        <a:p>
          <a:r>
            <a:rPr lang="ru-RU" sz="2000" dirty="0" smtClean="0"/>
            <a:t>Информационная система</a:t>
          </a:r>
          <a:endParaRPr lang="ru-RU" sz="2000" dirty="0"/>
        </a:p>
      </dgm:t>
    </dgm:pt>
    <dgm:pt modelId="{05759D80-FE95-428F-B4F6-B527AC806F6D}" type="parTrans" cxnId="{5BAB40A1-4326-4822-A6C0-41B5C2FF2221}">
      <dgm:prSet/>
      <dgm:spPr/>
      <dgm:t>
        <a:bodyPr/>
        <a:lstStyle/>
        <a:p>
          <a:endParaRPr lang="ru-RU"/>
        </a:p>
      </dgm:t>
    </dgm:pt>
    <dgm:pt modelId="{EA213773-A95A-468A-B388-2C764C76314E}" type="sibTrans" cxnId="{5BAB40A1-4326-4822-A6C0-41B5C2FF2221}">
      <dgm:prSet/>
      <dgm:spPr/>
      <dgm:t>
        <a:bodyPr/>
        <a:lstStyle/>
        <a:p>
          <a:endParaRPr lang="ru-RU"/>
        </a:p>
      </dgm:t>
    </dgm:pt>
    <dgm:pt modelId="{44A115B1-7E92-4D36-82CD-D78B477DD944}">
      <dgm:prSet phldrT="[Текст]" custT="1"/>
      <dgm:spPr/>
      <dgm:t>
        <a:bodyPr/>
        <a:lstStyle/>
        <a:p>
          <a:r>
            <a:rPr lang="ru-RU" sz="2000" dirty="0" smtClean="0"/>
            <a:t>Информационное обеспечение</a:t>
          </a:r>
          <a:endParaRPr lang="ru-RU" sz="2000" dirty="0"/>
        </a:p>
      </dgm:t>
    </dgm:pt>
    <dgm:pt modelId="{FFCCD4BA-C931-4F01-9569-C24FFC0443FC}" type="parTrans" cxnId="{FB4BE385-CE16-4C5E-934B-8C97A0780FC0}">
      <dgm:prSet/>
      <dgm:spPr/>
      <dgm:t>
        <a:bodyPr/>
        <a:lstStyle/>
        <a:p>
          <a:endParaRPr lang="ru-RU"/>
        </a:p>
      </dgm:t>
    </dgm:pt>
    <dgm:pt modelId="{B3449E95-8B80-4D3B-88B1-7E8C8089BFE4}" type="sibTrans" cxnId="{FB4BE385-CE16-4C5E-934B-8C97A0780FC0}">
      <dgm:prSet/>
      <dgm:spPr/>
      <dgm:t>
        <a:bodyPr/>
        <a:lstStyle/>
        <a:p>
          <a:endParaRPr lang="ru-RU"/>
        </a:p>
      </dgm:t>
    </dgm:pt>
    <dgm:pt modelId="{FFDC4EE2-A19D-4573-894A-912F7F979952}">
      <dgm:prSet phldrT="[Текст]" custT="1"/>
      <dgm:spPr/>
      <dgm:t>
        <a:bodyPr/>
        <a:lstStyle/>
        <a:p>
          <a:r>
            <a:rPr lang="ru-RU" sz="2000" dirty="0" smtClean="0"/>
            <a:t>Потребитель</a:t>
          </a:r>
          <a:endParaRPr lang="ru-RU" sz="2000" dirty="0"/>
        </a:p>
      </dgm:t>
    </dgm:pt>
    <dgm:pt modelId="{051363D7-25C8-4599-9148-8DAF0CA87CE5}" type="parTrans" cxnId="{9CCC1154-8FC0-4838-AA08-4BAD5274BA55}">
      <dgm:prSet/>
      <dgm:spPr/>
      <dgm:t>
        <a:bodyPr/>
        <a:lstStyle/>
        <a:p>
          <a:endParaRPr lang="ru-RU"/>
        </a:p>
      </dgm:t>
    </dgm:pt>
    <dgm:pt modelId="{E76832B0-D844-4FA3-9465-74844B301A7F}" type="sibTrans" cxnId="{9CCC1154-8FC0-4838-AA08-4BAD5274BA55}">
      <dgm:prSet/>
      <dgm:spPr/>
      <dgm:t>
        <a:bodyPr/>
        <a:lstStyle/>
        <a:p>
          <a:endParaRPr lang="ru-RU"/>
        </a:p>
      </dgm:t>
    </dgm:pt>
    <dgm:pt modelId="{1F0E8ECC-1DD3-42F1-AF87-AA9B7B2C32E4}" type="pres">
      <dgm:prSet presAssocID="{6E4351CD-DDEE-4C94-BB34-847B0B8C60E7}" presName="linearFlow" presStyleCnt="0">
        <dgm:presLayoutVars>
          <dgm:resizeHandles val="exact"/>
        </dgm:presLayoutVars>
      </dgm:prSet>
      <dgm:spPr/>
    </dgm:pt>
    <dgm:pt modelId="{D8D8CB3C-ADA6-460A-9B0F-FBA7C668EE2E}" type="pres">
      <dgm:prSet presAssocID="{D8D83173-D390-4DCB-9C7A-4707ABE88E3E}" presName="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7814B84-C840-4CB8-B840-53E7A5F47A56}" type="pres">
      <dgm:prSet presAssocID="{4C68C74E-8D09-4EBF-B5C1-D6C4BA5076FA}" presName="sibTrans" presStyleLbl="sibTrans2D1" presStyleIdx="0" presStyleCnt="4"/>
      <dgm:spPr/>
      <dgm:t>
        <a:bodyPr/>
        <a:lstStyle/>
        <a:p>
          <a:endParaRPr lang="ru-RU"/>
        </a:p>
      </dgm:t>
    </dgm:pt>
    <dgm:pt modelId="{5FF483EC-41CB-43D7-BEA5-773F7A488FF3}" type="pres">
      <dgm:prSet presAssocID="{4C68C74E-8D09-4EBF-B5C1-D6C4BA5076FA}" presName="connectorText" presStyleLbl="sibTrans2D1" presStyleIdx="0" presStyleCnt="4"/>
      <dgm:spPr/>
      <dgm:t>
        <a:bodyPr/>
        <a:lstStyle/>
        <a:p>
          <a:endParaRPr lang="ru-RU"/>
        </a:p>
      </dgm:t>
    </dgm:pt>
    <dgm:pt modelId="{4368DC4C-2B20-405B-B020-FD8CE3BADAE5}" type="pres">
      <dgm:prSet presAssocID="{DB9E0135-4CA6-438F-9689-A532D6BC4F03}" presName="node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CB60C0B9-D263-4AE2-957D-39BD98BBDE75}" type="pres">
      <dgm:prSet presAssocID="{A332F93A-F5F1-4CE8-A9D6-AF4377FFD1C4}" presName="sibTrans" presStyleLbl="sibTrans2D1" presStyleIdx="1" presStyleCnt="4"/>
      <dgm:spPr/>
      <dgm:t>
        <a:bodyPr/>
        <a:lstStyle/>
        <a:p>
          <a:endParaRPr lang="ru-RU"/>
        </a:p>
      </dgm:t>
    </dgm:pt>
    <dgm:pt modelId="{05A6DDF8-2555-4B34-8235-18E03D303814}" type="pres">
      <dgm:prSet presAssocID="{A332F93A-F5F1-4CE8-A9D6-AF4377FFD1C4}" presName="connectorText" presStyleLbl="sibTrans2D1" presStyleIdx="1" presStyleCnt="4"/>
      <dgm:spPr/>
      <dgm:t>
        <a:bodyPr/>
        <a:lstStyle/>
        <a:p>
          <a:endParaRPr lang="ru-RU"/>
        </a:p>
      </dgm:t>
    </dgm:pt>
    <dgm:pt modelId="{D70F2819-3677-4A0F-83DA-A4C2BAF9B175}" type="pres">
      <dgm:prSet presAssocID="{2E143423-D846-4FC3-B092-A5E5A8AD58D8}" presName="node" presStyleLbl="node1" presStyleIdx="2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7994AA3-1769-489F-80D9-DFD47A786B8B}" type="pres">
      <dgm:prSet presAssocID="{EA213773-A95A-468A-B388-2C764C76314E}" presName="sibTrans" presStyleLbl="sibTrans2D1" presStyleIdx="2" presStyleCnt="4"/>
      <dgm:spPr/>
      <dgm:t>
        <a:bodyPr/>
        <a:lstStyle/>
        <a:p>
          <a:endParaRPr lang="ru-RU"/>
        </a:p>
      </dgm:t>
    </dgm:pt>
    <dgm:pt modelId="{05F33685-B05A-491F-BD1D-4505CFD8BD5E}" type="pres">
      <dgm:prSet presAssocID="{EA213773-A95A-468A-B388-2C764C76314E}" presName="connectorText" presStyleLbl="sibTrans2D1" presStyleIdx="2" presStyleCnt="4"/>
      <dgm:spPr/>
      <dgm:t>
        <a:bodyPr/>
        <a:lstStyle/>
        <a:p>
          <a:endParaRPr lang="ru-RU"/>
        </a:p>
      </dgm:t>
    </dgm:pt>
    <dgm:pt modelId="{4C5365E0-9431-4A5A-AF12-AF1C1ADC926F}" type="pres">
      <dgm:prSet presAssocID="{44A115B1-7E92-4D36-82CD-D78B477DD944}" presName="node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70D027E-0031-46C3-815D-2D7282544530}" type="pres">
      <dgm:prSet presAssocID="{B3449E95-8B80-4D3B-88B1-7E8C8089BFE4}" presName="sibTrans" presStyleLbl="sibTrans2D1" presStyleIdx="3" presStyleCnt="4"/>
      <dgm:spPr/>
      <dgm:t>
        <a:bodyPr/>
        <a:lstStyle/>
        <a:p>
          <a:endParaRPr lang="ru-RU"/>
        </a:p>
      </dgm:t>
    </dgm:pt>
    <dgm:pt modelId="{450A17E4-98BC-4FE5-A57B-EFE300CEDD60}" type="pres">
      <dgm:prSet presAssocID="{B3449E95-8B80-4D3B-88B1-7E8C8089BFE4}" presName="connectorText" presStyleLbl="sibTrans2D1" presStyleIdx="3" presStyleCnt="4"/>
      <dgm:spPr/>
      <dgm:t>
        <a:bodyPr/>
        <a:lstStyle/>
        <a:p>
          <a:endParaRPr lang="ru-RU"/>
        </a:p>
      </dgm:t>
    </dgm:pt>
    <dgm:pt modelId="{E2A8A1ED-0DF9-44D3-81C0-D751A923E2ED}" type="pres">
      <dgm:prSet presAssocID="{FFDC4EE2-A19D-4573-894A-912F7F979952}" presName="node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8AD06C16-61A2-4091-92A8-F2CA8E3AE613}" type="presOf" srcId="{6E4351CD-DDEE-4C94-BB34-847B0B8C60E7}" destId="{1F0E8ECC-1DD3-42F1-AF87-AA9B7B2C32E4}" srcOrd="0" destOrd="0" presId="urn:microsoft.com/office/officeart/2005/8/layout/process2"/>
    <dgm:cxn modelId="{5BAB40A1-4326-4822-A6C0-41B5C2FF2221}" srcId="{6E4351CD-DDEE-4C94-BB34-847B0B8C60E7}" destId="{2E143423-D846-4FC3-B092-A5E5A8AD58D8}" srcOrd="2" destOrd="0" parTransId="{05759D80-FE95-428F-B4F6-B527AC806F6D}" sibTransId="{EA213773-A95A-468A-B388-2C764C76314E}"/>
    <dgm:cxn modelId="{9B1FBE1E-1BA7-42BC-8603-C81FE78E65B6}" type="presOf" srcId="{44A115B1-7E92-4D36-82CD-D78B477DD944}" destId="{4C5365E0-9431-4A5A-AF12-AF1C1ADC926F}" srcOrd="0" destOrd="0" presId="urn:microsoft.com/office/officeart/2005/8/layout/process2"/>
    <dgm:cxn modelId="{494EE28A-14E3-49F3-94BC-AA711284A705}" type="presOf" srcId="{DB9E0135-4CA6-438F-9689-A532D6BC4F03}" destId="{4368DC4C-2B20-405B-B020-FD8CE3BADAE5}" srcOrd="0" destOrd="0" presId="urn:microsoft.com/office/officeart/2005/8/layout/process2"/>
    <dgm:cxn modelId="{D68626BD-549D-4A6F-8CAA-56D448F78403}" type="presOf" srcId="{4C68C74E-8D09-4EBF-B5C1-D6C4BA5076FA}" destId="{5FF483EC-41CB-43D7-BEA5-773F7A488FF3}" srcOrd="1" destOrd="0" presId="urn:microsoft.com/office/officeart/2005/8/layout/process2"/>
    <dgm:cxn modelId="{709C586F-57B8-4F72-BE8E-08A91EF6AE8B}" srcId="{6E4351CD-DDEE-4C94-BB34-847B0B8C60E7}" destId="{DB9E0135-4CA6-438F-9689-A532D6BC4F03}" srcOrd="1" destOrd="0" parTransId="{9132188F-F245-4CA6-BC8A-B1620824BFA5}" sibTransId="{A332F93A-F5F1-4CE8-A9D6-AF4377FFD1C4}"/>
    <dgm:cxn modelId="{48CA92A3-EF0C-4E77-B308-9A2750B5C449}" type="presOf" srcId="{B3449E95-8B80-4D3B-88B1-7E8C8089BFE4}" destId="{E70D027E-0031-46C3-815D-2D7282544530}" srcOrd="0" destOrd="0" presId="urn:microsoft.com/office/officeart/2005/8/layout/process2"/>
    <dgm:cxn modelId="{5AABA2C0-BE8E-49F7-93EF-DA63ADAE63CF}" type="presOf" srcId="{4C68C74E-8D09-4EBF-B5C1-D6C4BA5076FA}" destId="{B7814B84-C840-4CB8-B840-53E7A5F47A56}" srcOrd="0" destOrd="0" presId="urn:microsoft.com/office/officeart/2005/8/layout/process2"/>
    <dgm:cxn modelId="{6598B7E8-8AA3-45E2-B090-06D84CCEAC42}" type="presOf" srcId="{A332F93A-F5F1-4CE8-A9D6-AF4377FFD1C4}" destId="{05A6DDF8-2555-4B34-8235-18E03D303814}" srcOrd="1" destOrd="0" presId="urn:microsoft.com/office/officeart/2005/8/layout/process2"/>
    <dgm:cxn modelId="{12307573-380A-4508-A528-48C14F4AEB43}" type="presOf" srcId="{EA213773-A95A-468A-B388-2C764C76314E}" destId="{B7994AA3-1769-489F-80D9-DFD47A786B8B}" srcOrd="0" destOrd="0" presId="urn:microsoft.com/office/officeart/2005/8/layout/process2"/>
    <dgm:cxn modelId="{FB4BE385-CE16-4C5E-934B-8C97A0780FC0}" srcId="{6E4351CD-DDEE-4C94-BB34-847B0B8C60E7}" destId="{44A115B1-7E92-4D36-82CD-D78B477DD944}" srcOrd="3" destOrd="0" parTransId="{FFCCD4BA-C931-4F01-9569-C24FFC0443FC}" sibTransId="{B3449E95-8B80-4D3B-88B1-7E8C8089BFE4}"/>
    <dgm:cxn modelId="{94F10C03-2BAD-475F-9D8C-AD2CE1744DED}" type="presOf" srcId="{D8D83173-D390-4DCB-9C7A-4707ABE88E3E}" destId="{D8D8CB3C-ADA6-460A-9B0F-FBA7C668EE2E}" srcOrd="0" destOrd="0" presId="urn:microsoft.com/office/officeart/2005/8/layout/process2"/>
    <dgm:cxn modelId="{E191EB22-6702-42A0-97DA-3967F4484EE2}" type="presOf" srcId="{B3449E95-8B80-4D3B-88B1-7E8C8089BFE4}" destId="{450A17E4-98BC-4FE5-A57B-EFE300CEDD60}" srcOrd="1" destOrd="0" presId="urn:microsoft.com/office/officeart/2005/8/layout/process2"/>
    <dgm:cxn modelId="{9CCC1154-8FC0-4838-AA08-4BAD5274BA55}" srcId="{6E4351CD-DDEE-4C94-BB34-847B0B8C60E7}" destId="{FFDC4EE2-A19D-4573-894A-912F7F979952}" srcOrd="4" destOrd="0" parTransId="{051363D7-25C8-4599-9148-8DAF0CA87CE5}" sibTransId="{E76832B0-D844-4FA3-9465-74844B301A7F}"/>
    <dgm:cxn modelId="{D463D5BB-1422-4FB1-A459-C047D6CA4054}" srcId="{6E4351CD-DDEE-4C94-BB34-847B0B8C60E7}" destId="{D8D83173-D390-4DCB-9C7A-4707ABE88E3E}" srcOrd="0" destOrd="0" parTransId="{1CE6144B-2EEE-46B7-80EB-12DFF5CDB262}" sibTransId="{4C68C74E-8D09-4EBF-B5C1-D6C4BA5076FA}"/>
    <dgm:cxn modelId="{DD471AFC-0EBA-41E8-A0D6-C11DBC6F8FFD}" type="presOf" srcId="{EA213773-A95A-468A-B388-2C764C76314E}" destId="{05F33685-B05A-491F-BD1D-4505CFD8BD5E}" srcOrd="1" destOrd="0" presId="urn:microsoft.com/office/officeart/2005/8/layout/process2"/>
    <dgm:cxn modelId="{1FCCEDB9-5C31-4C59-B9F8-5B9736109E17}" type="presOf" srcId="{2E143423-D846-4FC3-B092-A5E5A8AD58D8}" destId="{D70F2819-3677-4A0F-83DA-A4C2BAF9B175}" srcOrd="0" destOrd="0" presId="urn:microsoft.com/office/officeart/2005/8/layout/process2"/>
    <dgm:cxn modelId="{4D8BA143-8C14-4B88-A2F0-C51782734A2F}" type="presOf" srcId="{A332F93A-F5F1-4CE8-A9D6-AF4377FFD1C4}" destId="{CB60C0B9-D263-4AE2-957D-39BD98BBDE75}" srcOrd="0" destOrd="0" presId="urn:microsoft.com/office/officeart/2005/8/layout/process2"/>
    <dgm:cxn modelId="{963F49A3-6EBA-415A-85A4-49134F743FFB}" type="presOf" srcId="{FFDC4EE2-A19D-4573-894A-912F7F979952}" destId="{E2A8A1ED-0DF9-44D3-81C0-D751A923E2ED}" srcOrd="0" destOrd="0" presId="urn:microsoft.com/office/officeart/2005/8/layout/process2"/>
    <dgm:cxn modelId="{B1E71E58-2D35-4A74-9968-25F53376E841}" type="presParOf" srcId="{1F0E8ECC-1DD3-42F1-AF87-AA9B7B2C32E4}" destId="{D8D8CB3C-ADA6-460A-9B0F-FBA7C668EE2E}" srcOrd="0" destOrd="0" presId="urn:microsoft.com/office/officeart/2005/8/layout/process2"/>
    <dgm:cxn modelId="{1252137C-9564-4D66-ADE8-0AEC74F7DA35}" type="presParOf" srcId="{1F0E8ECC-1DD3-42F1-AF87-AA9B7B2C32E4}" destId="{B7814B84-C840-4CB8-B840-53E7A5F47A56}" srcOrd="1" destOrd="0" presId="urn:microsoft.com/office/officeart/2005/8/layout/process2"/>
    <dgm:cxn modelId="{F376AED7-988A-494C-BCB4-3EABFF8A5DCD}" type="presParOf" srcId="{B7814B84-C840-4CB8-B840-53E7A5F47A56}" destId="{5FF483EC-41CB-43D7-BEA5-773F7A488FF3}" srcOrd="0" destOrd="0" presId="urn:microsoft.com/office/officeart/2005/8/layout/process2"/>
    <dgm:cxn modelId="{44540A91-3543-4FE0-A1B9-5053DF00ED5A}" type="presParOf" srcId="{1F0E8ECC-1DD3-42F1-AF87-AA9B7B2C32E4}" destId="{4368DC4C-2B20-405B-B020-FD8CE3BADAE5}" srcOrd="2" destOrd="0" presId="urn:microsoft.com/office/officeart/2005/8/layout/process2"/>
    <dgm:cxn modelId="{2E4F0DE4-8861-42D9-898E-0C0565CA484B}" type="presParOf" srcId="{1F0E8ECC-1DD3-42F1-AF87-AA9B7B2C32E4}" destId="{CB60C0B9-D263-4AE2-957D-39BD98BBDE75}" srcOrd="3" destOrd="0" presId="urn:microsoft.com/office/officeart/2005/8/layout/process2"/>
    <dgm:cxn modelId="{8044EDC0-3C56-4ECF-A2B3-CE3F1302FE99}" type="presParOf" srcId="{CB60C0B9-D263-4AE2-957D-39BD98BBDE75}" destId="{05A6DDF8-2555-4B34-8235-18E03D303814}" srcOrd="0" destOrd="0" presId="urn:microsoft.com/office/officeart/2005/8/layout/process2"/>
    <dgm:cxn modelId="{B53840B7-40B2-4960-85CA-F5420B8EDA9F}" type="presParOf" srcId="{1F0E8ECC-1DD3-42F1-AF87-AA9B7B2C32E4}" destId="{D70F2819-3677-4A0F-83DA-A4C2BAF9B175}" srcOrd="4" destOrd="0" presId="urn:microsoft.com/office/officeart/2005/8/layout/process2"/>
    <dgm:cxn modelId="{5D0A9F77-08C7-4466-BE71-EC0D0CD48EDB}" type="presParOf" srcId="{1F0E8ECC-1DD3-42F1-AF87-AA9B7B2C32E4}" destId="{B7994AA3-1769-489F-80D9-DFD47A786B8B}" srcOrd="5" destOrd="0" presId="urn:microsoft.com/office/officeart/2005/8/layout/process2"/>
    <dgm:cxn modelId="{CC281DFA-D9C8-43A4-8F7F-7F12498EC989}" type="presParOf" srcId="{B7994AA3-1769-489F-80D9-DFD47A786B8B}" destId="{05F33685-B05A-491F-BD1D-4505CFD8BD5E}" srcOrd="0" destOrd="0" presId="urn:microsoft.com/office/officeart/2005/8/layout/process2"/>
    <dgm:cxn modelId="{AA1F483A-D5E8-4F85-AD70-750C345853F7}" type="presParOf" srcId="{1F0E8ECC-1DD3-42F1-AF87-AA9B7B2C32E4}" destId="{4C5365E0-9431-4A5A-AF12-AF1C1ADC926F}" srcOrd="6" destOrd="0" presId="urn:microsoft.com/office/officeart/2005/8/layout/process2"/>
    <dgm:cxn modelId="{A91A405C-3CD7-4CAE-A106-EA9DF7B10624}" type="presParOf" srcId="{1F0E8ECC-1DD3-42F1-AF87-AA9B7B2C32E4}" destId="{E70D027E-0031-46C3-815D-2D7282544530}" srcOrd="7" destOrd="0" presId="urn:microsoft.com/office/officeart/2005/8/layout/process2"/>
    <dgm:cxn modelId="{B585B95F-961A-4EF6-91A9-5D056727BD81}" type="presParOf" srcId="{E70D027E-0031-46C3-815D-2D7282544530}" destId="{450A17E4-98BC-4FE5-A57B-EFE300CEDD60}" srcOrd="0" destOrd="0" presId="urn:microsoft.com/office/officeart/2005/8/layout/process2"/>
    <dgm:cxn modelId="{1C52D1F3-6433-4FB6-AC3B-D3D63F5B4079}" type="presParOf" srcId="{1F0E8ECC-1DD3-42F1-AF87-AA9B7B2C32E4}" destId="{E2A8A1ED-0DF9-44D3-81C0-D751A923E2ED}" srcOrd="8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xmlns="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a="http://schemas.openxmlformats.org/drawingml/2006/main" xmlns:dsp="http://schemas.microsoft.com/office/drawing/2008/diagram">
  <dsp:spTree>
    <dsp:nvGrpSpPr>
      <dsp:cNvPr id="0" name=""/>
      <dsp:cNvGrpSpPr/>
    </dsp:nvGrpSpPr>
    <dsp:grpSpPr/>
    <dsp:sp modelId="{D8D8CB3C-ADA6-460A-9B0F-FBA7C668EE2E}">
      <dsp:nvSpPr>
        <dsp:cNvPr id="0" name=""/>
        <dsp:cNvSpPr/>
      </dsp:nvSpPr>
      <dsp:spPr>
        <a:xfrm>
          <a:off x="1800642" y="3012"/>
          <a:ext cx="2817771" cy="70444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000" kern="1200" dirty="0" smtClean="0"/>
            <a:t>Источник данных</a:t>
          </a:r>
          <a:endParaRPr lang="ru-RU" sz="2000" kern="1200" dirty="0"/>
        </a:p>
      </dsp:txBody>
      <dsp:txXfrm>
        <a:off x="1800642" y="3012"/>
        <a:ext cx="2817771" cy="704442"/>
      </dsp:txXfrm>
    </dsp:sp>
    <dsp:sp modelId="{B7814B84-C840-4CB8-B840-53E7A5F47A56}">
      <dsp:nvSpPr>
        <dsp:cNvPr id="0" name=""/>
        <dsp:cNvSpPr/>
      </dsp:nvSpPr>
      <dsp:spPr>
        <a:xfrm rot="5400000">
          <a:off x="3077444" y="725066"/>
          <a:ext cx="264166" cy="31699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ru-RU" sz="1300" kern="1200"/>
        </a:p>
      </dsp:txBody>
      <dsp:txXfrm rot="5400000">
        <a:off x="3077444" y="725066"/>
        <a:ext cx="264166" cy="316999"/>
      </dsp:txXfrm>
    </dsp:sp>
    <dsp:sp modelId="{4368DC4C-2B20-405B-B020-FD8CE3BADAE5}">
      <dsp:nvSpPr>
        <dsp:cNvPr id="0" name=""/>
        <dsp:cNvSpPr/>
      </dsp:nvSpPr>
      <dsp:spPr>
        <a:xfrm>
          <a:off x="1800642" y="1059676"/>
          <a:ext cx="2817771" cy="70444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000" kern="1200" dirty="0" smtClean="0"/>
            <a:t>Информационное обеспечение</a:t>
          </a:r>
          <a:endParaRPr lang="ru-RU" sz="2000" kern="1200" dirty="0"/>
        </a:p>
      </dsp:txBody>
      <dsp:txXfrm>
        <a:off x="1800642" y="1059676"/>
        <a:ext cx="2817771" cy="704442"/>
      </dsp:txXfrm>
    </dsp:sp>
    <dsp:sp modelId="{CB60C0B9-D263-4AE2-957D-39BD98BBDE75}">
      <dsp:nvSpPr>
        <dsp:cNvPr id="0" name=""/>
        <dsp:cNvSpPr/>
      </dsp:nvSpPr>
      <dsp:spPr>
        <a:xfrm rot="5400000">
          <a:off x="3077444" y="1781730"/>
          <a:ext cx="264166" cy="31699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ru-RU" sz="1300" kern="1200"/>
        </a:p>
      </dsp:txBody>
      <dsp:txXfrm rot="5400000">
        <a:off x="3077444" y="1781730"/>
        <a:ext cx="264166" cy="316999"/>
      </dsp:txXfrm>
    </dsp:sp>
    <dsp:sp modelId="{D70F2819-3677-4A0F-83DA-A4C2BAF9B175}">
      <dsp:nvSpPr>
        <dsp:cNvPr id="0" name=""/>
        <dsp:cNvSpPr/>
      </dsp:nvSpPr>
      <dsp:spPr>
        <a:xfrm>
          <a:off x="1800642" y="2116341"/>
          <a:ext cx="2817771" cy="70444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000" kern="1200" dirty="0" smtClean="0"/>
            <a:t>Информационная система</a:t>
          </a:r>
          <a:endParaRPr lang="ru-RU" sz="2000" kern="1200" dirty="0"/>
        </a:p>
      </dsp:txBody>
      <dsp:txXfrm>
        <a:off x="1800642" y="2116341"/>
        <a:ext cx="2817771" cy="704442"/>
      </dsp:txXfrm>
    </dsp:sp>
    <dsp:sp modelId="{B7994AA3-1769-489F-80D9-DFD47A786B8B}">
      <dsp:nvSpPr>
        <dsp:cNvPr id="0" name=""/>
        <dsp:cNvSpPr/>
      </dsp:nvSpPr>
      <dsp:spPr>
        <a:xfrm rot="5400000">
          <a:off x="3077444" y="2838394"/>
          <a:ext cx="264166" cy="31699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ru-RU" sz="1300" kern="1200"/>
        </a:p>
      </dsp:txBody>
      <dsp:txXfrm rot="5400000">
        <a:off x="3077444" y="2838394"/>
        <a:ext cx="264166" cy="316999"/>
      </dsp:txXfrm>
    </dsp:sp>
    <dsp:sp modelId="{4C5365E0-9431-4A5A-AF12-AF1C1ADC926F}">
      <dsp:nvSpPr>
        <dsp:cNvPr id="0" name=""/>
        <dsp:cNvSpPr/>
      </dsp:nvSpPr>
      <dsp:spPr>
        <a:xfrm>
          <a:off x="1800642" y="3173005"/>
          <a:ext cx="2817771" cy="70444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000" kern="1200" dirty="0" smtClean="0"/>
            <a:t>Информационное обеспечение</a:t>
          </a:r>
          <a:endParaRPr lang="ru-RU" sz="2000" kern="1200" dirty="0"/>
        </a:p>
      </dsp:txBody>
      <dsp:txXfrm>
        <a:off x="1800642" y="3173005"/>
        <a:ext cx="2817771" cy="704442"/>
      </dsp:txXfrm>
    </dsp:sp>
    <dsp:sp modelId="{E70D027E-0031-46C3-815D-2D7282544530}">
      <dsp:nvSpPr>
        <dsp:cNvPr id="0" name=""/>
        <dsp:cNvSpPr/>
      </dsp:nvSpPr>
      <dsp:spPr>
        <a:xfrm rot="5400000">
          <a:off x="3077444" y="3895059"/>
          <a:ext cx="264166" cy="31699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ru-RU" sz="1300" kern="1200"/>
        </a:p>
      </dsp:txBody>
      <dsp:txXfrm rot="5400000">
        <a:off x="3077444" y="3895059"/>
        <a:ext cx="264166" cy="316999"/>
      </dsp:txXfrm>
    </dsp:sp>
    <dsp:sp modelId="{E2A8A1ED-0DF9-44D3-81C0-D751A923E2ED}">
      <dsp:nvSpPr>
        <dsp:cNvPr id="0" name=""/>
        <dsp:cNvSpPr/>
      </dsp:nvSpPr>
      <dsp:spPr>
        <a:xfrm>
          <a:off x="1800642" y="4229669"/>
          <a:ext cx="2817771" cy="70444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000" kern="1200" dirty="0" smtClean="0"/>
            <a:t>Потребитель</a:t>
          </a:r>
          <a:endParaRPr lang="ru-RU" sz="2000" kern="1200" dirty="0"/>
        </a:p>
      </dsp:txBody>
      <dsp:txXfrm>
        <a:off x="1800642" y="4229669"/>
        <a:ext cx="2817771" cy="70444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0F778D-310F-475E-9065-D555319E7AF3}" type="datetimeFigureOut">
              <a:rPr lang="ru-RU" smtClean="0"/>
              <a:pPr/>
              <a:t>10.06.2016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8C1BC2-EF03-4DB1-9C78-43FA9764743C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8C1BC2-EF03-4DB1-9C78-43FA9764743C}" type="slidenum">
              <a:rPr lang="ru-RU" smtClean="0"/>
              <a:pPr/>
              <a:t>12</a:t>
            </a:fld>
            <a:endParaRPr lang="ru-RU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8C1BC2-EF03-4DB1-9C78-43FA9764743C}" type="slidenum">
              <a:rPr lang="ru-RU" smtClean="0"/>
              <a:pPr/>
              <a:t>15</a:t>
            </a:fld>
            <a:endParaRPr lang="ru-RU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13"/>
          <p:cNvSpPr>
            <a:spLocks noGrp="1"/>
          </p:cNvSpPr>
          <p:nvPr>
            <p:ph type="ctrTitle"/>
          </p:nvPr>
        </p:nvSpPr>
        <p:spPr>
          <a:xfrm>
            <a:off x="1432560" y="359898"/>
            <a:ext cx="7406640" cy="1472184"/>
          </a:xfrm>
        </p:spPr>
        <p:txBody>
          <a:bodyPr anchor="b"/>
          <a:lstStyle>
            <a:lvl1pPr algn="l">
              <a:defRPr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22" name="Подзаголовок 21"/>
          <p:cNvSpPr>
            <a:spLocks noGrp="1"/>
          </p:cNvSpPr>
          <p:nvPr>
            <p:ph type="subTitle" idx="1"/>
          </p:nvPr>
        </p:nvSpPr>
        <p:spPr>
          <a:xfrm>
            <a:off x="1432560" y="1850064"/>
            <a:ext cx="7406640" cy="1752600"/>
          </a:xfrm>
        </p:spPr>
        <p:txBody>
          <a:bodyPr tIns="0"/>
          <a:lstStyle>
            <a:lvl1pPr marL="27432" indent="0" algn="l">
              <a:buNone/>
              <a:defRPr sz="2600">
                <a:solidFill>
                  <a:schemeClr val="tx2">
                    <a:shade val="30000"/>
                    <a:satMod val="150000"/>
                  </a:schemeClr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ru-RU" smtClean="0"/>
              <a:t>Образец подзаголовка</a:t>
            </a:r>
            <a:endParaRPr kumimoji="0" lang="en-US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E88564FB-3C06-4767-A4C9-25F0048A8F50}" type="datetime1">
              <a:rPr lang="ru-RU" smtClean="0"/>
              <a:pPr/>
              <a:t>10.06.2016</a:t>
            </a:fld>
            <a:endParaRPr lang="ru-RU"/>
          </a:p>
        </p:txBody>
      </p:sp>
      <p:sp>
        <p:nvSpPr>
          <p:cNvPr id="20" name="Нижний колонтитул 19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10" name="Номер слайда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921433" y="1413802"/>
            <a:ext cx="210312" cy="210312"/>
          </a:xfrm>
          <a:prstGeom prst="ellipse">
            <a:avLst/>
          </a:prstGeom>
          <a:gradFill rotWithShape="1">
            <a:gsLst>
              <a:gs pos="0">
                <a:schemeClr val="accent1">
                  <a:tint val="20000"/>
                  <a:satMod val="450000"/>
                  <a:alpha val="95000"/>
                </a:schemeClr>
              </a:gs>
              <a:gs pos="50000">
                <a:schemeClr val="accent1">
                  <a:tint val="38000"/>
                  <a:satMod val="250000"/>
                  <a:alpha val="90000"/>
                </a:schemeClr>
              </a:gs>
              <a:gs pos="95000">
                <a:schemeClr val="accent1">
                  <a:tint val="75000"/>
                  <a:satMod val="255000"/>
                  <a:alpha val="88000"/>
                </a:schemeClr>
              </a:gs>
              <a:gs pos="100000">
                <a:schemeClr val="accent1">
                  <a:tint val="100000"/>
                  <a:shade val="90000"/>
                  <a:satMod val="255000"/>
                  <a:alpha val="85000"/>
                </a:schemeClr>
              </a:gs>
            </a:gsLst>
            <a:path path="circle">
              <a:fillToRect l="25000" t="12500" r="75000" b="87500"/>
            </a:path>
          </a:gradFill>
          <a:ln w="2000" cap="rnd" cmpd="sng" algn="ctr">
            <a:solidFill>
              <a:schemeClr val="accent1">
                <a:shade val="90000"/>
                <a:satMod val="110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Овал 8"/>
          <p:cNvSpPr/>
          <p:nvPr/>
        </p:nvSpPr>
        <p:spPr>
          <a:xfrm>
            <a:off x="1157176" y="1345016"/>
            <a:ext cx="64008" cy="64008"/>
          </a:xfrm>
          <a:prstGeom prst="ellipse">
            <a:avLst/>
          </a:prstGeom>
          <a:noFill/>
          <a:ln w="12700" cap="rnd" cmpd="sng" algn="ctr">
            <a:solidFill>
              <a:schemeClr val="accent1">
                <a:shade val="75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B5B3BCC0-81F8-4BFB-A7CF-64058E23A4AC}" type="datetime1">
              <a:rPr lang="ru-RU" smtClean="0"/>
              <a:pPr/>
              <a:t>10.06.2016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2282890" y="-54"/>
            <a:ext cx="6858000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78392" y="2600325"/>
            <a:ext cx="6400800" cy="2286000"/>
          </a:xfrm>
        </p:spPr>
        <p:txBody>
          <a:bodyPr anchor="t"/>
          <a:lstStyle>
            <a:lvl1pPr algn="l">
              <a:lnSpc>
                <a:spcPts val="4500"/>
              </a:lnSpc>
              <a:buNone/>
              <a:defRPr sz="4000" b="1" cap="all"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2578392" y="1066800"/>
            <a:ext cx="6400800" cy="1509712"/>
          </a:xfrm>
        </p:spPr>
        <p:txBody>
          <a:bodyPr anchor="b"/>
          <a:lstStyle>
            <a:lvl1pPr marL="18288" indent="0">
              <a:lnSpc>
                <a:spcPts val="2300"/>
              </a:lnSpc>
              <a:spcBef>
                <a:spcPts val="0"/>
              </a:spcBef>
              <a:buNone/>
              <a:defRPr sz="2000">
                <a:solidFill>
                  <a:schemeClr val="tx2">
                    <a:shade val="30000"/>
                    <a:satMod val="150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123A61D-A991-4EBD-9BC2-62963864A1E1}" type="datetime1">
              <a:rPr lang="ru-RU" smtClean="0"/>
              <a:pPr/>
              <a:t>10.06.2016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0" name="Прямоугольник 9"/>
          <p:cNvSpPr/>
          <p:nvPr/>
        </p:nvSpPr>
        <p:spPr bwMode="invGray">
          <a:xfrm>
            <a:off x="2286000" y="0"/>
            <a:ext cx="76200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8" name="Овал 7"/>
          <p:cNvSpPr/>
          <p:nvPr/>
        </p:nvSpPr>
        <p:spPr>
          <a:xfrm>
            <a:off x="2172321" y="2814656"/>
            <a:ext cx="210312" cy="210312"/>
          </a:xfrm>
          <a:prstGeom prst="ellipse">
            <a:avLst/>
          </a:prstGeom>
          <a:gradFill rotWithShape="1">
            <a:gsLst>
              <a:gs pos="0">
                <a:schemeClr val="accent1">
                  <a:tint val="20000"/>
                  <a:satMod val="450000"/>
                  <a:alpha val="95000"/>
                </a:schemeClr>
              </a:gs>
              <a:gs pos="50000">
                <a:schemeClr val="accent1">
                  <a:tint val="38000"/>
                  <a:satMod val="250000"/>
                  <a:alpha val="90000"/>
                </a:schemeClr>
              </a:gs>
              <a:gs pos="95000">
                <a:schemeClr val="accent1">
                  <a:tint val="75000"/>
                  <a:satMod val="255000"/>
                  <a:alpha val="88000"/>
                </a:schemeClr>
              </a:gs>
              <a:gs pos="100000">
                <a:schemeClr val="accent1">
                  <a:tint val="100000"/>
                  <a:shade val="90000"/>
                  <a:satMod val="255000"/>
                  <a:alpha val="85000"/>
                </a:schemeClr>
              </a:gs>
            </a:gsLst>
            <a:path path="circle">
              <a:fillToRect l="25000" t="12500" r="75000" b="87500"/>
            </a:path>
          </a:gradFill>
          <a:ln w="2000" cap="rnd" cmpd="sng" algn="ctr">
            <a:solidFill>
              <a:schemeClr val="accent1">
                <a:shade val="90000"/>
                <a:satMod val="110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Овал 8"/>
          <p:cNvSpPr/>
          <p:nvPr/>
        </p:nvSpPr>
        <p:spPr>
          <a:xfrm>
            <a:off x="2408064" y="2745870"/>
            <a:ext cx="64008" cy="64008"/>
          </a:xfrm>
          <a:prstGeom prst="ellipse">
            <a:avLst/>
          </a:prstGeom>
          <a:noFill/>
          <a:ln w="12700" cap="rnd" cmpd="sng" algn="ctr">
            <a:solidFill>
              <a:schemeClr val="accent1">
                <a:shade val="75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435608" y="274320"/>
            <a:ext cx="7498080" cy="1143000"/>
          </a:xfrm>
        </p:spPr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1435608" y="1524000"/>
            <a:ext cx="3657600" cy="466344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5276088" y="1524000"/>
            <a:ext cx="3657600" cy="466344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EBC28292-EEC6-48B6-8531-A930B1FBF08E}" type="datetime1">
              <a:rPr lang="ru-RU" smtClean="0"/>
              <a:pPr/>
              <a:t>10.06.2016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5160336"/>
            <a:ext cx="8229600" cy="1143000"/>
          </a:xfrm>
        </p:spPr>
        <p:txBody>
          <a:bodyPr anchor="ctr"/>
          <a:lstStyle>
            <a:lvl1pPr algn="ctr">
              <a:defRPr sz="4500" b="1" cap="none" baseline="0"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328278"/>
            <a:ext cx="4023360" cy="640080"/>
          </a:xfrm>
          <a:solidFill>
            <a:schemeClr val="bg1"/>
          </a:solidFill>
          <a:ln w="10795">
            <a:solidFill>
              <a:schemeClr val="bg1"/>
            </a:solidFill>
            <a:miter lim="800000"/>
          </a:ln>
        </p:spPr>
        <p:txBody>
          <a:bodyPr anchor="ctr"/>
          <a:lstStyle>
            <a:lvl1pPr marL="64008" indent="0" algn="l">
              <a:lnSpc>
                <a:spcPct val="100000"/>
              </a:lnSpc>
              <a:spcBef>
                <a:spcPts val="100"/>
              </a:spcBef>
              <a:buNone/>
              <a:defRPr sz="1900" b="0">
                <a:solidFill>
                  <a:schemeClr val="tx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3"/>
          </p:nvPr>
        </p:nvSpPr>
        <p:spPr>
          <a:xfrm>
            <a:off x="4663440" y="328278"/>
            <a:ext cx="4023360" cy="640080"/>
          </a:xfrm>
          <a:solidFill>
            <a:schemeClr val="bg1"/>
          </a:solidFill>
          <a:ln w="10795">
            <a:solidFill>
              <a:schemeClr val="bg1"/>
            </a:solidFill>
            <a:miter lim="800000"/>
          </a:ln>
        </p:spPr>
        <p:txBody>
          <a:bodyPr anchor="ctr"/>
          <a:lstStyle>
            <a:lvl1pPr marL="64008" indent="0" algn="l">
              <a:lnSpc>
                <a:spcPct val="100000"/>
              </a:lnSpc>
              <a:spcBef>
                <a:spcPts val="100"/>
              </a:spcBef>
              <a:buNone/>
              <a:defRPr sz="1900" b="0">
                <a:solidFill>
                  <a:schemeClr val="tx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5" name="Содержимое 4"/>
          <p:cNvSpPr>
            <a:spLocks noGrp="1"/>
          </p:cNvSpPr>
          <p:nvPr>
            <p:ph sz="quarter" idx="2"/>
          </p:nvPr>
        </p:nvSpPr>
        <p:spPr>
          <a:xfrm>
            <a:off x="457200" y="969336"/>
            <a:ext cx="4023360" cy="4114800"/>
          </a:xfrm>
          <a:ln w="10795">
            <a:solidFill>
              <a:schemeClr val="bg1"/>
            </a:solidFill>
            <a:prstDash val="dash"/>
            <a:miter lim="800000"/>
          </a:ln>
        </p:spPr>
        <p:txBody>
          <a:bodyPr/>
          <a:lstStyle>
            <a:lvl1pPr marL="393192" indent="-274320">
              <a:lnSpc>
                <a:spcPct val="100000"/>
              </a:lnSpc>
              <a:spcBef>
                <a:spcPts val="700"/>
              </a:spcBef>
              <a:defRPr sz="2400"/>
            </a:lvl1pPr>
            <a:lvl2pPr>
              <a:lnSpc>
                <a:spcPct val="100000"/>
              </a:lnSpc>
              <a:spcBef>
                <a:spcPts val="700"/>
              </a:spcBef>
              <a:defRPr sz="2000"/>
            </a:lvl2pPr>
            <a:lvl3pPr>
              <a:lnSpc>
                <a:spcPct val="100000"/>
              </a:lnSpc>
              <a:spcBef>
                <a:spcPts val="700"/>
              </a:spcBef>
              <a:defRPr sz="1800"/>
            </a:lvl3pPr>
            <a:lvl4pPr>
              <a:lnSpc>
                <a:spcPct val="100000"/>
              </a:lnSpc>
              <a:spcBef>
                <a:spcPts val="700"/>
              </a:spcBef>
              <a:defRPr sz="1600"/>
            </a:lvl4pPr>
            <a:lvl5pPr>
              <a:lnSpc>
                <a:spcPct val="100000"/>
              </a:lnSpc>
              <a:spcBef>
                <a:spcPts val="700"/>
              </a:spcBef>
              <a:defRPr sz="16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63440" y="969336"/>
            <a:ext cx="4023360" cy="4114800"/>
          </a:xfrm>
          <a:ln w="10795">
            <a:solidFill>
              <a:schemeClr val="bg1"/>
            </a:solidFill>
            <a:prstDash val="dash"/>
            <a:miter lim="800000"/>
          </a:ln>
        </p:spPr>
        <p:txBody>
          <a:bodyPr/>
          <a:lstStyle>
            <a:lvl1pPr marL="393192" indent="-274320">
              <a:lnSpc>
                <a:spcPct val="100000"/>
              </a:lnSpc>
              <a:spcBef>
                <a:spcPts val="700"/>
              </a:spcBef>
              <a:defRPr sz="2400"/>
            </a:lvl1pPr>
            <a:lvl2pPr>
              <a:lnSpc>
                <a:spcPct val="100000"/>
              </a:lnSpc>
              <a:spcBef>
                <a:spcPts val="700"/>
              </a:spcBef>
              <a:defRPr sz="2000"/>
            </a:lvl2pPr>
            <a:lvl3pPr>
              <a:lnSpc>
                <a:spcPct val="100000"/>
              </a:lnSpc>
              <a:spcBef>
                <a:spcPts val="700"/>
              </a:spcBef>
              <a:defRPr sz="1800"/>
            </a:lvl3pPr>
            <a:lvl4pPr>
              <a:lnSpc>
                <a:spcPct val="100000"/>
              </a:lnSpc>
              <a:spcBef>
                <a:spcPts val="700"/>
              </a:spcBef>
              <a:defRPr sz="1600"/>
            </a:lvl4pPr>
            <a:lvl5pPr>
              <a:lnSpc>
                <a:spcPct val="100000"/>
              </a:lnSpc>
              <a:spcBef>
                <a:spcPts val="700"/>
              </a:spcBef>
              <a:defRPr sz="16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D455BE1E-6477-4B75-AB6D-B4FCBF8F7353}" type="datetime1">
              <a:rPr lang="ru-RU" smtClean="0"/>
              <a:pPr/>
              <a:t>10.06.2016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435608" y="274320"/>
            <a:ext cx="7498080" cy="1143000"/>
          </a:xfrm>
        </p:spPr>
        <p:txBody>
          <a:bodyPr anchor="ctr"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756DB545-5AAE-4662-94E0-A59A9D626458}" type="datetime1">
              <a:rPr lang="ru-RU" smtClean="0"/>
              <a:pPr/>
              <a:t>10.06.2016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1014984" y="0"/>
            <a:ext cx="8129016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FBE6603-A586-4219-B919-8A53BB1B20EC}" type="datetime1">
              <a:rPr lang="ru-RU" smtClean="0"/>
              <a:pPr/>
              <a:t>10.06.2016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6" name="Прямоугольник 5"/>
          <p:cNvSpPr/>
          <p:nvPr/>
        </p:nvSpPr>
        <p:spPr bwMode="invGray">
          <a:xfrm>
            <a:off x="1014984" y="-54"/>
            <a:ext cx="73152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16778"/>
            <a:ext cx="3810000" cy="1162050"/>
          </a:xfrm>
          <a:ln>
            <a:noFill/>
          </a:ln>
        </p:spPr>
        <p:txBody>
          <a:bodyPr anchor="b"/>
          <a:lstStyle>
            <a:lvl1pPr algn="l">
              <a:lnSpc>
                <a:spcPts val="2000"/>
              </a:lnSpc>
              <a:buNone/>
              <a:defRPr sz="2200" b="1" cap="all" baseline="0"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2"/>
          </p:nvPr>
        </p:nvSpPr>
        <p:spPr>
          <a:xfrm>
            <a:off x="457200" y="1406964"/>
            <a:ext cx="3810000" cy="698500"/>
          </a:xfrm>
        </p:spPr>
        <p:txBody>
          <a:bodyPr/>
          <a:lstStyle>
            <a:lvl1pPr marL="45720" indent="0">
              <a:lnSpc>
                <a:spcPct val="100000"/>
              </a:lnSpc>
              <a:spcBef>
                <a:spcPts val="0"/>
              </a:spcBef>
              <a:buNone/>
              <a:defRPr sz="14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1"/>
          </p:nvPr>
        </p:nvSpPr>
        <p:spPr>
          <a:xfrm>
            <a:off x="457200" y="2133600"/>
            <a:ext cx="8153400" cy="39925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7276982A-A0B5-4DA4-975D-787CB93F4505}" type="datetime1">
              <a:rPr lang="ru-RU" smtClean="0"/>
              <a:pPr/>
              <a:t>10.06.2016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886896" y="1066800"/>
            <a:ext cx="2743200" cy="1981200"/>
          </a:xfrm>
        </p:spPr>
        <p:txBody>
          <a:bodyPr anchor="b">
            <a:noAutofit/>
          </a:bodyPr>
          <a:lstStyle>
            <a:lvl1pPr algn="l">
              <a:buNone/>
              <a:defRPr sz="2100" b="1">
                <a:effectLst/>
              </a:defRPr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2DC87C9-F69C-4C0C-9DBA-0E10D474DDD6}" type="datetime1">
              <a:rPr lang="ru-RU" smtClean="0"/>
              <a:pPr/>
              <a:t>10.06.2016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762000" y="1066800"/>
            <a:ext cx="4572000" cy="4572000"/>
          </a:xfrm>
          <a:prstGeom prst="rect">
            <a:avLst/>
          </a:prstGeom>
          <a:solidFill>
            <a:srgbClr val="FFFFFF"/>
          </a:solidFill>
          <a:ln w="88900" cap="sq">
            <a:solidFill>
              <a:srgbClr val="FFFFFF"/>
            </a:solidFill>
            <a:miter lim="800000"/>
          </a:ln>
          <a:effectLst>
            <a:outerShdw blurRad="55500" dist="18500" dir="5400000" algn="tl" rotWithShape="0">
              <a:srgbClr val="000000">
                <a:alpha val="3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 contourW="635">
            <a:bevelT w="25400" h="19050"/>
            <a:contourClr>
              <a:srgbClr val="969696"/>
            </a:contourClr>
          </a:sp3d>
        </p:spPr>
        <p:txBody>
          <a:bodyPr lIns="91440" tIns="274320" rtlCol="0" anchor="t">
            <a:normAutofit/>
          </a:bodyPr>
          <a:lstStyle>
            <a:extLst/>
          </a:lstStyle>
          <a:p>
            <a:pPr marL="0" indent="-283464" algn="l" rtl="0" eaLnBrk="1" latinLnBrk="0" hangingPunct="1">
              <a:lnSpc>
                <a:spcPts val="3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2"/>
              <a:buNone/>
            </a:pPr>
            <a:endParaRPr kumimoji="0" lang="en-US" sz="32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838200" y="1143003"/>
            <a:ext cx="4419600" cy="3514531"/>
          </a:xfrm>
          <a:prstGeom prst="roundRect">
            <a:avLst>
              <a:gd name="adj" fmla="val 783"/>
            </a:avLst>
          </a:prstGeom>
          <a:solidFill>
            <a:schemeClr val="bg2"/>
          </a:solidFill>
          <a:ln w="127000">
            <a:noFill/>
            <a:miter lim="800000"/>
          </a:ln>
          <a:effectLst/>
        </p:spPr>
        <p:txBody>
          <a:bodyPr lIns="91440" tIns="274320" anchor="t"/>
          <a:lstStyle>
            <a:lvl1pPr indent="0">
              <a:buNone/>
              <a:defRPr sz="3200"/>
            </a:lvl1pPr>
            <a:extLst/>
          </a:lstStyle>
          <a:p>
            <a:pPr marL="0" algn="l" eaLnBrk="1" latinLnBrk="0" hangingPunct="1"/>
            <a:r>
              <a:rPr kumimoji="0" lang="ru-RU" smtClean="0"/>
              <a:t>Вставка рисунка</a:t>
            </a:r>
            <a:endParaRPr kumimoji="0" lang="en-US" dirty="0"/>
          </a:p>
        </p:txBody>
      </p:sp>
      <p:sp>
        <p:nvSpPr>
          <p:cNvPr id="9" name="Блок-схема: процесс 8"/>
          <p:cNvSpPr/>
          <p:nvPr/>
        </p:nvSpPr>
        <p:spPr>
          <a:xfrm rot="19468671">
            <a:off x="396725" y="954341"/>
            <a:ext cx="685800" cy="204310"/>
          </a:xfrm>
          <a:prstGeom prst="flowChartProcess">
            <a:avLst/>
          </a:prstGeom>
          <a:solidFill>
            <a:srgbClr val="FBFBFB">
              <a:alpha val="45098"/>
            </a:srgbClr>
          </a:solidFill>
          <a:ln w="6350" cap="rnd" cmpd="sng" algn="ctr">
            <a:solidFill>
              <a:srgbClr val="FFFFFF">
                <a:alpha val="100000"/>
              </a:srgbClr>
            </a:solidFill>
            <a:prstDash val="solid"/>
          </a:ln>
          <a:effectLst>
            <a:outerShdw blurRad="25400" dist="25400" dir="3300000" sx="96000" sy="96000" algn="tl" rotWithShape="0">
              <a:schemeClr val="bg2">
                <a:shade val="90000"/>
                <a:satMod val="200000"/>
                <a:alpha val="40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0" name="Блок-схема: процесс 9"/>
          <p:cNvSpPr/>
          <p:nvPr/>
        </p:nvSpPr>
        <p:spPr>
          <a:xfrm rot="2103354" flipH="1">
            <a:off x="5003667" y="936786"/>
            <a:ext cx="649224" cy="204310"/>
          </a:xfrm>
          <a:prstGeom prst="flowChartProcess">
            <a:avLst/>
          </a:prstGeom>
          <a:solidFill>
            <a:srgbClr val="FBFBFB">
              <a:alpha val="45098"/>
            </a:srgbClr>
          </a:solidFill>
          <a:ln w="6350" cap="rnd" cmpd="sng" algn="ctr">
            <a:solidFill>
              <a:srgbClr val="FFFFFF">
                <a:alpha val="100000"/>
              </a:srgbClr>
            </a:solidFill>
            <a:prstDash val="solid"/>
          </a:ln>
          <a:effectLst>
            <a:outerShdw blurRad="25400" dist="25400" dir="3300000" sx="96000" sy="96000" algn="tl" rotWithShape="0">
              <a:schemeClr val="bg2">
                <a:alpha val="20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8200" y="4800600"/>
            <a:ext cx="4419600" cy="762000"/>
          </a:xfrm>
        </p:spPr>
        <p:txBody>
          <a:bodyPr anchor="ctr"/>
          <a:lstStyle>
            <a:lvl1pPr marL="0" indent="0" algn="l">
              <a:lnSpc>
                <a:spcPts val="1600"/>
              </a:lnSpc>
              <a:spcBef>
                <a:spcPts val="0"/>
              </a:spcBef>
              <a:buNone/>
              <a:defRPr sz="1400">
                <a:solidFill>
                  <a:srgbClr val="777777"/>
                </a:solidFill>
              </a:defRPr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43BF4DBE-D7D0-4E1A-9DBE-A6E29511B4DF}" type="datetime1">
              <a:rPr lang="ru-RU" smtClean="0"/>
              <a:pPr/>
              <a:t>10.06.2016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858000" y="274639"/>
            <a:ext cx="1828800" cy="5851525"/>
          </a:xfrm>
        </p:spPr>
        <p:txBody>
          <a:bodyPr vert="eaVert"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1143000" y="274640"/>
            <a:ext cx="5562600" cy="5851525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6A5C4CB-C049-4D0B-BA3C-D2B2C4588AA4}" type="datetime1">
              <a:rPr lang="ru-RU" smtClean="0"/>
              <a:pPr/>
              <a:t>10.06.2016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ирог 6"/>
          <p:cNvSpPr/>
          <p:nvPr/>
        </p:nvSpPr>
        <p:spPr>
          <a:xfrm>
            <a:off x="-815927" y="-815922"/>
            <a:ext cx="1638887" cy="1638887"/>
          </a:xfrm>
          <a:prstGeom prst="pie">
            <a:avLst>
              <a:gd name="adj1" fmla="val 0"/>
              <a:gd name="adj2" fmla="val 5402120"/>
            </a:avLst>
          </a:prstGeom>
          <a:solidFill>
            <a:schemeClr val="bg2">
              <a:tint val="18000"/>
              <a:satMod val="220000"/>
              <a:alpha val="33000"/>
            </a:schemeClr>
          </a:solidFill>
          <a:ln w="3175" cap="rnd" cmpd="sng" algn="ctr">
            <a:solidFill>
              <a:schemeClr val="bg2">
                <a:shade val="70000"/>
                <a:satMod val="200000"/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8" name="Овал 7"/>
          <p:cNvSpPr/>
          <p:nvPr/>
        </p:nvSpPr>
        <p:spPr>
          <a:xfrm>
            <a:off x="168816" y="21102"/>
            <a:ext cx="1702191" cy="1702191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1" name="Кольцо 10"/>
          <p:cNvSpPr/>
          <p:nvPr/>
        </p:nvSpPr>
        <p:spPr>
          <a:xfrm rot="2315675">
            <a:off x="182881" y="1055077"/>
            <a:ext cx="1125717" cy="1102624"/>
          </a:xfrm>
          <a:prstGeom prst="donut">
            <a:avLst>
              <a:gd name="adj" fmla="val 11833"/>
            </a:avLst>
          </a:prstGeom>
          <a:gradFill rotWithShape="1">
            <a:gsLst>
              <a:gs pos="0">
                <a:schemeClr val="bg2">
                  <a:tint val="10000"/>
                  <a:shade val="99000"/>
                  <a:satMod val="355000"/>
                  <a:alpha val="70000"/>
                </a:schemeClr>
              </a:gs>
              <a:gs pos="70000">
                <a:schemeClr val="bg2">
                  <a:tint val="6000"/>
                  <a:shade val="100000"/>
                  <a:satMod val="400000"/>
                  <a:alpha val="55000"/>
                </a:schemeClr>
              </a:gs>
              <a:gs pos="100000">
                <a:schemeClr val="bg2">
                  <a:tint val="100000"/>
                  <a:shade val="75000"/>
                  <a:satMod val="370000"/>
                  <a:alpha val="60000"/>
                </a:schemeClr>
              </a:gs>
            </a:gsLst>
            <a:path path="circle">
              <a:fillToRect l="-407500" t="-50000" r="507500" b="150000"/>
            </a:path>
          </a:gradFill>
          <a:ln w="7350" cap="rnd" cmpd="sng" algn="ctr">
            <a:solidFill>
              <a:schemeClr val="bg2">
                <a:shade val="60000"/>
                <a:satMod val="220000"/>
                <a:alpha val="100000"/>
              </a:schemeClr>
            </a:solidFill>
            <a:prstDash val="solid"/>
          </a:ln>
          <a:effectLst>
            <a:outerShdw blurRad="12700" dist="15000" dir="4500000" algn="tl" rotWithShape="0">
              <a:schemeClr val="bg2">
                <a:shade val="10000"/>
                <a:satMod val="200000"/>
                <a:alpha val="3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2" name="Прямоугольник 11"/>
          <p:cNvSpPr/>
          <p:nvPr/>
        </p:nvSpPr>
        <p:spPr>
          <a:xfrm>
            <a:off x="1012873" y="-54"/>
            <a:ext cx="8131127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5" name="Заголовок 4"/>
          <p:cNvSpPr>
            <a:spLocks noGrp="1"/>
          </p:cNvSpPr>
          <p:nvPr>
            <p:ph type="title"/>
          </p:nvPr>
        </p:nvSpPr>
        <p:spPr>
          <a:xfrm>
            <a:off x="1435608" y="274638"/>
            <a:ext cx="7498080" cy="1143000"/>
          </a:xfrm>
          <a:prstGeom prst="rect">
            <a:avLst/>
          </a:prstGeom>
        </p:spPr>
        <p:txBody>
          <a:bodyPr anchor="ctr">
            <a:normAutofit/>
          </a:bodyPr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9" name="Текст 8"/>
          <p:cNvSpPr>
            <a:spLocks noGrp="1"/>
          </p:cNvSpPr>
          <p:nvPr>
            <p:ph type="body" idx="1"/>
          </p:nvPr>
        </p:nvSpPr>
        <p:spPr>
          <a:xfrm>
            <a:off x="1435608" y="1447800"/>
            <a:ext cx="7498080" cy="4800600"/>
          </a:xfrm>
          <a:prstGeom prst="rect">
            <a:avLst/>
          </a:prstGeom>
        </p:spPr>
        <p:txBody>
          <a:bodyPr>
            <a:normAutofit/>
          </a:bodyPr>
          <a:lstStyle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  <a:p>
            <a:pPr lvl="1" eaLnBrk="1" latinLnBrk="0" hangingPunct="1"/>
            <a:r>
              <a:rPr kumimoji="0" lang="ru-RU" smtClean="0"/>
              <a:t>Второй уровень</a:t>
            </a:r>
          </a:p>
          <a:p>
            <a:pPr lvl="2" eaLnBrk="1" latinLnBrk="0" hangingPunct="1"/>
            <a:r>
              <a:rPr kumimoji="0" lang="ru-RU" smtClean="0"/>
              <a:t>Третий уровень</a:t>
            </a:r>
          </a:p>
          <a:p>
            <a:pPr lvl="3" eaLnBrk="1" latinLnBrk="0" hangingPunct="1"/>
            <a:r>
              <a:rPr kumimoji="0" lang="ru-RU" smtClean="0"/>
              <a:t>Четвертый уровень</a:t>
            </a:r>
          </a:p>
          <a:p>
            <a:pPr lvl="4" eaLnBrk="1" latinLnBrk="0" hangingPunct="1"/>
            <a:r>
              <a:rPr kumimoji="0" lang="ru-RU" smtClean="0"/>
              <a:t>Пятый уровень</a:t>
            </a:r>
            <a:endParaRPr kumimoji="0" lang="en-US"/>
          </a:p>
        </p:txBody>
      </p:sp>
      <p:sp>
        <p:nvSpPr>
          <p:cNvPr id="24" name="Дата 23"/>
          <p:cNvSpPr>
            <a:spLocks noGrp="1"/>
          </p:cNvSpPr>
          <p:nvPr>
            <p:ph type="dt" sz="half" idx="2"/>
          </p:nvPr>
        </p:nvSpPr>
        <p:spPr>
          <a:xfrm>
            <a:off x="3581400" y="6305550"/>
            <a:ext cx="2133600" cy="476250"/>
          </a:xfrm>
          <a:prstGeom prst="rect">
            <a:avLst/>
          </a:prstGeom>
        </p:spPr>
        <p:txBody>
          <a:bodyPr anchor="b"/>
          <a:lstStyle>
            <a:lvl1pPr algn="r" eaLnBrk="1" latinLnBrk="0" hangingPunct="1">
              <a:defRPr kumimoji="0" sz="1200"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  <a:extLst/>
          </a:lstStyle>
          <a:p>
            <a:fld id="{971F65F4-F821-4FD1-9B7D-BC9DF92C8A4B}" type="datetime1">
              <a:rPr lang="ru-RU" smtClean="0"/>
              <a:pPr/>
              <a:t>10.06.2016</a:t>
            </a:fld>
            <a:endParaRPr lang="ru-RU"/>
          </a:p>
        </p:txBody>
      </p:sp>
      <p:sp>
        <p:nvSpPr>
          <p:cNvPr id="10" name="Нижний колонтитул 9"/>
          <p:cNvSpPr>
            <a:spLocks noGrp="1"/>
          </p:cNvSpPr>
          <p:nvPr>
            <p:ph type="ftr" sz="quarter" idx="3"/>
          </p:nvPr>
        </p:nvSpPr>
        <p:spPr>
          <a:xfrm>
            <a:off x="5715000" y="6305550"/>
            <a:ext cx="2895600" cy="476250"/>
          </a:xfrm>
          <a:prstGeom prst="rect">
            <a:avLst/>
          </a:prstGeom>
        </p:spPr>
        <p:txBody>
          <a:bodyPr anchor="b"/>
          <a:lstStyle>
            <a:lvl1pPr eaLnBrk="1" latinLnBrk="0" hangingPunct="1">
              <a:defRPr kumimoji="0" sz="1200">
                <a:solidFill>
                  <a:schemeClr val="bg2">
                    <a:shade val="50000"/>
                    <a:satMod val="200000"/>
                  </a:schemeClr>
                </a:solidFill>
                <a:effectLst/>
              </a:defRPr>
            </a:lvl1pPr>
            <a:extLst/>
          </a:lstStyle>
          <a:p>
            <a:endParaRPr lang="ru-RU"/>
          </a:p>
        </p:txBody>
      </p:sp>
      <p:sp>
        <p:nvSpPr>
          <p:cNvPr id="22" name="Номер слайда 21"/>
          <p:cNvSpPr>
            <a:spLocks noGrp="1"/>
          </p:cNvSpPr>
          <p:nvPr>
            <p:ph type="sldNum" sz="quarter" idx="4"/>
          </p:nvPr>
        </p:nvSpPr>
        <p:spPr>
          <a:xfrm>
            <a:off x="8613648" y="6305550"/>
            <a:ext cx="457200" cy="476250"/>
          </a:xfrm>
          <a:prstGeom prst="rect">
            <a:avLst/>
          </a:prstGeom>
        </p:spPr>
        <p:txBody>
          <a:bodyPr anchor="b"/>
          <a:lstStyle>
            <a:lvl1pPr algn="ctr" eaLnBrk="1" latinLnBrk="0" hangingPunct="1">
              <a:defRPr kumimoji="0" sz="1200">
                <a:solidFill>
                  <a:schemeClr val="bg2">
                    <a:shade val="50000"/>
                    <a:satMod val="200000"/>
                  </a:schemeClr>
                </a:solidFill>
                <a:effectLst/>
              </a:defRPr>
            </a:lvl1pPr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5" name="Прямоугольник 14"/>
          <p:cNvSpPr/>
          <p:nvPr/>
        </p:nvSpPr>
        <p:spPr bwMode="invGray">
          <a:xfrm>
            <a:off x="1014984" y="-54"/>
            <a:ext cx="73152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89" r:id="rId1"/>
    <p:sldLayoutId id="2147483890" r:id="rId2"/>
    <p:sldLayoutId id="2147483891" r:id="rId3"/>
    <p:sldLayoutId id="2147483892" r:id="rId4"/>
    <p:sldLayoutId id="2147483893" r:id="rId5"/>
    <p:sldLayoutId id="2147483894" r:id="rId6"/>
    <p:sldLayoutId id="2147483895" r:id="rId7"/>
    <p:sldLayoutId id="2147483896" r:id="rId8"/>
    <p:sldLayoutId id="2147483897" r:id="rId9"/>
    <p:sldLayoutId id="2147483898" r:id="rId10"/>
    <p:sldLayoutId id="2147483899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4300" kern="1200">
          <a:solidFill>
            <a:schemeClr val="tx2">
              <a:satMod val="130000"/>
            </a:schemeClr>
          </a:solidFill>
          <a:effectLst>
            <a:outerShdw blurRad="50000" dist="30000" dir="5400000" algn="tl" rotWithShape="0">
              <a:srgbClr val="000000">
                <a:alpha val="30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365760" indent="-283464" algn="l" rtl="0" eaLnBrk="1" latinLnBrk="0" hangingPunct="1">
        <a:lnSpc>
          <a:spcPct val="100000"/>
        </a:lnSpc>
        <a:spcBef>
          <a:spcPts val="600"/>
        </a:spcBef>
        <a:buClr>
          <a:schemeClr val="accent1"/>
        </a:buClr>
        <a:buSzPct val="80000"/>
        <a:buFont typeface="Wingdings 2"/>
        <a:buChar char=""/>
        <a:defRPr kumimoji="0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37744" algn="l" rtl="0" eaLnBrk="1" latinLnBrk="0" hangingPunct="1">
        <a:lnSpc>
          <a:spcPct val="100000"/>
        </a:lnSpc>
        <a:spcBef>
          <a:spcPts val="550"/>
        </a:spcBef>
        <a:buClr>
          <a:schemeClr val="accent1"/>
        </a:buClr>
        <a:buFont typeface="Verdana"/>
        <a:buChar char="◦"/>
        <a:defRPr kumimoji="0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886968" indent="-228600" algn="l" rtl="0" eaLnBrk="1" latinLnBrk="0" hangingPunct="1">
        <a:lnSpc>
          <a:spcPct val="100000"/>
        </a:lnSpc>
        <a:spcBef>
          <a:spcPct val="20000"/>
        </a:spcBef>
        <a:buClr>
          <a:schemeClr val="accent2"/>
        </a:buClr>
        <a:buFont typeface="Wingdings 2"/>
        <a:buChar char="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173736" algn="l" rtl="0" eaLnBrk="1" latinLnBrk="0" hangingPunct="1">
        <a:lnSpc>
          <a:spcPct val="100000"/>
        </a:lnSpc>
        <a:spcBef>
          <a:spcPct val="20000"/>
        </a:spcBef>
        <a:buClr>
          <a:schemeClr val="accent3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182880" algn="l" rtl="0" eaLnBrk="1" latinLnBrk="0" hangingPunct="1">
        <a:lnSpc>
          <a:spcPct val="100000"/>
        </a:lnSpc>
        <a:spcBef>
          <a:spcPct val="20000"/>
        </a:spcBef>
        <a:buClr>
          <a:schemeClr val="accent4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508760" indent="-182880" algn="l" rtl="0" eaLnBrk="1" latinLnBrk="0" hangingPunct="1">
        <a:lnSpc>
          <a:spcPct val="100000"/>
        </a:lnSpc>
        <a:spcBef>
          <a:spcPct val="20000"/>
        </a:spcBef>
        <a:buClr>
          <a:schemeClr val="accent5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1719072" indent="-182880" algn="l" rtl="0" eaLnBrk="1" latinLnBrk="0" hangingPunct="1">
        <a:lnSpc>
          <a:spcPct val="100000"/>
        </a:lnSpc>
        <a:spcBef>
          <a:spcPct val="20000"/>
        </a:spcBef>
        <a:buClr>
          <a:schemeClr val="accent6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1920240" indent="-182880" algn="l" rtl="0" eaLnBrk="1" latinLnBrk="0" hangingPunct="1">
        <a:lnSpc>
          <a:spcPct val="100000"/>
        </a:lnSpc>
        <a:spcBef>
          <a:spcPct val="20000"/>
        </a:spcBef>
        <a:buClr>
          <a:schemeClr val="accent6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2130552" indent="-182880" algn="l" rtl="0" eaLnBrk="1" latinLnBrk="0" hangingPunct="1">
        <a:lnSpc>
          <a:spcPct val="100000"/>
        </a:lnSpc>
        <a:spcBef>
          <a:spcPct val="20000"/>
        </a:spcBef>
        <a:buClr>
          <a:schemeClr val="accent6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331640" y="2204864"/>
            <a:ext cx="7406640" cy="1472184"/>
          </a:xfrm>
        </p:spPr>
        <p:txBody>
          <a:bodyPr>
            <a:noAutofit/>
          </a:bodyPr>
          <a:lstStyle/>
          <a:p>
            <a:pPr algn="ctr"/>
            <a:r>
              <a:rPr lang="ru-RU" sz="2000" dirty="0" smtClean="0"/>
              <a:t>ВЫПУСКНАЯ КВАЛИФИКАЦИОННАЯ (БАКАЛАВРСКАЯ) РАБОТА</a:t>
            </a:r>
            <a:br>
              <a:rPr lang="ru-RU" sz="2000" dirty="0" smtClean="0"/>
            </a:br>
            <a:r>
              <a:rPr lang="ru-RU" sz="2000" dirty="0" smtClean="0"/>
              <a:t>НА ТЕМУ: «РАЗРАБОТКА ИНФОРМАЦИОННОГО ОБЕСПЕЧЕНИЯ ДЛЯ СИСТЕМ УПРАВЛЕНИЯ ЖИЗНЕННЫМ ЦИКЛОМ ПРОДУКЦИИ НА ПРОМЫШЛЕННОМ ПРЕДПРИЯТИИ НА ПРИМЕРЕ ПАО «РАДИОЗАВОД»</a:t>
            </a:r>
            <a:endParaRPr lang="ru-RU" sz="2000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259632" y="4437112"/>
            <a:ext cx="7406640" cy="1752600"/>
          </a:xfrm>
        </p:spPr>
        <p:txBody>
          <a:bodyPr>
            <a:normAutofit fontScale="92500" lnSpcReduction="20000"/>
          </a:bodyPr>
          <a:lstStyle/>
          <a:p>
            <a:r>
              <a:rPr lang="ru-RU" dirty="0" smtClean="0"/>
              <a:t>Студента группы 521 </a:t>
            </a:r>
          </a:p>
          <a:p>
            <a:r>
              <a:rPr lang="ru-RU" dirty="0" err="1" smtClean="0"/>
              <a:t>Темникова</a:t>
            </a:r>
            <a:r>
              <a:rPr lang="ru-RU" dirty="0" smtClean="0"/>
              <a:t> Андрея Владимировича</a:t>
            </a:r>
          </a:p>
          <a:p>
            <a:r>
              <a:rPr lang="ru-RU" dirty="0" smtClean="0"/>
              <a:t>Научный руководитель: </a:t>
            </a:r>
            <a:r>
              <a:rPr lang="ru-RU" dirty="0"/>
              <a:t>д.т.н., доцент, профессор кафедры математики и </a:t>
            </a:r>
            <a:r>
              <a:rPr lang="ru-RU" dirty="0" smtClean="0"/>
              <a:t>информатики </a:t>
            </a:r>
          </a:p>
          <a:p>
            <a:r>
              <a:rPr lang="ru-RU" dirty="0" err="1" smtClean="0"/>
              <a:t>Переверзев</a:t>
            </a:r>
            <a:r>
              <a:rPr lang="ru-RU" dirty="0" smtClean="0"/>
              <a:t> </a:t>
            </a:r>
            <a:r>
              <a:rPr lang="ru-RU" dirty="0"/>
              <a:t>Павел Петрович </a:t>
            </a:r>
            <a:endParaRPr lang="ru-RU" dirty="0" smtClean="0"/>
          </a:p>
          <a:p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</a:t>
            </a:fld>
            <a:endParaRPr lang="ru-RU"/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971600" y="260648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ФЕДЕРАЛЬНОЕ ГОСУДАРСТВЕННОЕ ОБРАЗОВАТЕЛЬНОЕ БЮДЖЕТНОЕ УЧРЕЖДЕНИЕ ВЫСШЕГО ОБРАЗОВАНИЯ</a:t>
            </a:r>
            <a: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/>
            </a:r>
            <a:b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</a:br>
            <a:r>
              <a:rPr kumimoji="0" lang="ru-RU" sz="14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«ФИНАНСОВЫЙ УНИВЕРСИТЕТ</a:t>
            </a:r>
            <a: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/>
            </a:r>
            <a:b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</a:br>
            <a:r>
              <a:rPr kumimoji="0" lang="ru-RU" sz="14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ПРИ ПРАВИТЕЛЬСТВЕ РОССИЙСКОЙ ФЕДЕРАЦИИ»</a:t>
            </a:r>
            <a: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/>
            </a:r>
            <a:b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</a:br>
            <a:r>
              <a:rPr kumimoji="0" lang="ru-RU" sz="14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ЧЕЛЯБИНСКИЙ ФИЛИАЛ</a:t>
            </a:r>
            <a: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/>
            </a:r>
            <a:b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</a:br>
            <a:r>
              <a:rPr kumimoji="0" lang="ru-RU" sz="14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Кафедра «Математика и информатика»</a:t>
            </a:r>
            <a: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/>
            </a:r>
            <a:b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</a:br>
            <a:endParaRPr kumimoji="0" lang="ru-RU" sz="1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860032" y="659735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4211960" y="6381328"/>
            <a:ext cx="17772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 smtClean="0">
                <a:solidFill>
                  <a:schemeClr val="tx2">
                    <a:shade val="30000"/>
                    <a:satMod val="150000"/>
                  </a:schemeClr>
                </a:solidFill>
              </a:rPr>
              <a:t>ЧЕЛЯБИНСК</a:t>
            </a:r>
            <a:r>
              <a:rPr lang="ru-RU" sz="1600" dirty="0" smtClean="0"/>
              <a:t> </a:t>
            </a:r>
            <a:r>
              <a:rPr lang="ru-RU" sz="1600" dirty="0" smtClean="0">
                <a:solidFill>
                  <a:schemeClr val="tx2">
                    <a:shade val="30000"/>
                    <a:satMod val="150000"/>
                  </a:schemeClr>
                </a:solidFill>
              </a:rPr>
              <a:t>2016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Описание работы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 smtClean="0"/>
              <a:t>Цель исследования: повышение эффективности работы системы управления жизненным циклом продукции (СУЖЦ)</a:t>
            </a:r>
          </a:p>
          <a:p>
            <a:r>
              <a:rPr lang="ru-RU" dirty="0" smtClean="0"/>
              <a:t>Объект исследования: СУЖЦ </a:t>
            </a:r>
            <a:r>
              <a:rPr lang="en-US" dirty="0" smtClean="0"/>
              <a:t>PTC Windchill </a:t>
            </a:r>
            <a:r>
              <a:rPr lang="ru-RU" dirty="0" smtClean="0"/>
              <a:t>на ПАО «Радиозавод»</a:t>
            </a:r>
          </a:p>
          <a:p>
            <a:r>
              <a:rPr lang="ru-RU" dirty="0" smtClean="0"/>
              <a:t>Предмет исследования: разработка и совершенствование информационного обеспечения для системы управления жизненным циклом продукции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2</a:t>
            </a:fld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Задачи работы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115616" y="1484784"/>
            <a:ext cx="7498080" cy="5112568"/>
          </a:xfrm>
        </p:spPr>
        <p:txBody>
          <a:bodyPr>
            <a:normAutofit fontScale="77500" lnSpcReduction="20000"/>
          </a:bodyPr>
          <a:lstStyle/>
          <a:p>
            <a:pPr>
              <a:spcBef>
                <a:spcPts val="1200"/>
              </a:spcBef>
              <a:buNone/>
            </a:pPr>
            <a:r>
              <a:rPr lang="en-US" dirty="0" smtClean="0"/>
              <a:t>	</a:t>
            </a:r>
            <a:r>
              <a:rPr lang="ru-RU" dirty="0" smtClean="0"/>
              <a:t>1. Разработать модель данных, которая бы отвечала потребности предприятия в типах объектов для управления жизненным циклом;</a:t>
            </a:r>
          </a:p>
          <a:p>
            <a:pPr>
              <a:spcBef>
                <a:spcPts val="1200"/>
              </a:spcBef>
              <a:buNone/>
            </a:pPr>
            <a:r>
              <a:rPr lang="en-US" dirty="0" smtClean="0"/>
              <a:t>	</a:t>
            </a:r>
            <a:r>
              <a:rPr lang="ru-RU" dirty="0" smtClean="0"/>
              <a:t>2. Наладить рабочий процесс таким образом, чтобы он соответствовал требованиям стандартов;</a:t>
            </a:r>
          </a:p>
          <a:p>
            <a:pPr>
              <a:spcBef>
                <a:spcPts val="1200"/>
              </a:spcBef>
              <a:buNone/>
            </a:pPr>
            <a:r>
              <a:rPr lang="en-US" dirty="0" smtClean="0"/>
              <a:t>	</a:t>
            </a:r>
            <a:r>
              <a:rPr lang="ru-RU" dirty="0" smtClean="0"/>
              <a:t>3. Разработать методические рекомендации по переходу специалистов на работу в СУЖЦ;</a:t>
            </a:r>
          </a:p>
          <a:p>
            <a:pPr>
              <a:spcBef>
                <a:spcPts val="1200"/>
              </a:spcBef>
              <a:buNone/>
            </a:pPr>
            <a:r>
              <a:rPr lang="en-US" dirty="0" smtClean="0"/>
              <a:t>	</a:t>
            </a:r>
            <a:r>
              <a:rPr lang="ru-RU" dirty="0" smtClean="0"/>
              <a:t>4. Подготовить систему автоматически генерируемых отчетов по жизненному циклу продукции;</a:t>
            </a:r>
          </a:p>
          <a:p>
            <a:pPr>
              <a:spcBef>
                <a:spcPts val="1200"/>
              </a:spcBef>
              <a:buNone/>
            </a:pPr>
            <a:r>
              <a:rPr lang="en-US" dirty="0" smtClean="0"/>
              <a:t>	</a:t>
            </a:r>
            <a:r>
              <a:rPr lang="ru-RU" dirty="0" smtClean="0"/>
              <a:t>5. Обеспечить сопоставимость данных в КИС предприятия, основанных на различных программных платформах.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3</a:t>
            </a:fld>
            <a:endParaRPr lang="ru-RU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Информационное обеспечение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4</a:t>
            </a:fld>
            <a:endParaRPr lang="ru-RU"/>
          </a:p>
        </p:txBody>
      </p:sp>
      <p:graphicFrame>
        <p:nvGraphicFramePr>
          <p:cNvPr id="5" name="Содержимое 7"/>
          <p:cNvGraphicFramePr>
            <a:graphicFrameLocks/>
          </p:cNvGraphicFramePr>
          <p:nvPr/>
        </p:nvGraphicFramePr>
        <p:xfrm>
          <a:off x="2339752" y="1412776"/>
          <a:ext cx="6419056" cy="49371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403648" y="2348880"/>
            <a:ext cx="28803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 smtClean="0"/>
              <a:t>Ввод данных в систему</a:t>
            </a:r>
            <a:endParaRPr lang="ru-RU" sz="2400" dirty="0"/>
          </a:p>
        </p:txBody>
      </p:sp>
      <p:sp>
        <p:nvSpPr>
          <p:cNvPr id="7" name="TextBox 6"/>
          <p:cNvSpPr txBox="1"/>
          <p:nvPr/>
        </p:nvSpPr>
        <p:spPr>
          <a:xfrm>
            <a:off x="1331640" y="4221088"/>
            <a:ext cx="309634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 smtClean="0"/>
              <a:t>Предоставление данных пользователю</a:t>
            </a:r>
            <a:endParaRPr lang="ru-RU" sz="2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Описание ПАО «Радиозавод»</a:t>
            </a:r>
            <a:endParaRPr lang="ru-RU" dirty="0"/>
          </a:p>
        </p:txBody>
      </p:sp>
      <p:graphicFrame>
        <p:nvGraphicFramePr>
          <p:cNvPr id="7" name="Содержимое 6"/>
          <p:cNvGraphicFramePr>
            <a:graphicFrameLocks noGrp="1"/>
          </p:cNvGraphicFramePr>
          <p:nvPr>
            <p:ph idx="1"/>
          </p:nvPr>
        </p:nvGraphicFramePr>
        <p:xfrm>
          <a:off x="971600" y="1124744"/>
          <a:ext cx="4176464" cy="295232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5</a:t>
            </a:fld>
            <a:endParaRPr lang="ru-RU"/>
          </a:p>
        </p:txBody>
      </p:sp>
      <p:graphicFrame>
        <p:nvGraphicFramePr>
          <p:cNvPr id="8" name="Диаграмма 7"/>
          <p:cNvGraphicFramePr/>
          <p:nvPr/>
        </p:nvGraphicFramePr>
        <p:xfrm>
          <a:off x="5148064" y="2276872"/>
          <a:ext cx="3624064" cy="3960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516216" y="19888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/>
          </a:p>
        </p:txBody>
      </p:sp>
      <p:sp>
        <p:nvSpPr>
          <p:cNvPr id="9" name="TextBox 8"/>
          <p:cNvSpPr txBox="1"/>
          <p:nvPr/>
        </p:nvSpPr>
        <p:spPr>
          <a:xfrm>
            <a:off x="5220072" y="1412776"/>
            <a:ext cx="3904531" cy="7571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160" b="1" dirty="0" smtClean="0"/>
              <a:t>Экономические показатели  </a:t>
            </a:r>
          </a:p>
          <a:p>
            <a:pPr algn="ctr"/>
            <a:r>
              <a:rPr lang="ru-RU" sz="2160" b="1" dirty="0" smtClean="0"/>
              <a:t>за 2014 и 2015 года в млн. руб.</a:t>
            </a:r>
            <a:endParaRPr lang="ru-RU" sz="2160" b="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 </a:t>
            </a:r>
            <a:r>
              <a:rPr lang="en-US" dirty="0" smtClean="0"/>
              <a:t>PTC Windchill 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187624" y="1412776"/>
            <a:ext cx="7498080" cy="4800600"/>
          </a:xfrm>
        </p:spPr>
        <p:txBody>
          <a:bodyPr>
            <a:normAutofit fontScale="70000" lnSpcReduction="20000"/>
          </a:bodyPr>
          <a:lstStyle/>
          <a:p>
            <a:pPr lvl="0">
              <a:buNone/>
            </a:pPr>
            <a:r>
              <a:rPr lang="en-US" dirty="0" smtClean="0"/>
              <a:t>	PTC Windchill </a:t>
            </a:r>
            <a:r>
              <a:rPr lang="ru-RU" dirty="0" smtClean="0"/>
              <a:t>представляет собой современный инструмент для совместной работы пользователей на основе </a:t>
            </a:r>
            <a:r>
              <a:rPr lang="ru-RU" dirty="0" err="1" smtClean="0"/>
              <a:t>веб-технологий</a:t>
            </a:r>
            <a:r>
              <a:rPr lang="ru-RU" dirty="0" smtClean="0"/>
              <a:t>, и создана специально для обеспечения эффективной разработки и управления информацией об изделии. Система реализует следующие функции:</a:t>
            </a:r>
          </a:p>
          <a:p>
            <a:pPr lvl="0"/>
            <a:r>
              <a:rPr lang="ru-RU" dirty="0" smtClean="0"/>
              <a:t>Механизм организации совместного использования данных;</a:t>
            </a:r>
          </a:p>
          <a:p>
            <a:pPr lvl="0"/>
            <a:r>
              <a:rPr lang="ru-RU" dirty="0" smtClean="0"/>
              <a:t>Хранение данных в защищенном хранилище и разграничение прав доступа;</a:t>
            </a:r>
          </a:p>
          <a:p>
            <a:pPr lvl="0"/>
            <a:r>
              <a:rPr lang="ru-RU" dirty="0" smtClean="0"/>
              <a:t>Управление информацией;</a:t>
            </a:r>
          </a:p>
          <a:p>
            <a:pPr lvl="0"/>
            <a:r>
              <a:rPr lang="ru-RU" dirty="0" smtClean="0"/>
              <a:t>Управление изменениями;</a:t>
            </a:r>
          </a:p>
          <a:p>
            <a:pPr lvl="0"/>
            <a:r>
              <a:rPr lang="ru-RU" dirty="0" smtClean="0"/>
              <a:t>Возможность хранения всей истории проектирования и многое другое. 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6</a:t>
            </a:fld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Управление жизненным циклом продукции на ПАО «Радиозавод»</a:t>
            </a:r>
            <a:endParaRPr lang="ru-RU" dirty="0"/>
          </a:p>
        </p:txBody>
      </p:sp>
      <p:pic>
        <p:nvPicPr>
          <p:cNvPr id="5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 bwMode="auto">
          <a:xfrm>
            <a:off x="1435100" y="1659791"/>
            <a:ext cx="7499350" cy="43766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7</a:t>
            </a:fld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sz="32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Обзор выявленных проблем функционирования информационного обеспечения СУЖЦ</a:t>
            </a:r>
            <a:endParaRPr lang="ru-RU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187624" y="1556792"/>
            <a:ext cx="7746064" cy="5112568"/>
          </a:xfrm>
        </p:spPr>
        <p:txBody>
          <a:bodyPr>
            <a:normAutofit fontScale="85000" lnSpcReduction="20000"/>
          </a:bodyPr>
          <a:lstStyle/>
          <a:p>
            <a:pPr>
              <a:spcBef>
                <a:spcPts val="1200"/>
              </a:spcBef>
              <a:buNone/>
            </a:pPr>
            <a:r>
              <a:rPr lang="ru-RU" dirty="0" smtClean="0"/>
              <a:t>	1. Несопоставимость форматов данных имеющихся электронных моделей с применяемыми в </a:t>
            </a:r>
            <a:r>
              <a:rPr lang="en-US" dirty="0" smtClean="0"/>
              <a:t>Windchill</a:t>
            </a:r>
            <a:r>
              <a:rPr lang="ru-RU" dirty="0" smtClean="0"/>
              <a:t>, наличие большого числа бумажных носителей;</a:t>
            </a:r>
          </a:p>
          <a:p>
            <a:pPr>
              <a:spcBef>
                <a:spcPts val="1200"/>
              </a:spcBef>
              <a:buNone/>
            </a:pPr>
            <a:r>
              <a:rPr lang="ru-RU" dirty="0" smtClean="0"/>
              <a:t>	2. Недостаточная система типов данных для корректного управления структурой изделия;</a:t>
            </a:r>
          </a:p>
          <a:p>
            <a:pPr>
              <a:spcBef>
                <a:spcPts val="1200"/>
              </a:spcBef>
              <a:buNone/>
            </a:pPr>
            <a:r>
              <a:rPr lang="ru-RU" dirty="0" smtClean="0"/>
              <a:t>	3. Алгоритм внесения конструкторских изменений не соответствует требованиям ГОСТ на ЕСКД;</a:t>
            </a:r>
          </a:p>
          <a:p>
            <a:pPr>
              <a:spcBef>
                <a:spcPts val="1200"/>
              </a:spcBef>
              <a:buNone/>
            </a:pPr>
            <a:r>
              <a:rPr lang="ru-RU" dirty="0" smtClean="0"/>
              <a:t>	4. Стандартные отчеты недостаточны и не соответствуют ЕСКД;</a:t>
            </a:r>
          </a:p>
          <a:p>
            <a:pPr>
              <a:spcBef>
                <a:spcPts val="1200"/>
              </a:spcBef>
              <a:buNone/>
            </a:pPr>
            <a:r>
              <a:rPr lang="ru-RU" dirty="0" smtClean="0"/>
              <a:t>	5. Требуется синхронизация данных с другими КИС предприятия. 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8</a:t>
            </a:fld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Негативные эффекты выявленных проблем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>
              <a:spcBef>
                <a:spcPts val="1200"/>
              </a:spcBef>
              <a:buNone/>
            </a:pPr>
            <a:r>
              <a:rPr lang="ru-RU" dirty="0" smtClean="0"/>
              <a:t>	1. Большая часть информации и документации, созданных на предприятии за всё время его работы, не могут быть корректно перенесены в систему;</a:t>
            </a:r>
          </a:p>
          <a:p>
            <a:pPr>
              <a:spcBef>
                <a:spcPts val="1200"/>
              </a:spcBef>
              <a:buNone/>
            </a:pPr>
            <a:r>
              <a:rPr lang="ru-RU" dirty="0" smtClean="0"/>
              <a:t>	2. Невозможно правильно (в условиях целевого предприятия) создать структуру изделия и сгенерировать сопроводительную документацию по требованиям ГОСТ;</a:t>
            </a:r>
          </a:p>
          <a:p>
            <a:pPr>
              <a:spcBef>
                <a:spcPts val="1200"/>
              </a:spcBef>
              <a:buNone/>
            </a:pPr>
            <a:r>
              <a:rPr lang="ru-RU" dirty="0" smtClean="0"/>
              <a:t>	3. Организация работы над изделиями не соответствует требованиям ГОСТ на ЕСКД;</a:t>
            </a:r>
          </a:p>
          <a:p>
            <a:pPr>
              <a:spcBef>
                <a:spcPts val="1200"/>
              </a:spcBef>
              <a:buNone/>
            </a:pPr>
            <a:r>
              <a:rPr lang="ru-RU" dirty="0" smtClean="0"/>
              <a:t>	4. Система отчетов в стандартной поставке </a:t>
            </a:r>
            <a:r>
              <a:rPr lang="en-US" dirty="0" smtClean="0"/>
              <a:t>Windchill</a:t>
            </a:r>
            <a:r>
              <a:rPr lang="ru-RU" dirty="0" smtClean="0"/>
              <a:t> недостаточна для обеспечения потребностей отделов ПАО «Радиозавод», требуется её значительное расширение. </a:t>
            </a:r>
          </a:p>
          <a:p>
            <a:pPr>
              <a:spcBef>
                <a:spcPts val="1200"/>
              </a:spcBef>
              <a:buNone/>
            </a:pPr>
            <a:r>
              <a:rPr lang="ru-RU" dirty="0" smtClean="0"/>
              <a:t>	5. Данные в различных КИС предприятия разнятся, так как нет средств синхронизации;</a:t>
            </a:r>
          </a:p>
          <a:p>
            <a:pPr>
              <a:spcBef>
                <a:spcPts val="1200"/>
              </a:spcBef>
              <a:buNone/>
            </a:pPr>
            <a:r>
              <a:rPr lang="ru-RU" dirty="0" smtClean="0"/>
              <a:t>	6. Помимо всего прочего, есть некоторые ограничения в плане принимаемых мер, касающихся, в основном, недостаточного развития информационной среды предприятия. 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9</a:t>
            </a:fld>
            <a:endParaRPr lang="ru-RU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Алгоритм перехода специалистов к работе в СУЖЦ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ru-RU" dirty="0" smtClean="0"/>
              <a:t>Электронные модели по текущим проектам завести в систему под видом изображений;</a:t>
            </a:r>
          </a:p>
          <a:p>
            <a:r>
              <a:rPr lang="ru-RU" dirty="0" smtClean="0"/>
              <a:t>Моделирование новых изделий производить через интерфейс СУЖЦ и интегрированной САПР; </a:t>
            </a:r>
            <a:endParaRPr lang="en-US" dirty="0" smtClean="0"/>
          </a:p>
          <a:p>
            <a:r>
              <a:rPr lang="ru-RU" dirty="0" smtClean="0"/>
              <a:t>Бумажные носители сканировать и вводить в систему как изображения;</a:t>
            </a:r>
          </a:p>
          <a:p>
            <a:r>
              <a:rPr lang="ru-RU" dirty="0" smtClean="0"/>
              <a:t>С новыми заказами работать схожим образом. </a:t>
            </a:r>
          </a:p>
          <a:p>
            <a:pPr>
              <a:buNone/>
            </a:pPr>
            <a:r>
              <a:rPr lang="ru-RU" dirty="0" smtClean="0"/>
              <a:t>	</a:t>
            </a:r>
          </a:p>
          <a:p>
            <a:pPr>
              <a:buNone/>
            </a:pPr>
            <a:r>
              <a:rPr lang="ru-RU" dirty="0" smtClean="0"/>
              <a:t>	Эффект: </a:t>
            </a:r>
          </a:p>
          <a:p>
            <a:pPr>
              <a:buNone/>
            </a:pPr>
            <a:r>
              <a:rPr lang="ru-RU" dirty="0" smtClean="0"/>
              <a:t>	1. Решена проблема несопоставимости форматов данных имеющихся электронных моделей; </a:t>
            </a:r>
          </a:p>
          <a:p>
            <a:pPr>
              <a:buNone/>
            </a:pPr>
            <a:r>
              <a:rPr lang="ru-RU" dirty="0" smtClean="0"/>
              <a:t>	2. Ускорен перевод текущих и новых заказов в новую систему. 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10</a:t>
            </a:fld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Обновление объектной модели </a:t>
            </a:r>
            <a:r>
              <a:rPr lang="en-US" dirty="0" smtClean="0"/>
              <a:t>Windchill</a:t>
            </a:r>
            <a:endParaRPr lang="ru-RU" dirty="0"/>
          </a:p>
        </p:txBody>
      </p:sp>
      <p:graphicFrame>
        <p:nvGraphicFramePr>
          <p:cNvPr id="8" name="Содержимое 7"/>
          <p:cNvGraphicFramePr>
            <a:graphicFrameLocks noGrp="1"/>
          </p:cNvGraphicFramePr>
          <p:nvPr>
            <p:ph sz="half" idx="1"/>
          </p:nvPr>
        </p:nvGraphicFramePr>
        <p:xfrm>
          <a:off x="1475656" y="1916832"/>
          <a:ext cx="3657600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Тип объекта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Агрегат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Компонент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7" name="Содержимое 6"/>
          <p:cNvGraphicFramePr>
            <a:graphicFrameLocks noGrp="1"/>
          </p:cNvGraphicFramePr>
          <p:nvPr>
            <p:ph sz="half" idx="2"/>
          </p:nvPr>
        </p:nvGraphicFramePr>
        <p:xfrm>
          <a:off x="5292080" y="1916832"/>
          <a:ext cx="3657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Тип объекта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Деталь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Заказ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ТТП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Электрический</a:t>
                      </a:r>
                      <a:r>
                        <a:rPr lang="ru-RU" baseline="0" dirty="0" smtClean="0"/>
                        <a:t> компонент</a:t>
                      </a:r>
                      <a:endParaRPr lang="ru-RU" dirty="0" smtClean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Режим сборки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Сборка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Неразборный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Компонент</a:t>
                      </a:r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Раздел спецификации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Сборочная единица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Деталь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Прочее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Материал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Комплект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11</a:t>
            </a:fld>
            <a:endParaRPr lang="ru-RU"/>
          </a:p>
        </p:txBody>
      </p:sp>
      <p:sp>
        <p:nvSpPr>
          <p:cNvPr id="9" name="TextBox 8"/>
          <p:cNvSpPr txBox="1"/>
          <p:nvPr/>
        </p:nvSpPr>
        <p:spPr>
          <a:xfrm>
            <a:off x="2843808" y="1412776"/>
            <a:ext cx="9204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 smtClean="0"/>
              <a:t>Было</a:t>
            </a:r>
            <a:endParaRPr lang="ru-RU" sz="2400" b="1" dirty="0"/>
          </a:p>
        </p:txBody>
      </p:sp>
      <p:sp>
        <p:nvSpPr>
          <p:cNvPr id="10" name="TextBox 9"/>
          <p:cNvSpPr txBox="1"/>
          <p:nvPr/>
        </p:nvSpPr>
        <p:spPr>
          <a:xfrm>
            <a:off x="6588224" y="1412776"/>
            <a:ext cx="9759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 smtClean="0"/>
              <a:t>Стало</a:t>
            </a:r>
            <a:endParaRPr lang="ru-RU" sz="2400" b="1" dirty="0"/>
          </a:p>
        </p:txBody>
      </p:sp>
      <p:sp>
        <p:nvSpPr>
          <p:cNvPr id="11" name="TextBox 10"/>
          <p:cNvSpPr txBox="1"/>
          <p:nvPr/>
        </p:nvSpPr>
        <p:spPr>
          <a:xfrm>
            <a:off x="1259632" y="4077072"/>
            <a:ext cx="403244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Эффект:</a:t>
            </a:r>
          </a:p>
          <a:p>
            <a:pPr>
              <a:buFont typeface="Arial" pitchFamily="34" charset="0"/>
              <a:buChar char="•"/>
            </a:pPr>
            <a:r>
              <a:rPr lang="ru-RU" dirty="0" smtClean="0"/>
              <a:t> Появилась возможность автоматической передачи данных между КИС</a:t>
            </a:r>
          </a:p>
          <a:p>
            <a:pPr>
              <a:buFont typeface="Arial" pitchFamily="34" charset="0"/>
              <a:buChar char="•"/>
            </a:pPr>
            <a:r>
              <a:rPr lang="ru-RU" dirty="0" smtClean="0"/>
              <a:t> Упростился процесс проектирования технологического маршрута</a:t>
            </a:r>
          </a:p>
          <a:p>
            <a:pPr>
              <a:buFont typeface="Arial" pitchFamily="34" charset="0"/>
              <a:buChar char="•"/>
            </a:pPr>
            <a:r>
              <a:rPr lang="ru-RU" dirty="0" smtClean="0"/>
              <a:t> Автоматизирован процесс генерации спецификации на изделие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Проведение конструкторских изменений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12</a:t>
            </a:fld>
            <a:endParaRPr lang="ru-RU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" y="1916832"/>
            <a:ext cx="4471074" cy="31683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587795" y="2132856"/>
            <a:ext cx="4556205" cy="27363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2" name="Прямая соединительная линия 11"/>
          <p:cNvCxnSpPr/>
          <p:nvPr/>
        </p:nvCxnSpPr>
        <p:spPr>
          <a:xfrm>
            <a:off x="4572000" y="1628800"/>
            <a:ext cx="0" cy="482453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907704" y="1556792"/>
            <a:ext cx="9204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 smtClean="0"/>
              <a:t>Было</a:t>
            </a:r>
            <a:endParaRPr lang="ru-RU" sz="2400" b="1" dirty="0"/>
          </a:p>
        </p:txBody>
      </p:sp>
      <p:sp>
        <p:nvSpPr>
          <p:cNvPr id="14" name="TextBox 13"/>
          <p:cNvSpPr txBox="1"/>
          <p:nvPr/>
        </p:nvSpPr>
        <p:spPr>
          <a:xfrm>
            <a:off x="6300192" y="1556792"/>
            <a:ext cx="9759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 smtClean="0"/>
              <a:t>Стало</a:t>
            </a:r>
            <a:endParaRPr lang="ru-RU" sz="2400" b="1" dirty="0"/>
          </a:p>
        </p:txBody>
      </p:sp>
      <p:sp>
        <p:nvSpPr>
          <p:cNvPr id="9" name="TextBox 8"/>
          <p:cNvSpPr txBox="1"/>
          <p:nvPr/>
        </p:nvSpPr>
        <p:spPr>
          <a:xfrm>
            <a:off x="4716017" y="5085184"/>
            <a:ext cx="374441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buFont typeface="Arial" pitchFamily="34" charset="0"/>
              <a:buChar char="•"/>
            </a:pPr>
            <a:r>
              <a:rPr lang="ru-RU" sz="1600" dirty="0" smtClean="0"/>
              <a:t> Упростился процесс внесения и отслеживания последующих изменений</a:t>
            </a:r>
          </a:p>
          <a:p>
            <a:pPr lvl="0">
              <a:buFont typeface="Arial" pitchFamily="34" charset="0"/>
              <a:buChar char="•"/>
            </a:pPr>
            <a:r>
              <a:rPr lang="ru-RU" sz="1600" dirty="0" smtClean="0"/>
              <a:t> Алгоритм отвечает требованиям ЕСКД</a:t>
            </a:r>
          </a:p>
          <a:p>
            <a:pPr lvl="0">
              <a:buFont typeface="Arial" pitchFamily="34" charset="0"/>
              <a:buChar char="•"/>
            </a:pPr>
            <a:r>
              <a:rPr lang="ru-RU" sz="1600" dirty="0" smtClean="0"/>
              <a:t> Несколько увеличилось время проведения изменения</a:t>
            </a:r>
          </a:p>
          <a:p>
            <a:endParaRPr lang="ru-RU" dirty="0"/>
          </a:p>
        </p:txBody>
      </p:sp>
      <p:sp>
        <p:nvSpPr>
          <p:cNvPr id="10" name="TextBox 9"/>
          <p:cNvSpPr txBox="1"/>
          <p:nvPr/>
        </p:nvSpPr>
        <p:spPr>
          <a:xfrm>
            <a:off x="1043608" y="5157192"/>
            <a:ext cx="352839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Arial" pitchFamily="34" charset="0"/>
              <a:buChar char="•"/>
            </a:pPr>
            <a:r>
              <a:rPr lang="ru-RU" sz="1600" dirty="0" smtClean="0"/>
              <a:t> Не соответствует ЕСКД;</a:t>
            </a:r>
          </a:p>
          <a:p>
            <a:pPr>
              <a:buFont typeface="Arial" pitchFamily="34" charset="0"/>
              <a:buChar char="•"/>
            </a:pPr>
            <a:r>
              <a:rPr lang="ru-RU" sz="1600" dirty="0" smtClean="0"/>
              <a:t> Требуется организовать хранение печатных документов;</a:t>
            </a:r>
          </a:p>
          <a:p>
            <a:pPr>
              <a:buFont typeface="Arial" pitchFamily="34" charset="0"/>
              <a:buChar char="•"/>
            </a:pPr>
            <a:r>
              <a:rPr lang="ru-RU" sz="1600" dirty="0" smtClean="0"/>
              <a:t> Нет возможности присоединить документ к конкретному изменению изделия </a:t>
            </a:r>
            <a:endParaRPr lang="ru-RU" sz="16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Система отчетов</a:t>
            </a:r>
            <a:endParaRPr lang="ru-RU" dirty="0"/>
          </a:p>
        </p:txBody>
      </p:sp>
      <p:sp>
        <p:nvSpPr>
          <p:cNvPr id="9" name="Содержимое 8"/>
          <p:cNvSpPr>
            <a:spLocks noGrp="1"/>
          </p:cNvSpPr>
          <p:nvPr>
            <p:ph idx="1"/>
          </p:nvPr>
        </p:nvSpPr>
        <p:spPr>
          <a:xfrm>
            <a:off x="1043608" y="1447800"/>
            <a:ext cx="7890080" cy="5221560"/>
          </a:xfrm>
        </p:spPr>
        <p:txBody>
          <a:bodyPr>
            <a:normAutofit fontScale="55000" lnSpcReduction="20000"/>
          </a:bodyPr>
          <a:lstStyle/>
          <a:p>
            <a:pPr>
              <a:spcBef>
                <a:spcPts val="1200"/>
              </a:spcBef>
              <a:buNone/>
            </a:pPr>
            <a:r>
              <a:rPr lang="ru-RU" sz="3100" dirty="0" smtClean="0"/>
              <a:t>	Основная часть сопроводительной документации создаётся посредством конструктора запросов, либо уже предоставляется по умолчанию.</a:t>
            </a:r>
          </a:p>
          <a:p>
            <a:pPr>
              <a:spcBef>
                <a:spcPts val="1200"/>
              </a:spcBef>
              <a:buNone/>
            </a:pPr>
            <a:r>
              <a:rPr lang="ru-RU" sz="3100" dirty="0" smtClean="0"/>
              <a:t>	Для организации внутреннего документооборота требуются </a:t>
            </a:r>
            <a:r>
              <a:rPr lang="ru-RU" dirty="0" smtClean="0"/>
              <a:t>следующие отчеты в печатном виде:</a:t>
            </a:r>
          </a:p>
          <a:p>
            <a:r>
              <a:rPr lang="ru-RU" dirty="0" smtClean="0"/>
              <a:t>Ведомость покупных;</a:t>
            </a:r>
          </a:p>
          <a:p>
            <a:r>
              <a:rPr lang="ru-RU" dirty="0" smtClean="0"/>
              <a:t>Ведомость применяемости;</a:t>
            </a:r>
          </a:p>
          <a:p>
            <a:r>
              <a:rPr lang="ru-RU" dirty="0" smtClean="0"/>
              <a:t>Картотека трудового нормирования;</a:t>
            </a:r>
          </a:p>
          <a:p>
            <a:r>
              <a:rPr lang="ru-RU" dirty="0" smtClean="0"/>
              <a:t>Картотека планирования.</a:t>
            </a:r>
          </a:p>
          <a:p>
            <a:pPr marL="360000">
              <a:spcBef>
                <a:spcPts val="1200"/>
              </a:spcBef>
              <a:buNone/>
            </a:pPr>
            <a:r>
              <a:rPr lang="ru-RU" dirty="0" smtClean="0"/>
              <a:t>	Основные требования в ТЗ:</a:t>
            </a:r>
          </a:p>
          <a:p>
            <a:r>
              <a:rPr lang="ru-RU" sz="3100" dirty="0" smtClean="0"/>
              <a:t>Создание на основе данных только из </a:t>
            </a:r>
            <a:r>
              <a:rPr lang="en-US" sz="3100" dirty="0" smtClean="0"/>
              <a:t>Windchill</a:t>
            </a:r>
            <a:r>
              <a:rPr lang="ru-RU" sz="3100" dirty="0" smtClean="0"/>
              <a:t>;</a:t>
            </a:r>
          </a:p>
          <a:p>
            <a:r>
              <a:rPr lang="ru-RU" sz="3100" dirty="0" smtClean="0"/>
              <a:t>Возможность просмотра и изменения в электронном виде;</a:t>
            </a:r>
          </a:p>
          <a:p>
            <a:r>
              <a:rPr lang="ru-RU" sz="3100" dirty="0" smtClean="0"/>
              <a:t>Соответствие </a:t>
            </a:r>
            <a:r>
              <a:rPr lang="ru-RU" dirty="0" smtClean="0"/>
              <a:t>печатных форм нормам ЕСКД.</a:t>
            </a:r>
          </a:p>
          <a:p>
            <a:endParaRPr lang="ru-RU" dirty="0" smtClean="0"/>
          </a:p>
          <a:p>
            <a:pPr>
              <a:buNone/>
            </a:pPr>
            <a:r>
              <a:rPr lang="ru-RU" dirty="0" smtClean="0"/>
              <a:t>	Эффект:</a:t>
            </a:r>
          </a:p>
          <a:p>
            <a:pPr>
              <a:buNone/>
            </a:pPr>
            <a:r>
              <a:rPr lang="ru-RU" dirty="0" smtClean="0"/>
              <a:t>	1. Все необходимые отчеты по жизненному циклу изделия автоматически генерируется непосредственно из СУЖЦ</a:t>
            </a:r>
          </a:p>
          <a:p>
            <a:pPr>
              <a:buNone/>
            </a:pPr>
            <a:r>
              <a:rPr lang="ru-RU" dirty="0" smtClean="0"/>
              <a:t>	2. Вся сопроводительная документация приведена в соответствие с ГОСТ на ЕСКД. </a:t>
            </a:r>
          </a:p>
          <a:p>
            <a:pPr>
              <a:buNone/>
            </a:pPr>
            <a:endParaRPr lang="ru-RU" dirty="0" smtClean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13</a:t>
            </a:fld>
            <a:endParaRPr lang="ru-RU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43608" y="274638"/>
            <a:ext cx="8100392" cy="114300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Синхронизация данных в различных информационных системах</a:t>
            </a:r>
            <a:endParaRPr lang="ru-RU" dirty="0"/>
          </a:p>
        </p:txBody>
      </p:sp>
      <p:pic>
        <p:nvPicPr>
          <p:cNvPr id="102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 bwMode="auto">
          <a:xfrm>
            <a:off x="1187624" y="1556792"/>
            <a:ext cx="7499350" cy="41146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14</a:t>
            </a:fld>
            <a:endParaRPr lang="ru-RU"/>
          </a:p>
        </p:txBody>
      </p:sp>
      <p:sp>
        <p:nvSpPr>
          <p:cNvPr id="5" name="TextBox 4"/>
          <p:cNvSpPr txBox="1"/>
          <p:nvPr/>
        </p:nvSpPr>
        <p:spPr>
          <a:xfrm>
            <a:off x="1259632" y="5657671"/>
            <a:ext cx="75608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Эффект:</a:t>
            </a:r>
          </a:p>
          <a:p>
            <a:r>
              <a:rPr lang="ru-RU" dirty="0" smtClean="0"/>
              <a:t>Данные во всех КИС предприятия синхронизированы, при генерации отчетов не будут возникать ошибки и неоднозначности.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Экономическая эффективность</a:t>
            </a:r>
            <a:endParaRPr lang="ru-RU" dirty="0"/>
          </a:p>
        </p:txBody>
      </p:sp>
      <p:graphicFrame>
        <p:nvGraphicFramePr>
          <p:cNvPr id="5" name="Содержимое 4"/>
          <p:cNvGraphicFramePr>
            <a:graphicFrameLocks noGrp="1"/>
          </p:cNvGraphicFramePr>
          <p:nvPr>
            <p:ph idx="1"/>
          </p:nvPr>
        </p:nvGraphicFramePr>
        <p:xfrm>
          <a:off x="1043608" y="1556793"/>
          <a:ext cx="7776864" cy="3209740"/>
        </p:xfrm>
        <a:graphic>
          <a:graphicData uri="http://schemas.openxmlformats.org/drawingml/2006/table">
            <a:tbl>
              <a:tblPr firstRow="1">
                <a:tableStyleId>{B301B821-A1FF-4177-AEE7-76D212191A09}</a:tableStyleId>
              </a:tblPr>
              <a:tblGrid>
                <a:gridCol w="5400600"/>
                <a:gridCol w="1152128"/>
                <a:gridCol w="1224136"/>
              </a:tblGrid>
              <a:tr h="236279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 dirty="0"/>
                        <a:t>Показатель эффективности</a:t>
                      </a:r>
                      <a:endParaRPr lang="ru-RU" sz="14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 dirty="0"/>
                        <a:t>AS-IS</a:t>
                      </a:r>
                      <a:endParaRPr lang="ru-RU" sz="14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 dirty="0" smtClean="0"/>
                        <a:t>TO</a:t>
                      </a:r>
                      <a:r>
                        <a:rPr lang="ru-RU" sz="1400" baseline="0" dirty="0" smtClean="0"/>
                        <a:t> </a:t>
                      </a:r>
                      <a:r>
                        <a:rPr lang="ru-RU" sz="1400" dirty="0" smtClean="0"/>
                        <a:t>BE</a:t>
                      </a:r>
                      <a:endParaRPr lang="ru-RU" sz="14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 anchor="ctr"/>
                </a:tc>
              </a:tr>
              <a:tr h="38591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 dirty="0"/>
                        <a:t>Среднее количество введенных в производство изделий в год (шт.)</a:t>
                      </a:r>
                      <a:endParaRPr lang="ru-RU" sz="14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 dirty="0"/>
                        <a:t>5</a:t>
                      </a:r>
                      <a:endParaRPr lang="ru-RU" sz="14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 dirty="0"/>
                        <a:t>7</a:t>
                      </a:r>
                      <a:endParaRPr lang="ru-RU" sz="14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</a:tr>
              <a:tr h="38591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 dirty="0"/>
                        <a:t>Среднее количество завершенных (отчужденных) заказов в год (шт.)</a:t>
                      </a:r>
                      <a:endParaRPr lang="ru-RU" sz="14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 dirty="0"/>
                        <a:t>3</a:t>
                      </a:r>
                      <a:endParaRPr lang="ru-RU" sz="14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 dirty="0"/>
                        <a:t>4</a:t>
                      </a:r>
                      <a:endParaRPr lang="ru-RU" sz="14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</a:tr>
              <a:tr h="58977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 dirty="0"/>
                        <a:t>Качественные показатели продукции (% отказа во время гарантированного срока эксплуатации)</a:t>
                      </a:r>
                      <a:endParaRPr lang="ru-RU" sz="14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 dirty="0"/>
                        <a:t>0,4</a:t>
                      </a:r>
                      <a:endParaRPr lang="ru-RU" sz="14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 dirty="0"/>
                        <a:t>0,25</a:t>
                      </a:r>
                      <a:endParaRPr lang="ru-RU" sz="14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</a:tr>
              <a:tr h="38591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 dirty="0"/>
                        <a:t>Среднее время освоения производства изделия (мес.)</a:t>
                      </a:r>
                      <a:endParaRPr lang="ru-RU" sz="14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 dirty="0"/>
                        <a:t>18</a:t>
                      </a:r>
                      <a:endParaRPr lang="ru-RU" sz="14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 dirty="0"/>
                        <a:t>15</a:t>
                      </a:r>
                      <a:endParaRPr lang="ru-RU" sz="14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</a:tr>
              <a:tr h="38591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 dirty="0"/>
                        <a:t>Количество использованных пачек бумаги А4 на заказ (шт.)</a:t>
                      </a:r>
                      <a:endParaRPr lang="ru-RU" sz="14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 dirty="0"/>
                        <a:t>60</a:t>
                      </a:r>
                      <a:endParaRPr lang="ru-RU" sz="14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 dirty="0"/>
                        <a:t>36</a:t>
                      </a:r>
                      <a:endParaRPr lang="ru-RU" sz="14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</a:tr>
              <a:tr h="38591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 dirty="0"/>
                        <a:t>Количество рулонов бумаги для широкоформатной печати (шт.)</a:t>
                      </a:r>
                      <a:endParaRPr lang="ru-RU" sz="14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 dirty="0"/>
                        <a:t>8</a:t>
                      </a:r>
                      <a:endParaRPr lang="ru-RU" sz="14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 dirty="0"/>
                        <a:t>1</a:t>
                      </a:r>
                      <a:endParaRPr lang="ru-RU" sz="14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</a:tr>
              <a:tr h="26870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 dirty="0"/>
                        <a:t>Количество использованных картриджей (шт.)</a:t>
                      </a:r>
                      <a:endParaRPr lang="ru-RU" sz="14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 dirty="0"/>
                        <a:t>30</a:t>
                      </a:r>
                      <a:endParaRPr lang="ru-RU" sz="14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 dirty="0"/>
                        <a:t>18</a:t>
                      </a:r>
                      <a:endParaRPr lang="ru-RU" sz="14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</a:tr>
            </a:tbl>
          </a:graphicData>
        </a:graphic>
      </p:graphicFrame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15</a:t>
            </a:fld>
            <a:endParaRPr lang="ru-RU"/>
          </a:p>
        </p:txBody>
      </p:sp>
      <p:sp>
        <p:nvSpPr>
          <p:cNvPr id="6" name="TextBox 5"/>
          <p:cNvSpPr txBox="1"/>
          <p:nvPr/>
        </p:nvSpPr>
        <p:spPr>
          <a:xfrm>
            <a:off x="971600" y="5013176"/>
            <a:ext cx="7848872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1200"/>
              </a:spcBef>
            </a:pPr>
            <a:r>
              <a:rPr lang="ru-RU" dirty="0" smtClean="0"/>
              <a:t>Ежемесячная экономия на расходных материалах составит около </a:t>
            </a:r>
            <a:r>
              <a:rPr lang="ru-RU" b="1" dirty="0" smtClean="0"/>
              <a:t>210 тысяч рублей в год</a:t>
            </a:r>
            <a:r>
              <a:rPr lang="ru-RU" dirty="0" smtClean="0"/>
              <a:t>.</a:t>
            </a:r>
          </a:p>
          <a:p>
            <a:pPr>
              <a:spcBef>
                <a:spcPts val="1200"/>
              </a:spcBef>
            </a:pPr>
            <a:r>
              <a:rPr lang="ru-RU" dirty="0" smtClean="0"/>
              <a:t>Дополнительная прибыль от ускорения обработки заказов будет составлять </a:t>
            </a:r>
            <a:r>
              <a:rPr lang="ru-RU" b="1" dirty="0" smtClean="0"/>
              <a:t>от 1 до 10 миллионов рублей в год</a:t>
            </a:r>
            <a:r>
              <a:rPr lang="ru-RU" dirty="0" smtClean="0"/>
              <a:t>, в зависимости от количества поступаемых заказов. </a:t>
            </a:r>
            <a:endParaRPr lang="en-US" dirty="0" smtClean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Выводы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dirty="0" smtClean="0"/>
              <a:t>Разработаны методические рекомендации по организации  перехода специалистов к работе в новой системе;</a:t>
            </a:r>
          </a:p>
          <a:p>
            <a:r>
              <a:rPr lang="ru-RU" dirty="0" smtClean="0"/>
              <a:t>Разработан алгоритм внесения изменений в документации на проект, соответствующий требованиям ГОСТ на ЕСКД;</a:t>
            </a:r>
          </a:p>
          <a:p>
            <a:r>
              <a:rPr lang="ru-RU" dirty="0" smtClean="0"/>
              <a:t>Определен перечень отчетов, требующих реализации в виде самостоятельного программного модуля и предоставлены требования к ним;</a:t>
            </a:r>
          </a:p>
          <a:p>
            <a:r>
              <a:rPr lang="ru-RU" dirty="0" smtClean="0"/>
              <a:t>Создана объектная модель, удовлетворяющая всем потребностям предприятия при автоматической обработке изделия и работе с документацией;</a:t>
            </a:r>
          </a:p>
          <a:p>
            <a:r>
              <a:rPr lang="ru-RU" dirty="0" smtClean="0"/>
              <a:t>Разработана утилита синхронизации данных в разнородных информационных системах;</a:t>
            </a:r>
          </a:p>
          <a:p>
            <a:r>
              <a:rPr lang="ru-RU" b="1" dirty="0" smtClean="0"/>
              <a:t>СУЖЦ приведена в работоспособное состояния и может реализовать требуемый функционал.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16</a:t>
            </a:fld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 smtClean="0"/>
              <a:t>Благодарю за внимание!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 smtClean="0"/>
              <a:t>Исполнитель: студент группы 521 Темников Андрей Владимирович</a:t>
            </a:r>
          </a:p>
          <a:p>
            <a:r>
              <a:rPr lang="ru-RU" dirty="0" smtClean="0"/>
              <a:t>Научный руководитель: д.т.н., доцент, профессор кафедры математики и информатики </a:t>
            </a:r>
            <a:r>
              <a:rPr lang="ru-RU" dirty="0" err="1" smtClean="0"/>
              <a:t>Переверзев</a:t>
            </a:r>
            <a:r>
              <a:rPr lang="ru-RU" dirty="0" smtClean="0"/>
              <a:t> Павел Петрович 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17</a:t>
            </a:fld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Солнцестояние">
  <a:themeElements>
    <a:clrScheme name="Солнцестояние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Солнцестояние">
      <a:maj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ajorFont>
      <a:min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HY엽서L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inorFont>
    </a:fontScheme>
    <a:fmtScheme name="Солнцестояние">
      <a:fillStyleLst>
        <a:solidFill>
          <a:schemeClr val="phClr"/>
        </a:solidFill>
        <a:gradFill rotWithShape="1">
          <a:gsLst>
            <a:gs pos="0">
              <a:schemeClr val="phClr">
                <a:tint val="35000"/>
                <a:satMod val="253000"/>
              </a:schemeClr>
            </a:gs>
            <a:gs pos="50000">
              <a:schemeClr val="phClr">
                <a:tint val="42000"/>
                <a:satMod val="255000"/>
              </a:schemeClr>
            </a:gs>
            <a:gs pos="97000">
              <a:schemeClr val="phClr">
                <a:tint val="53000"/>
                <a:satMod val="260000"/>
              </a:schemeClr>
            </a:gs>
            <a:gs pos="100000">
              <a:schemeClr val="phClr">
                <a:tint val="56000"/>
                <a:satMod val="275000"/>
              </a:schemeClr>
            </a:gs>
          </a:gsLst>
          <a:path path="circle">
            <a:fillToRect l="50000" t="50000" r="50000" b="50000"/>
          </a:path>
        </a:gradFill>
        <a:gradFill rotWithShape="1">
          <a:gsLst>
            <a:gs pos="0">
              <a:schemeClr val="phClr">
                <a:tint val="92000"/>
                <a:satMod val="170000"/>
              </a:schemeClr>
            </a:gs>
            <a:gs pos="15000">
              <a:schemeClr val="phClr">
                <a:tint val="92000"/>
                <a:shade val="99000"/>
                <a:satMod val="170000"/>
              </a:schemeClr>
            </a:gs>
            <a:gs pos="62000">
              <a:schemeClr val="phClr">
                <a:tint val="96000"/>
                <a:shade val="80000"/>
                <a:satMod val="170000"/>
              </a:schemeClr>
            </a:gs>
            <a:gs pos="97000">
              <a:schemeClr val="phClr">
                <a:tint val="98000"/>
                <a:shade val="63000"/>
                <a:satMod val="170000"/>
              </a:schemeClr>
            </a:gs>
            <a:gs pos="100000">
              <a:schemeClr val="phClr">
                <a:shade val="62000"/>
                <a:satMod val="170000"/>
              </a:schemeClr>
            </a:gs>
          </a:gsLst>
          <a:path path="circle">
            <a:fillToRect l="50000" t="50000" r="50000" b="5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brightRoom" dir="tl">
              <a:rot lat="0" lon="0" rev="8700000"/>
            </a:lightRig>
          </a:scene3d>
          <a:sp3d contourW="12700">
            <a:bevelT w="0" h="0"/>
            <a:contourClr>
              <a:schemeClr val="phClr">
                <a:shade val="80000"/>
              </a:schemeClr>
            </a:contourClr>
          </a:sp3d>
        </a:effectStyle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brightRoom" dir="tl">
              <a:rot lat="0" lon="0" rev="5400000"/>
            </a:lightRig>
          </a:scene3d>
          <a:sp3d contourW="12700">
            <a:bevelT w="25400" h="50800" prst="angle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355000"/>
              </a:schemeClr>
            </a:gs>
            <a:gs pos="40000">
              <a:schemeClr val="phClr">
                <a:tint val="85000"/>
                <a:satMod val="320000"/>
              </a:schemeClr>
            </a:gs>
            <a:gs pos="100000">
              <a:schemeClr val="phClr">
                <a:shade val="55000"/>
                <a:satMod val="300000"/>
              </a:schemeClr>
            </a:gs>
          </a:gsLst>
          <a:path path="circle">
            <a:fillToRect l="-24500" t="-20000" r="124500" b="120000"/>
          </a:path>
        </a:gradFill>
        <a:blipFill>
          <a:blip xmlns:r="http://schemas.openxmlformats.org/officeDocument/2006/relationships" r:embed="rId1">
            <a:duotone>
              <a:schemeClr val="phClr">
                <a:shade val="9000"/>
                <a:satMod val="300000"/>
              </a:schemeClr>
              <a:schemeClr val="phClr">
                <a:tint val="90000"/>
                <a:satMod val="225000"/>
              </a:schemeClr>
            </a:duotone>
          </a:blip>
          <a:tile tx="0" ty="0" sx="90000" sy="90000" flip="xy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Solstice</Template>
  <TotalTime>2929</TotalTime>
  <Words>566</Words>
  <Application>Microsoft Office PowerPoint</Application>
  <PresentationFormat>Экран (4:3)</PresentationFormat>
  <Paragraphs>167</Paragraphs>
  <Slides>17</Slides>
  <Notes>2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18" baseType="lpstr">
      <vt:lpstr>Солнцестояние</vt:lpstr>
      <vt:lpstr>ВЫПУСКНАЯ КВАЛИФИКАЦИОННАЯ (БАКАЛАВРСКАЯ) РАБОТА НА ТЕМУ: «РАЗРАБОТКА ИНФОРМАЦИОННОГО ОБЕСПЕЧЕНИЯ ДЛЯ СИСТЕМ УПРАВЛЕНИЯ ЖИЗНЕННЫМ ЦИКЛОМ ПРОДУКЦИИ НА ПРОМЫШЛЕННОМ ПРЕДПРИЯТИИ НА ПРИМЕРЕ ПАО «РАДИОЗАВОД»</vt:lpstr>
      <vt:lpstr>Описание работы</vt:lpstr>
      <vt:lpstr>Задачи работы</vt:lpstr>
      <vt:lpstr>Информационное обеспечение</vt:lpstr>
      <vt:lpstr>Описание ПАО «Радиозавод»</vt:lpstr>
      <vt:lpstr> PTC Windchill </vt:lpstr>
      <vt:lpstr>Управление жизненным циклом продукции на ПАО «Радиозавод»</vt:lpstr>
      <vt:lpstr>Обзор выявленных проблем функционирования информационного обеспечения СУЖЦ</vt:lpstr>
      <vt:lpstr>Негативные эффекты выявленных проблем</vt:lpstr>
      <vt:lpstr>Алгоритм перехода специалистов к работе в СУЖЦ</vt:lpstr>
      <vt:lpstr>Обновление объектной модели Windchill</vt:lpstr>
      <vt:lpstr>Проведение конструкторских изменений</vt:lpstr>
      <vt:lpstr>Система отчетов</vt:lpstr>
      <vt:lpstr>Синхронизация данных в различных информационных системах</vt:lpstr>
      <vt:lpstr>Экономическая эффективность</vt:lpstr>
      <vt:lpstr>Выводы</vt:lpstr>
      <vt:lpstr>Благодарю за внимание!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Отчет по производственной практике на ПАО «Радиозавод» в городе Кыштыме</dc:title>
  <dc:creator>Андрей</dc:creator>
  <cp:lastModifiedBy>Андрей</cp:lastModifiedBy>
  <cp:revision>193</cp:revision>
  <dcterms:created xsi:type="dcterms:W3CDTF">2016-05-07T16:58:22Z</dcterms:created>
  <dcterms:modified xsi:type="dcterms:W3CDTF">2016-06-10T06:41:29Z</dcterms:modified>
</cp:coreProperties>
</file>