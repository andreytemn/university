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notesMasterIdLst>
    <p:notesMasterId r:id="rId19"/>
  </p:notesMasterIdLst>
  <p:sldIdLst>
    <p:sldId id="256" r:id="rId2"/>
    <p:sldId id="257" r:id="rId3"/>
    <p:sldId id="277" r:id="rId4"/>
    <p:sldId id="258" r:id="rId5"/>
    <p:sldId id="259" r:id="rId6"/>
    <p:sldId id="267" r:id="rId7"/>
    <p:sldId id="261" r:id="rId8"/>
    <p:sldId id="269" r:id="rId9"/>
    <p:sldId id="278" r:id="rId10"/>
    <p:sldId id="275" r:id="rId11"/>
    <p:sldId id="271" r:id="rId12"/>
    <p:sldId id="270" r:id="rId13"/>
    <p:sldId id="276" r:id="rId14"/>
    <p:sldId id="272" r:id="rId15"/>
    <p:sldId id="279" r:id="rId16"/>
    <p:sldId id="273" r:id="rId17"/>
    <p:sldId id="274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44" autoAdjust="0"/>
    <p:restoredTop sz="94660"/>
  </p:normalViewPr>
  <p:slideViewPr>
    <p:cSldViewPr>
      <p:cViewPr>
        <p:scale>
          <a:sx n="100" d="100"/>
          <a:sy n="100" d="100"/>
        </p:scale>
        <p:origin x="-606" y="9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153"/>
          <c:w val="0.46171437940587318"/>
          <c:h val="0.63613981162587163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38"/>
          <c:y val="0.26828827962204865"/>
          <c:w val="0.47075011378664083"/>
          <c:h val="0.61617777725816814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130374272"/>
        <c:axId val="130380160"/>
      </c:barChart>
      <c:catAx>
        <c:axId val="130374272"/>
        <c:scaling>
          <c:orientation val="minMax"/>
        </c:scaling>
        <c:axPos val="b"/>
        <c:numFmt formatCode="General" sourceLinked="1"/>
        <c:tickLblPos val="nextTo"/>
        <c:crossAx val="130380160"/>
        <c:crosses val="autoZero"/>
        <c:auto val="1"/>
        <c:lblAlgn val="ctr"/>
        <c:lblOffset val="100"/>
      </c:catAx>
      <c:valAx>
        <c:axId val="130380160"/>
        <c:scaling>
          <c:orientation val="minMax"/>
        </c:scaling>
        <c:axPos val="l"/>
        <c:majorGridlines/>
        <c:numFmt formatCode="General" sourceLinked="1"/>
        <c:tickLblPos val="nextTo"/>
        <c:crossAx val="130374272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14.06.2016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8C1BC2-EF03-4DB1-9C78-43FA9764743C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8C1BC2-EF03-4DB1-9C78-43FA9764743C}" type="slidenum">
              <a:rPr lang="ru-RU" smtClean="0"/>
              <a:pPr/>
              <a:t>15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14.06.2016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Autofit/>
          </a:bodyPr>
          <a:lstStyle/>
          <a:p>
            <a:pPr algn="ctr"/>
            <a:r>
              <a:rPr lang="ru-RU" sz="2000" dirty="0" smtClean="0"/>
              <a:t>ВЫПУСКНАЯ КВАЛИФИКАЦИОННАЯ (БАКАЛАВРСКАЯ) РАБОТА</a:t>
            </a:r>
            <a:br>
              <a:rPr lang="ru-RU" sz="2000" dirty="0" smtClean="0"/>
            </a:br>
            <a:r>
              <a:rPr lang="ru-RU" sz="2000" dirty="0" smtClean="0"/>
              <a:t>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a:t>
            </a:r>
            <a:endParaRPr lang="ru-RU" sz="20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60032" y="65973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11960" y="6381328"/>
            <a:ext cx="1777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ЧЕЛЯБИНСК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2016</a:t>
            </a:r>
          </a:p>
        </p:txBody>
      </p:sp>
      <p:sp>
        <p:nvSpPr>
          <p:cNvPr id="11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75656" y="4293096"/>
            <a:ext cx="7406640" cy="1752600"/>
          </a:xfrm>
        </p:spPr>
        <p:txBody>
          <a:bodyPr>
            <a:normAutofit fontScale="47500" lnSpcReduction="20000"/>
          </a:bodyPr>
          <a:lstStyle/>
          <a:p>
            <a:r>
              <a:rPr lang="ru-RU" dirty="0" smtClean="0"/>
              <a:t>Студента группы 521 </a:t>
            </a:r>
          </a:p>
          <a:p>
            <a:r>
              <a:rPr lang="ru-RU" dirty="0" err="1" smtClean="0"/>
              <a:t>Темникова</a:t>
            </a:r>
            <a:r>
              <a:rPr lang="ru-RU" dirty="0" smtClean="0"/>
              <a:t> Андрея Владимировича</a:t>
            </a:r>
            <a:endParaRPr lang="en-US" dirty="0" smtClean="0"/>
          </a:p>
          <a:p>
            <a:r>
              <a:rPr lang="ru-RU" dirty="0" smtClean="0"/>
              <a:t>____________________</a:t>
            </a:r>
            <a:endParaRPr lang="en-US" dirty="0" smtClean="0"/>
          </a:p>
          <a:p>
            <a:pPr>
              <a:spcBef>
                <a:spcPts val="0"/>
              </a:spcBef>
            </a:pPr>
            <a:r>
              <a:rPr lang="ru-RU" dirty="0" smtClean="0"/>
              <a:t>              </a:t>
            </a:r>
            <a:r>
              <a:rPr lang="ru-RU" sz="2000" dirty="0" smtClean="0"/>
              <a:t> (подпись)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</a:p>
          <a:p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r>
              <a:rPr lang="ru-RU" dirty="0" smtClean="0"/>
              <a:t>____________________</a:t>
            </a:r>
            <a:endParaRPr lang="en-US" dirty="0" smtClean="0"/>
          </a:p>
          <a:p>
            <a:pPr>
              <a:spcBef>
                <a:spcPts val="0"/>
              </a:spcBef>
            </a:pPr>
            <a:r>
              <a:rPr lang="ru-RU" dirty="0" smtClean="0"/>
              <a:t>              </a:t>
            </a:r>
            <a:r>
              <a:rPr lang="ru-RU" sz="2000" dirty="0" smtClean="0"/>
              <a:t> (подпись)</a:t>
            </a:r>
          </a:p>
          <a:p>
            <a:endParaRPr lang="en-US" dirty="0" smtClean="0"/>
          </a:p>
          <a:p>
            <a:endParaRPr lang="ru-RU" dirty="0" smtClean="0"/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 (СУЖЦ)</a:t>
            </a:r>
          </a:p>
          <a:p>
            <a:r>
              <a:rPr lang="ru-RU" dirty="0" smtClean="0"/>
              <a:t>Объект исследования: СУЖЦ </a:t>
            </a:r>
            <a:r>
              <a:rPr lang="en-US" dirty="0" smtClean="0"/>
              <a:t>PTC Windchill </a:t>
            </a:r>
            <a:r>
              <a:rPr lang="ru-RU" dirty="0" smtClean="0"/>
              <a:t>на 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15616" y="1484784"/>
            <a:ext cx="7498080" cy="5112568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1. Разработать модель данных, которая бы отвечала потребности предприятия в типах объектов для управления жизненным циклом;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2. Наладить рабочий процесс таким образом, чтобы он соответствовал требованиям стандартов;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3. Разработать методические рекомендации по переходу специалистов на работу в СУЖЦ;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4. Подготовить систему автоматически генерируемых отчетов по жизненному циклу продукции;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5. Обеспечить сопоставимость данных в КИС предприятия, основанных на различных программных платформах.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220072" y="1412776"/>
            <a:ext cx="3904531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160" b="1" dirty="0" smtClean="0"/>
              <a:t>Экономические показатели  </a:t>
            </a:r>
          </a:p>
          <a:p>
            <a:pPr algn="ctr"/>
            <a:r>
              <a:rPr lang="ru-RU" sz="2160" b="1" dirty="0" smtClean="0"/>
              <a:t>за 2014 и 2015 года в млн. руб.</a:t>
            </a:r>
            <a:endParaRPr lang="ru-RU" sz="216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 </a:t>
            </a:r>
            <a:r>
              <a:rPr lang="en-US" dirty="0" smtClean="0"/>
              <a:t>PTC Windchill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412776"/>
            <a:ext cx="7498080" cy="4800600"/>
          </a:xfrm>
        </p:spPr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PTC Windchill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Управление жизненным циклом продукции на ПАО «Радиозавод»</a:t>
            </a:r>
            <a:endParaRPr lang="ru-RU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659791"/>
            <a:ext cx="7499350" cy="4376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556792"/>
            <a:ext cx="7746064" cy="5112568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dirty="0" smtClean="0"/>
              <a:t>	1. Несопоставимость форматов данных имеющихся электронных моделей с применяемыми в </a:t>
            </a:r>
            <a:r>
              <a:rPr lang="en-US" dirty="0" smtClean="0"/>
              <a:t>Windchill</a:t>
            </a:r>
            <a:r>
              <a:rPr lang="ru-RU" dirty="0" smtClean="0"/>
              <a:t>, наличие большого числа бумажных носителей;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2. Недостаточная система типов данных для корректного управления структурой изделия;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3. Алгоритм внесения конструкторских изменений не соответствует требованиям ГОСТ на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4. Стандартные отчеты недостаточны и не соответствуют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5. Требуется синхронизация данных с другими КИС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Негативные эффекты выявленных проблем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dirty="0" smtClean="0"/>
              <a:t>	1. Большая часть информации и документации, созданных на предприятии за всё время его работы, не могут быть корректно перенесены в систему;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2. Невозможно правильно (в условиях целевого предприятия) создать структуру изделия и сгенерировать сопроводительную документацию по требованиям ГОСТ;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3. Организация работы над изделиями не соответствует требованиям ГОСТ на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4. Система отчетов в стандартной поставке </a:t>
            </a:r>
            <a:r>
              <a:rPr lang="en-US" dirty="0" smtClean="0"/>
              <a:t>Windchill</a:t>
            </a:r>
            <a:r>
              <a:rPr lang="ru-RU" dirty="0" smtClean="0"/>
              <a:t> недостаточна для обеспечения потребностей отделов ПАО «Радиозавод», требуется её значительное расширение. 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5. Данные в различных КИС предприятия разнятся, так как нет средств синхронизации;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6. Помимо всего прочего, есть некоторые ограничения в плане принимаемых мер, касающихся, в основном, недостаточного развития информационной среды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Алгоритм перехода специалистов к работе в СУЖЦ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smtClean="0"/>
              <a:t>Электронные модели по текущим проектам завести в систему под видом изображений;</a:t>
            </a:r>
          </a:p>
          <a:p>
            <a:r>
              <a:rPr lang="ru-RU" dirty="0" smtClean="0"/>
              <a:t>Моделирование новых изделий производить через интерфейс СУЖЦ и интегрированной САПР; </a:t>
            </a:r>
            <a:endParaRPr lang="en-US" dirty="0" smtClean="0"/>
          </a:p>
          <a:p>
            <a:r>
              <a:rPr lang="ru-RU" dirty="0" smtClean="0"/>
              <a:t>Бумажные носители сканировать и вводить в систему как изображения;</a:t>
            </a:r>
          </a:p>
          <a:p>
            <a:r>
              <a:rPr lang="ru-RU" dirty="0" smtClean="0"/>
              <a:t>С новыми заказами работать схожим образом. </a:t>
            </a:r>
          </a:p>
          <a:p>
            <a:pPr>
              <a:buNone/>
            </a:pPr>
            <a:r>
              <a:rPr lang="ru-RU" dirty="0" smtClean="0"/>
              <a:t>	</a:t>
            </a:r>
          </a:p>
          <a:p>
            <a:pPr>
              <a:buNone/>
            </a:pPr>
            <a:r>
              <a:rPr lang="ru-RU" dirty="0" smtClean="0"/>
              <a:t>	Эффект: </a:t>
            </a:r>
          </a:p>
          <a:p>
            <a:pPr>
              <a:buNone/>
            </a:pPr>
            <a:r>
              <a:rPr lang="ru-RU" dirty="0" smtClean="0"/>
              <a:t>	1. Решена проблема несопоставимости форматов данных имеющихся электронных моделей; </a:t>
            </a:r>
          </a:p>
          <a:p>
            <a:pPr>
              <a:buNone/>
            </a:pPr>
            <a:r>
              <a:rPr lang="ru-RU" dirty="0" smtClean="0"/>
              <a:t>	2. Ускорен перевод текущих и новых заказов в новую систему.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Обновление объектной модели </a:t>
            </a:r>
            <a:r>
              <a:rPr lang="en-US" dirty="0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259632" y="4077072"/>
            <a:ext cx="40324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Эффект: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Появилась возможность автоматической передачи данных между КИС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Упростился процесс проектирования технологического маршрута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Автоматизирован процесс генерации спецификации на изделие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" y="1916832"/>
            <a:ext cx="4471074" cy="316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4716017" y="5085184"/>
            <a:ext cx="37444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Упростился процесс внесения и отслеживания последующих изменений</a:t>
            </a:r>
          </a:p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Алгоритм отвечает требованиям ЕСКД</a:t>
            </a:r>
          </a:p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Несколько увеличилось время проведения изменения</a:t>
            </a:r>
          </a:p>
          <a:p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043608" y="5157192"/>
            <a:ext cx="3528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ru-RU" sz="1600" dirty="0" smtClean="0"/>
              <a:t> Не соответствует ЕСКД;</a:t>
            </a:r>
          </a:p>
          <a:p>
            <a:pPr>
              <a:buFont typeface="Arial" pitchFamily="34" charset="0"/>
              <a:buChar char="•"/>
            </a:pPr>
            <a:r>
              <a:rPr lang="ru-RU" sz="1600" dirty="0" smtClean="0"/>
              <a:t> Требуется организовать хранение печатных документов;</a:t>
            </a:r>
          </a:p>
          <a:p>
            <a:pPr>
              <a:buFont typeface="Arial" pitchFamily="34" charset="0"/>
              <a:buChar char="•"/>
            </a:pPr>
            <a:r>
              <a:rPr lang="ru-RU" sz="1600" dirty="0" smtClean="0"/>
              <a:t> Нет возможности присоединить документ к конкретному изменению изделия 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отчетов</a:t>
            </a:r>
            <a:endParaRPr lang="ru-RU" dirty="0"/>
          </a:p>
        </p:txBody>
      </p:sp>
      <p:sp>
        <p:nvSpPr>
          <p:cNvPr id="9" name="Содержимое 8"/>
          <p:cNvSpPr>
            <a:spLocks noGrp="1"/>
          </p:cNvSpPr>
          <p:nvPr>
            <p:ph idx="1"/>
          </p:nvPr>
        </p:nvSpPr>
        <p:spPr>
          <a:xfrm>
            <a:off x="1043608" y="1447800"/>
            <a:ext cx="7890080" cy="5221560"/>
          </a:xfrm>
        </p:spPr>
        <p:txBody>
          <a:bodyPr>
            <a:normAutofit fontScale="55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Основная часть сопроводительной документации создаётся посредством конструктора запросов, либо уже предоставляется по умолчанию.</a:t>
            </a:r>
          </a:p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Для организации внутреннего документооборота требуются </a:t>
            </a:r>
            <a:r>
              <a:rPr lang="ru-RU" dirty="0" smtClean="0"/>
              <a:t>следующие отчеты в печатном виде:</a:t>
            </a:r>
          </a:p>
          <a:p>
            <a:r>
              <a:rPr lang="ru-RU" dirty="0" smtClean="0"/>
              <a:t>Ведомость покупных;</a:t>
            </a:r>
          </a:p>
          <a:p>
            <a:r>
              <a:rPr lang="ru-RU" dirty="0" smtClean="0"/>
              <a:t>Ведомость применяемости;</a:t>
            </a:r>
          </a:p>
          <a:p>
            <a:r>
              <a:rPr lang="ru-RU" dirty="0" smtClean="0"/>
              <a:t>Картотека трудового нормирования;</a:t>
            </a:r>
          </a:p>
          <a:p>
            <a:r>
              <a:rPr lang="ru-RU" dirty="0" smtClean="0"/>
              <a:t>Картотека планирования.</a:t>
            </a:r>
          </a:p>
          <a:p>
            <a:pPr marL="360000">
              <a:spcBef>
                <a:spcPts val="1200"/>
              </a:spcBef>
              <a:buNone/>
            </a:pPr>
            <a:r>
              <a:rPr lang="ru-RU" dirty="0" smtClean="0"/>
              <a:t>	Основные требования в ТЗ:</a:t>
            </a:r>
          </a:p>
          <a:p>
            <a:r>
              <a:rPr lang="ru-RU" sz="3100" dirty="0" smtClean="0"/>
              <a:t>Создание на основе данных только из </a:t>
            </a:r>
            <a:r>
              <a:rPr lang="en-US" sz="3100" dirty="0" smtClean="0"/>
              <a:t>Windchill</a:t>
            </a:r>
            <a:r>
              <a:rPr lang="ru-RU" sz="3100" dirty="0" smtClean="0"/>
              <a:t>;</a:t>
            </a:r>
          </a:p>
          <a:p>
            <a:r>
              <a:rPr lang="ru-RU" sz="3100" dirty="0" smtClean="0"/>
              <a:t>Возможность просмотра и изменения в электронном виде;</a:t>
            </a:r>
          </a:p>
          <a:p>
            <a:r>
              <a:rPr lang="ru-RU" sz="3100" dirty="0" smtClean="0"/>
              <a:t>Соответствие </a:t>
            </a:r>
            <a:r>
              <a:rPr lang="ru-RU" dirty="0" smtClean="0"/>
              <a:t>печатных форм нормам ЕСКД.</a:t>
            </a:r>
          </a:p>
          <a:p>
            <a:endParaRPr lang="ru-RU" dirty="0" smtClean="0"/>
          </a:p>
          <a:p>
            <a:pPr>
              <a:buNone/>
            </a:pPr>
            <a:r>
              <a:rPr lang="ru-RU" dirty="0" smtClean="0"/>
              <a:t>	Эффект:</a:t>
            </a:r>
          </a:p>
          <a:p>
            <a:pPr>
              <a:buNone/>
            </a:pPr>
            <a:r>
              <a:rPr lang="ru-RU" dirty="0" smtClean="0"/>
              <a:t>	1. Все необходимые отчеты по жизненному циклу изделия автоматически генерируется непосредственно из СУЖЦ</a:t>
            </a:r>
          </a:p>
          <a:p>
            <a:pPr>
              <a:buNone/>
            </a:pPr>
            <a:r>
              <a:rPr lang="ru-RU" dirty="0" smtClean="0"/>
              <a:t>	2. Вся сопроводительная документация приведена в соответствие с ГОСТ на ЕСКД. </a:t>
            </a:r>
          </a:p>
          <a:p>
            <a:pPr>
              <a:buNone/>
            </a:pPr>
            <a:endParaRPr lang="ru-RU" dirty="0" smtClean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3608" y="274638"/>
            <a:ext cx="8100392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Синхронизация данных в различных информационных системах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187624" y="1556792"/>
            <a:ext cx="7499350" cy="411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1259632" y="5657671"/>
            <a:ext cx="7560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Эффект:</a:t>
            </a:r>
          </a:p>
          <a:p>
            <a:r>
              <a:rPr lang="ru-RU" dirty="0" smtClean="0"/>
              <a:t>Данные во всех КИС предприятия синхронизированы, при генерации отчетов не будут возникать ошибки и неоднозначности.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Экономическая эффективность</a:t>
            </a:r>
            <a:endParaRPr lang="ru-RU" dirty="0"/>
          </a:p>
        </p:txBody>
      </p:sp>
      <p:graphicFrame>
        <p:nvGraphicFramePr>
          <p:cNvPr id="5" name="Содержимое 4"/>
          <p:cNvGraphicFramePr>
            <a:graphicFrameLocks noGrp="1"/>
          </p:cNvGraphicFramePr>
          <p:nvPr>
            <p:ph idx="1"/>
          </p:nvPr>
        </p:nvGraphicFramePr>
        <p:xfrm>
          <a:off x="1043608" y="1556793"/>
          <a:ext cx="7776864" cy="3209740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5400600"/>
                <a:gridCol w="1152128"/>
                <a:gridCol w="1224136"/>
              </a:tblGrid>
              <a:tr h="23627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Показатель эффективности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AS-IS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 smtClean="0"/>
                        <a:t>TO</a:t>
                      </a:r>
                      <a:r>
                        <a:rPr lang="ru-RU" sz="1400" baseline="0" dirty="0" smtClean="0"/>
                        <a:t> </a:t>
                      </a:r>
                      <a:r>
                        <a:rPr lang="ru-RU" sz="1400" dirty="0" smtClean="0"/>
                        <a:t>BE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Среднее количество введенных в производство изделий в год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5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7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Среднее количество завершенных (отчужденных) заказов в год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3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4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58977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Качественные показатели продукции (% отказа во время гарантированного срока эксплуатации)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0,4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0,25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Среднее время освоения производства изделия (мес.)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18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15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Количество использованных пачек бумаги А4 на заказ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60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36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59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Количество рулонов бумаги для широкоформатной печати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8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26870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Количество использованных картриджей (шт.)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30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/>
                        <a:t>18</a:t>
                      </a:r>
                      <a:endParaRPr lang="ru-RU" sz="14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971600" y="5013176"/>
            <a:ext cx="784887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ru-RU" dirty="0" smtClean="0"/>
              <a:t>Ежемесячная экономия на расходных материалах составит около </a:t>
            </a:r>
            <a:r>
              <a:rPr lang="ru-RU" b="1" dirty="0" smtClean="0"/>
              <a:t>210 тысяч рублей в год</a:t>
            </a:r>
            <a:r>
              <a:rPr lang="ru-RU" dirty="0" smtClean="0"/>
              <a:t>.</a:t>
            </a:r>
          </a:p>
          <a:p>
            <a:pPr>
              <a:spcBef>
                <a:spcPts val="1200"/>
              </a:spcBef>
            </a:pPr>
            <a:r>
              <a:rPr lang="ru-RU" dirty="0" smtClean="0"/>
              <a:t>Дополнительная прибыль от ускорения обработки заказов будет составлять </a:t>
            </a:r>
            <a:r>
              <a:rPr lang="ru-RU" b="1" dirty="0" smtClean="0"/>
              <a:t>от 1 до 10 миллионов рублей в год</a:t>
            </a:r>
            <a:r>
              <a:rPr lang="ru-RU" dirty="0" smtClean="0"/>
              <a:t>, в зависимости от количества поступаемых заказов. </a:t>
            </a:r>
            <a:endParaRPr lang="en-US" dirty="0" smtClean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Разработаны методические рекомендации по организации  перехода специалистов к работе в новой системе;</a:t>
            </a:r>
          </a:p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ЕСКД;</a:t>
            </a:r>
          </a:p>
          <a:p>
            <a:r>
              <a:rPr lang="ru-RU" dirty="0" smtClean="0"/>
              <a:t>Определен перечень отчетов, требующих реализации в виде самостоятельного программного модуля и предоставлены требования к ним;</a:t>
            </a:r>
          </a:p>
          <a:p>
            <a:r>
              <a:rPr lang="ru-RU" dirty="0" smtClean="0"/>
              <a:t>Создана объектная модель, удовлетворяющая всем потребностям предприятия при автоматической обработке изделия и работе с документацией;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системах;</a:t>
            </a:r>
          </a:p>
          <a:p>
            <a:r>
              <a:rPr lang="ru-RU" b="1" dirty="0" smtClean="0"/>
              <a:t>СУЖЦ приведена в работоспособное состояния и может реализовать требуемый функционал.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2930</TotalTime>
  <Words>576</Words>
  <Application>Microsoft Office PowerPoint</Application>
  <PresentationFormat>Экран (4:3)</PresentationFormat>
  <Paragraphs>172</Paragraphs>
  <Slides>17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Солнцестояние</vt:lpstr>
      <vt:lpstr>ВЫПУСКНАЯ КВАЛИФИКАЦИОННАЯ (БАКАЛАВРСКАЯ) РАБОТА 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vt:lpstr>
      <vt:lpstr>Описание работы</vt:lpstr>
      <vt:lpstr>Задачи работы</vt:lpstr>
      <vt:lpstr>Информационное обеспечение</vt:lpstr>
      <vt:lpstr>Описание ПАО «Радиозавод»</vt:lpstr>
      <vt:lpstr> PTC Windchill </vt:lpstr>
      <vt:lpstr>Управление жизненным циклом продукции на ПАО «Радиозавод»</vt:lpstr>
      <vt:lpstr>Обзор выявленных проблем функционирования информационного обеспечения СУЖЦ</vt:lpstr>
      <vt:lpstr>Негативные эффекты выявленных проблем</vt:lpstr>
      <vt:lpstr>Алгоритм перехода специалистов к работе в СУЖЦ</vt:lpstr>
      <vt:lpstr>Обновление объектной модели Windchill</vt:lpstr>
      <vt:lpstr>Проведение конструкторских изменений</vt:lpstr>
      <vt:lpstr>Система отчетов</vt:lpstr>
      <vt:lpstr>Синхронизация данных в различных информационных системах</vt:lpstr>
      <vt:lpstr>Экономическая эффективность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user</cp:lastModifiedBy>
  <cp:revision>194</cp:revision>
  <dcterms:created xsi:type="dcterms:W3CDTF">2016-05-07T16:58:22Z</dcterms:created>
  <dcterms:modified xsi:type="dcterms:W3CDTF">2016-06-14T07:46:17Z</dcterms:modified>
</cp:coreProperties>
</file>