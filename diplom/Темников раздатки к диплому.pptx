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7" r:id="rId6"/>
    <p:sldId id="261" r:id="rId7"/>
    <p:sldId id="269" r:id="rId8"/>
    <p:sldId id="275" r:id="rId9"/>
    <p:sldId id="271" r:id="rId10"/>
    <p:sldId id="270" r:id="rId11"/>
    <p:sldId id="276" r:id="rId12"/>
    <p:sldId id="272" r:id="rId13"/>
    <p:sldId id="273" r:id="rId14"/>
    <p:sldId id="274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4" autoAdjust="0"/>
    <p:restoredTop sz="94660"/>
  </p:normalViewPr>
  <p:slideViewPr>
    <p:cSldViewPr>
      <p:cViewPr varScale="1">
        <p:scale>
          <a:sx n="99" d="100"/>
          <a:sy n="99" d="100"/>
        </p:scale>
        <p:origin x="-3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title>
      <c:tx>
        <c:rich>
          <a:bodyPr/>
          <a:lstStyle/>
          <a:p>
            <a:pPr>
              <a:defRPr/>
            </a:pPr>
            <a:r>
              <a:rPr lang="ru-RU" dirty="0" smtClean="0"/>
              <a:t>Соотношение</a:t>
            </a:r>
            <a:r>
              <a:rPr lang="ru-RU" baseline="0" dirty="0" smtClean="0"/>
              <a:t> рабочих мест</a:t>
            </a:r>
            <a:endParaRPr lang="ru-RU" dirty="0"/>
          </a:p>
        </c:rich>
      </c:tx>
      <c:layout/>
    </c:title>
    <c:plotArea>
      <c:layout>
        <c:manualLayout>
          <c:layoutTarget val="inner"/>
          <c:xMode val="edge"/>
          <c:yMode val="edge"/>
          <c:x val="1.6696397532890622E-2"/>
          <c:y val="0.24731418731252142"/>
          <c:w val="0.46171437940587307"/>
          <c:h val="0.63613981162587097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explosion val="11"/>
          </c:dPt>
          <c:dLbls>
            <c:showVal val="1"/>
            <c:showLeaderLines val="1"/>
          </c:dLbls>
          <c:cat>
            <c:strRef>
              <c:f>Лист1!$A$2:$A$3</c:f>
              <c:strCache>
                <c:ptCount val="2"/>
                <c:pt idx="0">
                  <c:v>Оснащенные АРМ</c:v>
                </c:pt>
                <c:pt idx="1">
                  <c:v>Неоснащенные АРМ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300</c:v>
                </c:pt>
                <c:pt idx="1">
                  <c:v>1000</c:v>
                </c:pt>
              </c:numCache>
            </c:numRef>
          </c:val>
        </c:ser>
        <c:firstSliceAng val="0"/>
      </c:pieChart>
    </c:plotArea>
    <c:legend>
      <c:legendPos val="r"/>
      <c:layout>
        <c:manualLayout>
          <c:xMode val="edge"/>
          <c:yMode val="edge"/>
          <c:x val="0.49795856015998352"/>
          <c:y val="0.26828827962204843"/>
          <c:w val="0.47075011378664072"/>
          <c:h val="0.61617777725816791"/>
        </c:manualLayout>
      </c:layout>
    </c:legend>
    <c:plotVisOnly val="1"/>
  </c:chart>
  <c:txPr>
    <a:bodyPr/>
    <a:lstStyle/>
    <a:p>
      <a:pPr>
        <a:defRPr sz="1800"/>
      </a:pPr>
      <a:endParaRPr lang="ru-RU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plotArea>
      <c:layout/>
      <c:barChart>
        <c:barDir val="col"/>
        <c:grouping val="clustered"/>
        <c:ser>
          <c:idx val="0"/>
          <c:order val="0"/>
          <c:tx>
            <c:strRef>
              <c:f>Лист1!$B$1</c:f>
              <c:strCache>
                <c:ptCount val="1"/>
                <c:pt idx="0">
                  <c:v>Выручка</c:v>
                </c:pt>
              </c:strCache>
            </c:strRef>
          </c:tx>
          <c:cat>
            <c:numRef>
              <c:f>Лист1!$A$2:$A$3</c:f>
              <c:numCache>
                <c:formatCode>General</c:formatCode>
                <c:ptCount val="2"/>
                <c:pt idx="0">
                  <c:v>2014</c:v>
                </c:pt>
                <c:pt idx="1">
                  <c:v>2015</c:v>
                </c:pt>
              </c:numCache>
            </c:num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2300</c:v>
                </c:pt>
                <c:pt idx="1">
                  <c:v>2700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Выпуск продукции</c:v>
                </c:pt>
              </c:strCache>
            </c:strRef>
          </c:tx>
          <c:cat>
            <c:numRef>
              <c:f>Лист1!$A$2:$A$3</c:f>
              <c:numCache>
                <c:formatCode>General</c:formatCode>
                <c:ptCount val="2"/>
                <c:pt idx="0">
                  <c:v>2014</c:v>
                </c:pt>
                <c:pt idx="1">
                  <c:v>2015</c:v>
                </c:pt>
              </c:numCache>
            </c:num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2200</c:v>
                </c:pt>
                <c:pt idx="1">
                  <c:v>2600</c:v>
                </c:pt>
              </c:numCache>
            </c:numRef>
          </c:val>
        </c:ser>
        <c:axId val="69437696"/>
        <c:axId val="69443584"/>
      </c:barChart>
      <c:catAx>
        <c:axId val="69437696"/>
        <c:scaling>
          <c:orientation val="minMax"/>
        </c:scaling>
        <c:axPos val="b"/>
        <c:numFmt formatCode="General" sourceLinked="1"/>
        <c:tickLblPos val="nextTo"/>
        <c:crossAx val="69443584"/>
        <c:crosses val="autoZero"/>
        <c:auto val="1"/>
        <c:lblAlgn val="ctr"/>
        <c:lblOffset val="100"/>
      </c:catAx>
      <c:valAx>
        <c:axId val="69443584"/>
        <c:scaling>
          <c:orientation val="minMax"/>
        </c:scaling>
        <c:axPos val="l"/>
        <c:majorGridlines/>
        <c:numFmt formatCode="General" sourceLinked="1"/>
        <c:tickLblPos val="nextTo"/>
        <c:crossAx val="69437696"/>
        <c:crosses val="autoZero"/>
        <c:crossBetween val="between"/>
      </c:valAx>
    </c:plotArea>
    <c:legend>
      <c:legendPos val="r"/>
      <c:layout/>
    </c:legend>
    <c:plotVisOnly val="1"/>
  </c:chart>
  <c:txPr>
    <a:bodyPr/>
    <a:lstStyle/>
    <a:p>
      <a:pPr>
        <a:defRPr sz="1800"/>
      </a:pPr>
      <a:endParaRPr lang="ru-RU"/>
    </a:p>
  </c:txPr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4351CD-DDEE-4C94-BB34-847B0B8C60E7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D8D83173-D390-4DCB-9C7A-4707ABE88E3E}">
      <dgm:prSet phldrT="[Текст]" custT="1"/>
      <dgm:spPr/>
      <dgm:t>
        <a:bodyPr/>
        <a:lstStyle/>
        <a:p>
          <a:r>
            <a:rPr lang="ru-RU" sz="2000" dirty="0" smtClean="0"/>
            <a:t>Источник данных</a:t>
          </a:r>
          <a:endParaRPr lang="ru-RU" sz="2000" dirty="0"/>
        </a:p>
      </dgm:t>
    </dgm:pt>
    <dgm:pt modelId="{1CE6144B-2EEE-46B7-80EB-12DFF5CDB262}" type="parTrans" cxnId="{D463D5BB-1422-4FB1-A459-C047D6CA4054}">
      <dgm:prSet/>
      <dgm:spPr/>
      <dgm:t>
        <a:bodyPr/>
        <a:lstStyle/>
        <a:p>
          <a:endParaRPr lang="ru-RU"/>
        </a:p>
      </dgm:t>
    </dgm:pt>
    <dgm:pt modelId="{4C68C74E-8D09-4EBF-B5C1-D6C4BA5076FA}" type="sibTrans" cxnId="{D463D5BB-1422-4FB1-A459-C047D6CA4054}">
      <dgm:prSet/>
      <dgm:spPr/>
      <dgm:t>
        <a:bodyPr/>
        <a:lstStyle/>
        <a:p>
          <a:endParaRPr lang="ru-RU"/>
        </a:p>
      </dgm:t>
    </dgm:pt>
    <dgm:pt modelId="{DB9E0135-4CA6-438F-9689-A532D6BC4F03}">
      <dgm:prSet phldrT="[Текст]" custT="1"/>
      <dgm:spPr/>
      <dgm:t>
        <a:bodyPr/>
        <a:lstStyle/>
        <a:p>
          <a:r>
            <a:rPr lang="ru-RU" sz="2000" dirty="0" smtClean="0"/>
            <a:t>Информационное обеспечение</a:t>
          </a:r>
          <a:endParaRPr lang="ru-RU" sz="2000" dirty="0"/>
        </a:p>
      </dgm:t>
    </dgm:pt>
    <dgm:pt modelId="{9132188F-F245-4CA6-BC8A-B1620824BFA5}" type="parTrans" cxnId="{709C586F-57B8-4F72-BE8E-08A91EF6AE8B}">
      <dgm:prSet/>
      <dgm:spPr/>
      <dgm:t>
        <a:bodyPr/>
        <a:lstStyle/>
        <a:p>
          <a:endParaRPr lang="ru-RU"/>
        </a:p>
      </dgm:t>
    </dgm:pt>
    <dgm:pt modelId="{A332F93A-F5F1-4CE8-A9D6-AF4377FFD1C4}" type="sibTrans" cxnId="{709C586F-57B8-4F72-BE8E-08A91EF6AE8B}">
      <dgm:prSet/>
      <dgm:spPr/>
      <dgm:t>
        <a:bodyPr/>
        <a:lstStyle/>
        <a:p>
          <a:endParaRPr lang="ru-RU"/>
        </a:p>
      </dgm:t>
    </dgm:pt>
    <dgm:pt modelId="{2E143423-D846-4FC3-B092-A5E5A8AD58D8}">
      <dgm:prSet phldrT="[Текст]" custT="1"/>
      <dgm:spPr/>
      <dgm:t>
        <a:bodyPr/>
        <a:lstStyle/>
        <a:p>
          <a:r>
            <a:rPr lang="ru-RU" sz="2000" dirty="0" smtClean="0"/>
            <a:t>Информационная система</a:t>
          </a:r>
          <a:endParaRPr lang="ru-RU" sz="2000" dirty="0"/>
        </a:p>
      </dgm:t>
    </dgm:pt>
    <dgm:pt modelId="{05759D80-FE95-428F-B4F6-B527AC806F6D}" type="parTrans" cxnId="{5BAB40A1-4326-4822-A6C0-41B5C2FF2221}">
      <dgm:prSet/>
      <dgm:spPr/>
      <dgm:t>
        <a:bodyPr/>
        <a:lstStyle/>
        <a:p>
          <a:endParaRPr lang="ru-RU"/>
        </a:p>
      </dgm:t>
    </dgm:pt>
    <dgm:pt modelId="{EA213773-A95A-468A-B388-2C764C76314E}" type="sibTrans" cxnId="{5BAB40A1-4326-4822-A6C0-41B5C2FF2221}">
      <dgm:prSet/>
      <dgm:spPr/>
      <dgm:t>
        <a:bodyPr/>
        <a:lstStyle/>
        <a:p>
          <a:endParaRPr lang="ru-RU"/>
        </a:p>
      </dgm:t>
    </dgm:pt>
    <dgm:pt modelId="{44A115B1-7E92-4D36-82CD-D78B477DD944}">
      <dgm:prSet phldrT="[Текст]" custT="1"/>
      <dgm:spPr/>
      <dgm:t>
        <a:bodyPr/>
        <a:lstStyle/>
        <a:p>
          <a:r>
            <a:rPr lang="ru-RU" sz="2000" dirty="0" smtClean="0"/>
            <a:t>Информационное обеспечение</a:t>
          </a:r>
          <a:endParaRPr lang="ru-RU" sz="2000" dirty="0"/>
        </a:p>
      </dgm:t>
    </dgm:pt>
    <dgm:pt modelId="{FFCCD4BA-C931-4F01-9569-C24FFC0443FC}" type="parTrans" cxnId="{FB4BE385-CE16-4C5E-934B-8C97A0780FC0}">
      <dgm:prSet/>
      <dgm:spPr/>
      <dgm:t>
        <a:bodyPr/>
        <a:lstStyle/>
        <a:p>
          <a:endParaRPr lang="ru-RU"/>
        </a:p>
      </dgm:t>
    </dgm:pt>
    <dgm:pt modelId="{B3449E95-8B80-4D3B-88B1-7E8C8089BFE4}" type="sibTrans" cxnId="{FB4BE385-CE16-4C5E-934B-8C97A0780FC0}">
      <dgm:prSet/>
      <dgm:spPr/>
      <dgm:t>
        <a:bodyPr/>
        <a:lstStyle/>
        <a:p>
          <a:endParaRPr lang="ru-RU"/>
        </a:p>
      </dgm:t>
    </dgm:pt>
    <dgm:pt modelId="{FFDC4EE2-A19D-4573-894A-912F7F979952}">
      <dgm:prSet phldrT="[Текст]" custT="1"/>
      <dgm:spPr/>
      <dgm:t>
        <a:bodyPr/>
        <a:lstStyle/>
        <a:p>
          <a:r>
            <a:rPr lang="ru-RU" sz="2000" dirty="0" smtClean="0"/>
            <a:t>Потребитель</a:t>
          </a:r>
          <a:endParaRPr lang="ru-RU" sz="2000" dirty="0"/>
        </a:p>
      </dgm:t>
    </dgm:pt>
    <dgm:pt modelId="{051363D7-25C8-4599-9148-8DAF0CA87CE5}" type="parTrans" cxnId="{9CCC1154-8FC0-4838-AA08-4BAD5274BA55}">
      <dgm:prSet/>
      <dgm:spPr/>
      <dgm:t>
        <a:bodyPr/>
        <a:lstStyle/>
        <a:p>
          <a:endParaRPr lang="ru-RU"/>
        </a:p>
      </dgm:t>
    </dgm:pt>
    <dgm:pt modelId="{E76832B0-D844-4FA3-9465-74844B301A7F}" type="sibTrans" cxnId="{9CCC1154-8FC0-4838-AA08-4BAD5274BA55}">
      <dgm:prSet/>
      <dgm:spPr/>
      <dgm:t>
        <a:bodyPr/>
        <a:lstStyle/>
        <a:p>
          <a:endParaRPr lang="ru-RU"/>
        </a:p>
      </dgm:t>
    </dgm:pt>
    <dgm:pt modelId="{1F0E8ECC-1DD3-42F1-AF87-AA9B7B2C32E4}" type="pres">
      <dgm:prSet presAssocID="{6E4351CD-DDEE-4C94-BB34-847B0B8C60E7}" presName="linearFlow" presStyleCnt="0">
        <dgm:presLayoutVars>
          <dgm:resizeHandles val="exact"/>
        </dgm:presLayoutVars>
      </dgm:prSet>
      <dgm:spPr/>
    </dgm:pt>
    <dgm:pt modelId="{D8D8CB3C-ADA6-460A-9B0F-FBA7C668EE2E}" type="pres">
      <dgm:prSet presAssocID="{D8D83173-D390-4DCB-9C7A-4707ABE88E3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814B84-C840-4CB8-B840-53E7A5F47A56}" type="pres">
      <dgm:prSet presAssocID="{4C68C74E-8D09-4EBF-B5C1-D6C4BA5076FA}" presName="sibTrans" presStyleLbl="sibTrans2D1" presStyleIdx="0" presStyleCnt="4"/>
      <dgm:spPr/>
      <dgm:t>
        <a:bodyPr/>
        <a:lstStyle/>
        <a:p>
          <a:endParaRPr lang="ru-RU"/>
        </a:p>
      </dgm:t>
    </dgm:pt>
    <dgm:pt modelId="{5FF483EC-41CB-43D7-BEA5-773F7A488FF3}" type="pres">
      <dgm:prSet presAssocID="{4C68C74E-8D09-4EBF-B5C1-D6C4BA5076FA}" presName="connectorText" presStyleLbl="sibTrans2D1" presStyleIdx="0" presStyleCnt="4"/>
      <dgm:spPr/>
      <dgm:t>
        <a:bodyPr/>
        <a:lstStyle/>
        <a:p>
          <a:endParaRPr lang="ru-RU"/>
        </a:p>
      </dgm:t>
    </dgm:pt>
    <dgm:pt modelId="{4368DC4C-2B20-405B-B020-FD8CE3BADAE5}" type="pres">
      <dgm:prSet presAssocID="{DB9E0135-4CA6-438F-9689-A532D6BC4F03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B60C0B9-D263-4AE2-957D-39BD98BBDE75}" type="pres">
      <dgm:prSet presAssocID="{A332F93A-F5F1-4CE8-A9D6-AF4377FFD1C4}" presName="sibTrans" presStyleLbl="sibTrans2D1" presStyleIdx="1" presStyleCnt="4"/>
      <dgm:spPr/>
      <dgm:t>
        <a:bodyPr/>
        <a:lstStyle/>
        <a:p>
          <a:endParaRPr lang="ru-RU"/>
        </a:p>
      </dgm:t>
    </dgm:pt>
    <dgm:pt modelId="{05A6DDF8-2555-4B34-8235-18E03D303814}" type="pres">
      <dgm:prSet presAssocID="{A332F93A-F5F1-4CE8-A9D6-AF4377FFD1C4}" presName="connectorText" presStyleLbl="sibTrans2D1" presStyleIdx="1" presStyleCnt="4"/>
      <dgm:spPr/>
      <dgm:t>
        <a:bodyPr/>
        <a:lstStyle/>
        <a:p>
          <a:endParaRPr lang="ru-RU"/>
        </a:p>
      </dgm:t>
    </dgm:pt>
    <dgm:pt modelId="{D70F2819-3677-4A0F-83DA-A4C2BAF9B175}" type="pres">
      <dgm:prSet presAssocID="{2E143423-D846-4FC3-B092-A5E5A8AD58D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994AA3-1769-489F-80D9-DFD47A786B8B}" type="pres">
      <dgm:prSet presAssocID="{EA213773-A95A-468A-B388-2C764C76314E}" presName="sibTrans" presStyleLbl="sibTrans2D1" presStyleIdx="2" presStyleCnt="4"/>
      <dgm:spPr/>
      <dgm:t>
        <a:bodyPr/>
        <a:lstStyle/>
        <a:p>
          <a:endParaRPr lang="ru-RU"/>
        </a:p>
      </dgm:t>
    </dgm:pt>
    <dgm:pt modelId="{05F33685-B05A-491F-BD1D-4505CFD8BD5E}" type="pres">
      <dgm:prSet presAssocID="{EA213773-A95A-468A-B388-2C764C76314E}" presName="connectorText" presStyleLbl="sibTrans2D1" presStyleIdx="2" presStyleCnt="4"/>
      <dgm:spPr/>
      <dgm:t>
        <a:bodyPr/>
        <a:lstStyle/>
        <a:p>
          <a:endParaRPr lang="ru-RU"/>
        </a:p>
      </dgm:t>
    </dgm:pt>
    <dgm:pt modelId="{4C5365E0-9431-4A5A-AF12-AF1C1ADC926F}" type="pres">
      <dgm:prSet presAssocID="{44A115B1-7E92-4D36-82CD-D78B477DD944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70D027E-0031-46C3-815D-2D7282544530}" type="pres">
      <dgm:prSet presAssocID="{B3449E95-8B80-4D3B-88B1-7E8C8089BFE4}" presName="sibTrans" presStyleLbl="sibTrans2D1" presStyleIdx="3" presStyleCnt="4"/>
      <dgm:spPr/>
      <dgm:t>
        <a:bodyPr/>
        <a:lstStyle/>
        <a:p>
          <a:endParaRPr lang="ru-RU"/>
        </a:p>
      </dgm:t>
    </dgm:pt>
    <dgm:pt modelId="{450A17E4-98BC-4FE5-A57B-EFE300CEDD60}" type="pres">
      <dgm:prSet presAssocID="{B3449E95-8B80-4D3B-88B1-7E8C8089BFE4}" presName="connectorText" presStyleLbl="sibTrans2D1" presStyleIdx="3" presStyleCnt="4"/>
      <dgm:spPr/>
      <dgm:t>
        <a:bodyPr/>
        <a:lstStyle/>
        <a:p>
          <a:endParaRPr lang="ru-RU"/>
        </a:p>
      </dgm:t>
    </dgm:pt>
    <dgm:pt modelId="{E2A8A1ED-0DF9-44D3-81C0-D751A923E2ED}" type="pres">
      <dgm:prSet presAssocID="{FFDC4EE2-A19D-4573-894A-912F7F979952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AD06C16-61A2-4091-92A8-F2CA8E3AE613}" type="presOf" srcId="{6E4351CD-DDEE-4C94-BB34-847B0B8C60E7}" destId="{1F0E8ECC-1DD3-42F1-AF87-AA9B7B2C32E4}" srcOrd="0" destOrd="0" presId="urn:microsoft.com/office/officeart/2005/8/layout/process2"/>
    <dgm:cxn modelId="{5BAB40A1-4326-4822-A6C0-41B5C2FF2221}" srcId="{6E4351CD-DDEE-4C94-BB34-847B0B8C60E7}" destId="{2E143423-D846-4FC3-B092-A5E5A8AD58D8}" srcOrd="2" destOrd="0" parTransId="{05759D80-FE95-428F-B4F6-B527AC806F6D}" sibTransId="{EA213773-A95A-468A-B388-2C764C76314E}"/>
    <dgm:cxn modelId="{9B1FBE1E-1BA7-42BC-8603-C81FE78E65B6}" type="presOf" srcId="{44A115B1-7E92-4D36-82CD-D78B477DD944}" destId="{4C5365E0-9431-4A5A-AF12-AF1C1ADC926F}" srcOrd="0" destOrd="0" presId="urn:microsoft.com/office/officeart/2005/8/layout/process2"/>
    <dgm:cxn modelId="{494EE28A-14E3-49F3-94BC-AA711284A705}" type="presOf" srcId="{DB9E0135-4CA6-438F-9689-A532D6BC4F03}" destId="{4368DC4C-2B20-405B-B020-FD8CE3BADAE5}" srcOrd="0" destOrd="0" presId="urn:microsoft.com/office/officeart/2005/8/layout/process2"/>
    <dgm:cxn modelId="{D68626BD-549D-4A6F-8CAA-56D448F78403}" type="presOf" srcId="{4C68C74E-8D09-4EBF-B5C1-D6C4BA5076FA}" destId="{5FF483EC-41CB-43D7-BEA5-773F7A488FF3}" srcOrd="1" destOrd="0" presId="urn:microsoft.com/office/officeart/2005/8/layout/process2"/>
    <dgm:cxn modelId="{709C586F-57B8-4F72-BE8E-08A91EF6AE8B}" srcId="{6E4351CD-DDEE-4C94-BB34-847B0B8C60E7}" destId="{DB9E0135-4CA6-438F-9689-A532D6BC4F03}" srcOrd="1" destOrd="0" parTransId="{9132188F-F245-4CA6-BC8A-B1620824BFA5}" sibTransId="{A332F93A-F5F1-4CE8-A9D6-AF4377FFD1C4}"/>
    <dgm:cxn modelId="{48CA92A3-EF0C-4E77-B308-9A2750B5C449}" type="presOf" srcId="{B3449E95-8B80-4D3B-88B1-7E8C8089BFE4}" destId="{E70D027E-0031-46C3-815D-2D7282544530}" srcOrd="0" destOrd="0" presId="urn:microsoft.com/office/officeart/2005/8/layout/process2"/>
    <dgm:cxn modelId="{5AABA2C0-BE8E-49F7-93EF-DA63ADAE63CF}" type="presOf" srcId="{4C68C74E-8D09-4EBF-B5C1-D6C4BA5076FA}" destId="{B7814B84-C840-4CB8-B840-53E7A5F47A56}" srcOrd="0" destOrd="0" presId="urn:microsoft.com/office/officeart/2005/8/layout/process2"/>
    <dgm:cxn modelId="{6598B7E8-8AA3-45E2-B090-06D84CCEAC42}" type="presOf" srcId="{A332F93A-F5F1-4CE8-A9D6-AF4377FFD1C4}" destId="{05A6DDF8-2555-4B34-8235-18E03D303814}" srcOrd="1" destOrd="0" presId="urn:microsoft.com/office/officeart/2005/8/layout/process2"/>
    <dgm:cxn modelId="{12307573-380A-4508-A528-48C14F4AEB43}" type="presOf" srcId="{EA213773-A95A-468A-B388-2C764C76314E}" destId="{B7994AA3-1769-489F-80D9-DFD47A786B8B}" srcOrd="0" destOrd="0" presId="urn:microsoft.com/office/officeart/2005/8/layout/process2"/>
    <dgm:cxn modelId="{FB4BE385-CE16-4C5E-934B-8C97A0780FC0}" srcId="{6E4351CD-DDEE-4C94-BB34-847B0B8C60E7}" destId="{44A115B1-7E92-4D36-82CD-D78B477DD944}" srcOrd="3" destOrd="0" parTransId="{FFCCD4BA-C931-4F01-9569-C24FFC0443FC}" sibTransId="{B3449E95-8B80-4D3B-88B1-7E8C8089BFE4}"/>
    <dgm:cxn modelId="{94F10C03-2BAD-475F-9D8C-AD2CE1744DED}" type="presOf" srcId="{D8D83173-D390-4DCB-9C7A-4707ABE88E3E}" destId="{D8D8CB3C-ADA6-460A-9B0F-FBA7C668EE2E}" srcOrd="0" destOrd="0" presId="urn:microsoft.com/office/officeart/2005/8/layout/process2"/>
    <dgm:cxn modelId="{E191EB22-6702-42A0-97DA-3967F4484EE2}" type="presOf" srcId="{B3449E95-8B80-4D3B-88B1-7E8C8089BFE4}" destId="{450A17E4-98BC-4FE5-A57B-EFE300CEDD60}" srcOrd="1" destOrd="0" presId="urn:microsoft.com/office/officeart/2005/8/layout/process2"/>
    <dgm:cxn modelId="{9CCC1154-8FC0-4838-AA08-4BAD5274BA55}" srcId="{6E4351CD-DDEE-4C94-BB34-847B0B8C60E7}" destId="{FFDC4EE2-A19D-4573-894A-912F7F979952}" srcOrd="4" destOrd="0" parTransId="{051363D7-25C8-4599-9148-8DAF0CA87CE5}" sibTransId="{E76832B0-D844-4FA3-9465-74844B301A7F}"/>
    <dgm:cxn modelId="{D463D5BB-1422-4FB1-A459-C047D6CA4054}" srcId="{6E4351CD-DDEE-4C94-BB34-847B0B8C60E7}" destId="{D8D83173-D390-4DCB-9C7A-4707ABE88E3E}" srcOrd="0" destOrd="0" parTransId="{1CE6144B-2EEE-46B7-80EB-12DFF5CDB262}" sibTransId="{4C68C74E-8D09-4EBF-B5C1-D6C4BA5076FA}"/>
    <dgm:cxn modelId="{DD471AFC-0EBA-41E8-A0D6-C11DBC6F8FFD}" type="presOf" srcId="{EA213773-A95A-468A-B388-2C764C76314E}" destId="{05F33685-B05A-491F-BD1D-4505CFD8BD5E}" srcOrd="1" destOrd="0" presId="urn:microsoft.com/office/officeart/2005/8/layout/process2"/>
    <dgm:cxn modelId="{1FCCEDB9-5C31-4C59-B9F8-5B9736109E17}" type="presOf" srcId="{2E143423-D846-4FC3-B092-A5E5A8AD58D8}" destId="{D70F2819-3677-4A0F-83DA-A4C2BAF9B175}" srcOrd="0" destOrd="0" presId="urn:microsoft.com/office/officeart/2005/8/layout/process2"/>
    <dgm:cxn modelId="{4D8BA143-8C14-4B88-A2F0-C51782734A2F}" type="presOf" srcId="{A332F93A-F5F1-4CE8-A9D6-AF4377FFD1C4}" destId="{CB60C0B9-D263-4AE2-957D-39BD98BBDE75}" srcOrd="0" destOrd="0" presId="urn:microsoft.com/office/officeart/2005/8/layout/process2"/>
    <dgm:cxn modelId="{963F49A3-6EBA-415A-85A4-49134F743FFB}" type="presOf" srcId="{FFDC4EE2-A19D-4573-894A-912F7F979952}" destId="{E2A8A1ED-0DF9-44D3-81C0-D751A923E2ED}" srcOrd="0" destOrd="0" presId="urn:microsoft.com/office/officeart/2005/8/layout/process2"/>
    <dgm:cxn modelId="{B1E71E58-2D35-4A74-9968-25F53376E841}" type="presParOf" srcId="{1F0E8ECC-1DD3-42F1-AF87-AA9B7B2C32E4}" destId="{D8D8CB3C-ADA6-460A-9B0F-FBA7C668EE2E}" srcOrd="0" destOrd="0" presId="urn:microsoft.com/office/officeart/2005/8/layout/process2"/>
    <dgm:cxn modelId="{1252137C-9564-4D66-ADE8-0AEC74F7DA35}" type="presParOf" srcId="{1F0E8ECC-1DD3-42F1-AF87-AA9B7B2C32E4}" destId="{B7814B84-C840-4CB8-B840-53E7A5F47A56}" srcOrd="1" destOrd="0" presId="urn:microsoft.com/office/officeart/2005/8/layout/process2"/>
    <dgm:cxn modelId="{F376AED7-988A-494C-BCB4-3EABFF8A5DCD}" type="presParOf" srcId="{B7814B84-C840-4CB8-B840-53E7A5F47A56}" destId="{5FF483EC-41CB-43D7-BEA5-773F7A488FF3}" srcOrd="0" destOrd="0" presId="urn:microsoft.com/office/officeart/2005/8/layout/process2"/>
    <dgm:cxn modelId="{44540A91-3543-4FE0-A1B9-5053DF00ED5A}" type="presParOf" srcId="{1F0E8ECC-1DD3-42F1-AF87-AA9B7B2C32E4}" destId="{4368DC4C-2B20-405B-B020-FD8CE3BADAE5}" srcOrd="2" destOrd="0" presId="urn:microsoft.com/office/officeart/2005/8/layout/process2"/>
    <dgm:cxn modelId="{2E4F0DE4-8861-42D9-898E-0C0565CA484B}" type="presParOf" srcId="{1F0E8ECC-1DD3-42F1-AF87-AA9B7B2C32E4}" destId="{CB60C0B9-D263-4AE2-957D-39BD98BBDE75}" srcOrd="3" destOrd="0" presId="urn:microsoft.com/office/officeart/2005/8/layout/process2"/>
    <dgm:cxn modelId="{8044EDC0-3C56-4ECF-A2B3-CE3F1302FE99}" type="presParOf" srcId="{CB60C0B9-D263-4AE2-957D-39BD98BBDE75}" destId="{05A6DDF8-2555-4B34-8235-18E03D303814}" srcOrd="0" destOrd="0" presId="urn:microsoft.com/office/officeart/2005/8/layout/process2"/>
    <dgm:cxn modelId="{B53840B7-40B2-4960-85CA-F5420B8EDA9F}" type="presParOf" srcId="{1F0E8ECC-1DD3-42F1-AF87-AA9B7B2C32E4}" destId="{D70F2819-3677-4A0F-83DA-A4C2BAF9B175}" srcOrd="4" destOrd="0" presId="urn:microsoft.com/office/officeart/2005/8/layout/process2"/>
    <dgm:cxn modelId="{5D0A9F77-08C7-4466-BE71-EC0D0CD48EDB}" type="presParOf" srcId="{1F0E8ECC-1DD3-42F1-AF87-AA9B7B2C32E4}" destId="{B7994AA3-1769-489F-80D9-DFD47A786B8B}" srcOrd="5" destOrd="0" presId="urn:microsoft.com/office/officeart/2005/8/layout/process2"/>
    <dgm:cxn modelId="{CC281DFA-D9C8-43A4-8F7F-7F12498EC989}" type="presParOf" srcId="{B7994AA3-1769-489F-80D9-DFD47A786B8B}" destId="{05F33685-B05A-491F-BD1D-4505CFD8BD5E}" srcOrd="0" destOrd="0" presId="urn:microsoft.com/office/officeart/2005/8/layout/process2"/>
    <dgm:cxn modelId="{AA1F483A-D5E8-4F85-AD70-750C345853F7}" type="presParOf" srcId="{1F0E8ECC-1DD3-42F1-AF87-AA9B7B2C32E4}" destId="{4C5365E0-9431-4A5A-AF12-AF1C1ADC926F}" srcOrd="6" destOrd="0" presId="urn:microsoft.com/office/officeart/2005/8/layout/process2"/>
    <dgm:cxn modelId="{A91A405C-3CD7-4CAE-A106-EA9DF7B10624}" type="presParOf" srcId="{1F0E8ECC-1DD3-42F1-AF87-AA9B7B2C32E4}" destId="{E70D027E-0031-46C3-815D-2D7282544530}" srcOrd="7" destOrd="0" presId="urn:microsoft.com/office/officeart/2005/8/layout/process2"/>
    <dgm:cxn modelId="{B585B95F-961A-4EF6-91A9-5D056727BD81}" type="presParOf" srcId="{E70D027E-0031-46C3-815D-2D7282544530}" destId="{450A17E4-98BC-4FE5-A57B-EFE300CEDD60}" srcOrd="0" destOrd="0" presId="urn:microsoft.com/office/officeart/2005/8/layout/process2"/>
    <dgm:cxn modelId="{1C52D1F3-6433-4FB6-AC3B-D3D63F5B4079}" type="presParOf" srcId="{1F0E8ECC-1DD3-42F1-AF87-AA9B7B2C32E4}" destId="{E2A8A1ED-0DF9-44D3-81C0-D751A923E2ED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8D8CB3C-ADA6-460A-9B0F-FBA7C668EE2E}">
      <dsp:nvSpPr>
        <dsp:cNvPr id="0" name=""/>
        <dsp:cNvSpPr/>
      </dsp:nvSpPr>
      <dsp:spPr>
        <a:xfrm>
          <a:off x="1800642" y="3012"/>
          <a:ext cx="2817771" cy="704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Источник данных</a:t>
          </a:r>
          <a:endParaRPr lang="ru-RU" sz="2000" kern="1200" dirty="0"/>
        </a:p>
      </dsp:txBody>
      <dsp:txXfrm>
        <a:off x="1800642" y="3012"/>
        <a:ext cx="2817771" cy="704442"/>
      </dsp:txXfrm>
    </dsp:sp>
    <dsp:sp modelId="{B7814B84-C840-4CB8-B840-53E7A5F47A56}">
      <dsp:nvSpPr>
        <dsp:cNvPr id="0" name=""/>
        <dsp:cNvSpPr/>
      </dsp:nvSpPr>
      <dsp:spPr>
        <a:xfrm rot="5400000">
          <a:off x="3077444" y="725066"/>
          <a:ext cx="264166" cy="3169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444" y="725066"/>
        <a:ext cx="264166" cy="316999"/>
      </dsp:txXfrm>
    </dsp:sp>
    <dsp:sp modelId="{4368DC4C-2B20-405B-B020-FD8CE3BADAE5}">
      <dsp:nvSpPr>
        <dsp:cNvPr id="0" name=""/>
        <dsp:cNvSpPr/>
      </dsp:nvSpPr>
      <dsp:spPr>
        <a:xfrm>
          <a:off x="1800642" y="1059676"/>
          <a:ext cx="2817771" cy="704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Информационное обеспечение</a:t>
          </a:r>
          <a:endParaRPr lang="ru-RU" sz="2000" kern="1200" dirty="0"/>
        </a:p>
      </dsp:txBody>
      <dsp:txXfrm>
        <a:off x="1800642" y="1059676"/>
        <a:ext cx="2817771" cy="704442"/>
      </dsp:txXfrm>
    </dsp:sp>
    <dsp:sp modelId="{CB60C0B9-D263-4AE2-957D-39BD98BBDE75}">
      <dsp:nvSpPr>
        <dsp:cNvPr id="0" name=""/>
        <dsp:cNvSpPr/>
      </dsp:nvSpPr>
      <dsp:spPr>
        <a:xfrm rot="5400000">
          <a:off x="3077444" y="1781730"/>
          <a:ext cx="264166" cy="3169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444" y="1781730"/>
        <a:ext cx="264166" cy="316999"/>
      </dsp:txXfrm>
    </dsp:sp>
    <dsp:sp modelId="{D70F2819-3677-4A0F-83DA-A4C2BAF9B175}">
      <dsp:nvSpPr>
        <dsp:cNvPr id="0" name=""/>
        <dsp:cNvSpPr/>
      </dsp:nvSpPr>
      <dsp:spPr>
        <a:xfrm>
          <a:off x="1800642" y="2116341"/>
          <a:ext cx="2817771" cy="704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Информационная система</a:t>
          </a:r>
          <a:endParaRPr lang="ru-RU" sz="2000" kern="1200" dirty="0"/>
        </a:p>
      </dsp:txBody>
      <dsp:txXfrm>
        <a:off x="1800642" y="2116341"/>
        <a:ext cx="2817771" cy="704442"/>
      </dsp:txXfrm>
    </dsp:sp>
    <dsp:sp modelId="{B7994AA3-1769-489F-80D9-DFD47A786B8B}">
      <dsp:nvSpPr>
        <dsp:cNvPr id="0" name=""/>
        <dsp:cNvSpPr/>
      </dsp:nvSpPr>
      <dsp:spPr>
        <a:xfrm rot="5400000">
          <a:off x="3077444" y="2838394"/>
          <a:ext cx="264166" cy="3169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444" y="2838394"/>
        <a:ext cx="264166" cy="316999"/>
      </dsp:txXfrm>
    </dsp:sp>
    <dsp:sp modelId="{4C5365E0-9431-4A5A-AF12-AF1C1ADC926F}">
      <dsp:nvSpPr>
        <dsp:cNvPr id="0" name=""/>
        <dsp:cNvSpPr/>
      </dsp:nvSpPr>
      <dsp:spPr>
        <a:xfrm>
          <a:off x="1800642" y="3173005"/>
          <a:ext cx="2817771" cy="704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Информационное обеспечение</a:t>
          </a:r>
          <a:endParaRPr lang="ru-RU" sz="2000" kern="1200" dirty="0"/>
        </a:p>
      </dsp:txBody>
      <dsp:txXfrm>
        <a:off x="1800642" y="3173005"/>
        <a:ext cx="2817771" cy="704442"/>
      </dsp:txXfrm>
    </dsp:sp>
    <dsp:sp modelId="{E70D027E-0031-46C3-815D-2D7282544530}">
      <dsp:nvSpPr>
        <dsp:cNvPr id="0" name=""/>
        <dsp:cNvSpPr/>
      </dsp:nvSpPr>
      <dsp:spPr>
        <a:xfrm rot="5400000">
          <a:off x="3077444" y="3895059"/>
          <a:ext cx="264166" cy="3169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444" y="3895059"/>
        <a:ext cx="264166" cy="316999"/>
      </dsp:txXfrm>
    </dsp:sp>
    <dsp:sp modelId="{E2A8A1ED-0DF9-44D3-81C0-D751A923E2ED}">
      <dsp:nvSpPr>
        <dsp:cNvPr id="0" name=""/>
        <dsp:cNvSpPr/>
      </dsp:nvSpPr>
      <dsp:spPr>
        <a:xfrm>
          <a:off x="1800642" y="4229669"/>
          <a:ext cx="2817771" cy="704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Потребитель</a:t>
          </a:r>
          <a:endParaRPr lang="ru-RU" sz="2000" kern="1200" dirty="0"/>
        </a:p>
      </dsp:txBody>
      <dsp:txXfrm>
        <a:off x="1800642" y="4229669"/>
        <a:ext cx="2817771" cy="7044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F778D-310F-475E-9065-D555319E7AF3}" type="datetimeFigureOut">
              <a:rPr lang="ru-RU" smtClean="0"/>
              <a:pPr/>
              <a:t>09.06.2016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C1BC2-EF03-4DB1-9C78-43FA9764743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8564FB-3C06-4767-A4C9-25F0048A8F50}" type="datetime1">
              <a:rPr lang="ru-RU" smtClean="0"/>
              <a:pPr/>
              <a:t>09.06.2016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5B3BCC0-81F8-4BFB-A7CF-64058E23A4AC}" type="datetime1">
              <a:rPr lang="ru-RU" smtClean="0"/>
              <a:pPr/>
              <a:t>09.06.2016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123A61D-A991-4EBD-9BC2-62963864A1E1}" type="datetime1">
              <a:rPr lang="ru-RU" smtClean="0"/>
              <a:pPr/>
              <a:t>09.06.2016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BC28292-EEC6-48B6-8531-A930B1FBF08E}" type="datetime1">
              <a:rPr lang="ru-RU" smtClean="0"/>
              <a:pPr/>
              <a:t>09.06.2016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55BE1E-6477-4B75-AB6D-B4FCBF8F7353}" type="datetime1">
              <a:rPr lang="ru-RU" smtClean="0"/>
              <a:pPr/>
              <a:t>09.06.2016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56DB545-5AAE-4662-94E0-A59A9D626458}" type="datetime1">
              <a:rPr lang="ru-RU" smtClean="0"/>
              <a:pPr/>
              <a:t>09.06.2016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BE6603-A586-4219-B919-8A53BB1B20EC}" type="datetime1">
              <a:rPr lang="ru-RU" smtClean="0"/>
              <a:pPr/>
              <a:t>09.06.2016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276982A-A0B5-4DA4-975D-787CB93F4505}" type="datetime1">
              <a:rPr lang="ru-RU" smtClean="0"/>
              <a:pPr/>
              <a:t>09.06.2016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DC87C9-F69C-4C0C-9DBA-0E10D474DDD6}" type="datetime1">
              <a:rPr lang="ru-RU" smtClean="0"/>
              <a:pPr/>
              <a:t>09.06.2016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BF4DBE-D7D0-4E1A-9DBE-A6E29511B4DF}" type="datetime1">
              <a:rPr lang="ru-RU" smtClean="0"/>
              <a:pPr/>
              <a:t>09.06.2016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6A5C4CB-C049-4D0B-BA3C-D2B2C4588AA4}" type="datetime1">
              <a:rPr lang="ru-RU" smtClean="0"/>
              <a:pPr/>
              <a:t>09.06.2016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971F65F4-F821-4FD1-9B7D-BC9DF92C8A4B}" type="datetime1">
              <a:rPr lang="ru-RU" smtClean="0"/>
              <a:pPr/>
              <a:t>09.06.2016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1640" y="2204864"/>
            <a:ext cx="7406640" cy="1472184"/>
          </a:xfrm>
        </p:spPr>
        <p:txBody>
          <a:bodyPr>
            <a:noAutofit/>
          </a:bodyPr>
          <a:lstStyle/>
          <a:p>
            <a:pPr algn="ctr"/>
            <a:r>
              <a:rPr lang="ru-RU" sz="2000" dirty="0" smtClean="0"/>
              <a:t>ВЫПУСКНАЯ КВАЛИФИКАЦИОННАЯ (БАКАЛАВРСКАЯ) РАБОТА</a:t>
            </a:r>
            <a:br>
              <a:rPr lang="ru-RU" sz="2000" dirty="0" smtClean="0"/>
            </a:br>
            <a:r>
              <a:rPr lang="ru-RU" sz="2000" dirty="0" smtClean="0"/>
              <a:t>НА ТЕМУ: «РАЗРАБОТКА ИНФОРМАЦИОННОГО ОБЕСПЕЧЕНИЯ ДЛЯ СИСТЕМ УПРАВЛЕНИЯ ЖИЗНЕННЫМ ЦИКЛОМ ПРОДУКЦИИ НА ПРОМЫШЛЕННОМ ПРЕДПРИЯТИИ НА ПРИМЕРЕ ПАО «РАДИОЗАВОД»</a:t>
            </a:r>
            <a:endParaRPr lang="ru-RU" sz="2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59632" y="4437112"/>
            <a:ext cx="7406640" cy="1752600"/>
          </a:xfrm>
        </p:spPr>
        <p:txBody>
          <a:bodyPr>
            <a:normAutofit fontScale="47500" lnSpcReduction="20000"/>
          </a:bodyPr>
          <a:lstStyle/>
          <a:p>
            <a:r>
              <a:rPr lang="ru-RU" dirty="0" smtClean="0"/>
              <a:t>Студента группы 521 </a:t>
            </a:r>
          </a:p>
          <a:p>
            <a:r>
              <a:rPr lang="ru-RU" dirty="0" err="1" smtClean="0"/>
              <a:t>Темникова</a:t>
            </a:r>
            <a:r>
              <a:rPr lang="ru-RU" dirty="0" smtClean="0"/>
              <a:t> Андрея </a:t>
            </a:r>
            <a:r>
              <a:rPr lang="ru-RU" dirty="0" smtClean="0"/>
              <a:t>Владимировича</a:t>
            </a:r>
            <a:endParaRPr lang="en-US" dirty="0" smtClean="0"/>
          </a:p>
          <a:p>
            <a:r>
              <a:rPr lang="ru-RU" dirty="0" smtClean="0"/>
              <a:t>____________________</a:t>
            </a:r>
            <a:endParaRPr lang="en-US" dirty="0" smtClean="0"/>
          </a:p>
          <a:p>
            <a:pPr>
              <a:spcBef>
                <a:spcPts val="0"/>
              </a:spcBef>
            </a:pPr>
            <a:r>
              <a:rPr lang="ru-RU" dirty="0" smtClean="0"/>
              <a:t> </a:t>
            </a:r>
            <a:r>
              <a:rPr lang="ru-RU" dirty="0" smtClean="0"/>
              <a:t>             </a:t>
            </a:r>
            <a:r>
              <a:rPr lang="ru-RU" sz="2000" dirty="0" smtClean="0"/>
              <a:t> (подпись)</a:t>
            </a:r>
            <a:endParaRPr lang="ru-RU" sz="2000" dirty="0" smtClean="0"/>
          </a:p>
          <a:p>
            <a:r>
              <a:rPr lang="ru-RU" dirty="0" smtClean="0"/>
              <a:t>Научный руководитель: </a:t>
            </a:r>
            <a:r>
              <a:rPr lang="ru-RU" dirty="0"/>
              <a:t>д.т.н., доцент, профессор кафедры математики и </a:t>
            </a:r>
            <a:r>
              <a:rPr lang="ru-RU" dirty="0" smtClean="0"/>
              <a:t>информатики </a:t>
            </a:r>
          </a:p>
          <a:p>
            <a:r>
              <a:rPr lang="ru-RU" dirty="0" err="1" smtClean="0"/>
              <a:t>Переверзев</a:t>
            </a:r>
            <a:r>
              <a:rPr lang="ru-RU" dirty="0" smtClean="0"/>
              <a:t> </a:t>
            </a:r>
            <a:r>
              <a:rPr lang="ru-RU" dirty="0"/>
              <a:t>Павел Петрович </a:t>
            </a:r>
            <a:endParaRPr lang="ru-RU" dirty="0" smtClean="0"/>
          </a:p>
          <a:p>
            <a:r>
              <a:rPr lang="ru-RU" dirty="0" smtClean="0"/>
              <a:t>____________________</a:t>
            </a:r>
            <a:endParaRPr lang="en-US" dirty="0" smtClean="0"/>
          </a:p>
          <a:p>
            <a:pPr>
              <a:spcBef>
                <a:spcPts val="0"/>
              </a:spcBef>
            </a:pPr>
            <a:r>
              <a:rPr lang="ru-RU" dirty="0" smtClean="0"/>
              <a:t>              </a:t>
            </a:r>
            <a:r>
              <a:rPr lang="ru-RU" sz="2000" dirty="0" smtClean="0"/>
              <a:t> (подпись)</a:t>
            </a:r>
          </a:p>
          <a:p>
            <a:endParaRPr lang="en-US" dirty="0" smtClean="0"/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</a:t>
            </a:fld>
            <a:endParaRPr lang="ru-RU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71600" y="260648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ФЕДЕРАЛЬНОЕ ГОСУДАРСТВЕННОЕ ОБРАЗОВАТЕЛЬНОЕ БЮДЖЕТНОЕ УЧРЕЖДЕНИЕ ВЫСШЕГО ОБРАЗОВАНИЯ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«ФИНАНСОВЫЙ УНИВЕРСИТЕТ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ПРИ ПРАВИТЕЛЬСТВЕ РОССИЙСКОЙ ФЕДЕРАЦИИ»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ЧЕЛЯБИНСКИЙ ФИЛИАЛ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Кафедра «Математика и информатика»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60032" y="65973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4211960" y="6381328"/>
            <a:ext cx="1380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 smtClean="0">
                <a:solidFill>
                  <a:schemeClr val="tx2">
                    <a:shade val="30000"/>
                    <a:satMod val="150000"/>
                  </a:schemeClr>
                </a:solidFill>
              </a:rPr>
              <a:t>ЧЕЛЯБИНСК</a:t>
            </a:r>
            <a:r>
              <a:rPr lang="ru-RU" sz="1200" dirty="0" smtClean="0"/>
              <a:t> </a:t>
            </a:r>
            <a:r>
              <a:rPr lang="ru-RU" sz="1200" dirty="0" smtClean="0">
                <a:solidFill>
                  <a:schemeClr val="tx2">
                    <a:shade val="30000"/>
                    <a:satMod val="150000"/>
                  </a:schemeClr>
                </a:solidFill>
              </a:rPr>
              <a:t>2016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 работы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Цель исследования: повышение эффективности работы системы управления жизненным циклом продукции (СУЖЦ)</a:t>
            </a:r>
          </a:p>
          <a:p>
            <a:r>
              <a:rPr lang="ru-RU" dirty="0" smtClean="0"/>
              <a:t>Объект исследования: СУЖЦ </a:t>
            </a:r>
            <a:r>
              <a:rPr lang="en-US" dirty="0" smtClean="0"/>
              <a:t>PTC Windchill </a:t>
            </a:r>
            <a:r>
              <a:rPr lang="ru-RU" dirty="0" smtClean="0"/>
              <a:t>на ПАО «Радиозавод»</a:t>
            </a:r>
          </a:p>
          <a:p>
            <a:r>
              <a:rPr lang="ru-RU" dirty="0" smtClean="0"/>
              <a:t>Предмет исследования: разработка и совершенствование информационного обеспечения для системы управления жизненным циклом продукции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Информационное обеспечение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3</a:t>
            </a:fld>
            <a:endParaRPr lang="ru-RU"/>
          </a:p>
        </p:txBody>
      </p:sp>
      <p:graphicFrame>
        <p:nvGraphicFramePr>
          <p:cNvPr id="5" name="Содержимое 7"/>
          <p:cNvGraphicFramePr>
            <a:graphicFrameLocks/>
          </p:cNvGraphicFramePr>
          <p:nvPr/>
        </p:nvGraphicFramePr>
        <p:xfrm>
          <a:off x="2339752" y="1412776"/>
          <a:ext cx="6419056" cy="4937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03648" y="2348880"/>
            <a:ext cx="2880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Ввод данных в систему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331640" y="4221088"/>
            <a:ext cx="3096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Предоставление данных пользователю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 ПАО «Радиозавод»</a:t>
            </a:r>
            <a:endParaRPr lang="ru-RU" dirty="0"/>
          </a:p>
        </p:txBody>
      </p:sp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971600" y="1124744"/>
          <a:ext cx="4176464" cy="2952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4</a:t>
            </a:fld>
            <a:endParaRPr lang="ru-RU"/>
          </a:p>
        </p:txBody>
      </p:sp>
      <p:graphicFrame>
        <p:nvGraphicFramePr>
          <p:cNvPr id="8" name="Диаграмма 7"/>
          <p:cNvGraphicFramePr/>
          <p:nvPr/>
        </p:nvGraphicFramePr>
        <p:xfrm>
          <a:off x="5148064" y="2276872"/>
          <a:ext cx="3624064" cy="396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16216" y="1988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220072" y="1412776"/>
            <a:ext cx="3904531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160" b="1" dirty="0" smtClean="0"/>
              <a:t>Экономические показатели  </a:t>
            </a:r>
          </a:p>
          <a:p>
            <a:pPr algn="ctr"/>
            <a:r>
              <a:rPr lang="ru-RU" sz="2160" b="1" dirty="0" smtClean="0"/>
              <a:t>за 2014 и 2015 года в млн. руб.</a:t>
            </a:r>
            <a:endParaRPr lang="ru-RU" sz="216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PTC </a:t>
            </a:r>
            <a:r>
              <a:rPr lang="en-US" dirty="0" err="1" smtClean="0"/>
              <a:t>Windchill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>
              <a:buNone/>
            </a:pPr>
            <a:r>
              <a:rPr lang="en-US" dirty="0" smtClean="0"/>
              <a:t>		 PTC </a:t>
            </a:r>
            <a:r>
              <a:rPr lang="en-US" dirty="0" err="1" smtClean="0"/>
              <a:t>Windchill</a:t>
            </a:r>
            <a:r>
              <a:rPr lang="en-US" dirty="0" smtClean="0"/>
              <a:t> </a:t>
            </a:r>
            <a:r>
              <a:rPr lang="ru-RU" dirty="0" smtClean="0"/>
              <a:t>представляет собой современный инструмент для совместной работы пользователей на основе </a:t>
            </a:r>
            <a:r>
              <a:rPr lang="ru-RU" dirty="0" err="1" smtClean="0"/>
              <a:t>веб-технологий</a:t>
            </a:r>
            <a:r>
              <a:rPr lang="ru-RU" dirty="0" smtClean="0"/>
              <a:t>, и создана специально для обеспечения эффективной разработки и управления информацией об изделии. Система реализует следующие функции:</a:t>
            </a:r>
          </a:p>
          <a:p>
            <a:pPr lvl="0"/>
            <a:r>
              <a:rPr lang="ru-RU" dirty="0" smtClean="0"/>
              <a:t>Механизм организации совместного использования данных;</a:t>
            </a:r>
          </a:p>
          <a:p>
            <a:pPr lvl="0"/>
            <a:r>
              <a:rPr lang="ru-RU" dirty="0" smtClean="0"/>
              <a:t>Хранение данных в защищенном хранилище и разграничение прав доступа;</a:t>
            </a:r>
          </a:p>
          <a:p>
            <a:pPr lvl="0"/>
            <a:r>
              <a:rPr lang="ru-RU" dirty="0" smtClean="0"/>
              <a:t>Управление информацией;</a:t>
            </a:r>
          </a:p>
          <a:p>
            <a:pPr lvl="0"/>
            <a:r>
              <a:rPr lang="ru-RU" dirty="0" smtClean="0"/>
              <a:t>Управление изменениями;</a:t>
            </a:r>
          </a:p>
          <a:p>
            <a:pPr lvl="0"/>
            <a:r>
              <a:rPr lang="ru-RU" dirty="0" smtClean="0"/>
              <a:t>Возможность хранения всей истории проектирования и многое другое.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Управление жизненным циклом продукции на ПАО «Радиозавод»</a:t>
            </a:r>
            <a:endParaRPr lang="ru-RU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435100" y="1659791"/>
            <a:ext cx="7499350" cy="437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Обзор выявленных проблем функционирования информационного обеспечения СУЖЦ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87624" y="1556792"/>
            <a:ext cx="7746064" cy="4824536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Несопоставимость форматов данных имеющихся электронных моделей с применяемыми в </a:t>
            </a:r>
            <a:r>
              <a:rPr lang="en-US" dirty="0" smtClean="0"/>
              <a:t>Windchill</a:t>
            </a:r>
            <a:r>
              <a:rPr lang="ru-RU" dirty="0" smtClean="0"/>
              <a:t>, наличие большого числа бумажных носителей;</a:t>
            </a:r>
          </a:p>
          <a:p>
            <a:r>
              <a:rPr lang="ru-RU" dirty="0" smtClean="0"/>
              <a:t>Недостаточная система типов данных для корректного управления структурой изделия;</a:t>
            </a:r>
          </a:p>
          <a:p>
            <a:r>
              <a:rPr lang="ru-RU" dirty="0" smtClean="0"/>
              <a:t>Алгоритм внесения конструкторских изменений не соответствует требованиям ГОСТ на ЕСКД;</a:t>
            </a:r>
          </a:p>
          <a:p>
            <a:r>
              <a:rPr lang="ru-RU" dirty="0" smtClean="0"/>
              <a:t>Стандартные отчеты недостаточны и не соответствуют ЕСКД;</a:t>
            </a:r>
          </a:p>
          <a:p>
            <a:r>
              <a:rPr lang="ru-RU" dirty="0" smtClean="0"/>
              <a:t>Требуется синхронизация данных с другими КИС предприятия.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7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Алгоритм перехода специалистов к работе в СУЖЦ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Электронные модели по текущим проектам завести в систему под видом изображений;</a:t>
            </a:r>
          </a:p>
          <a:p>
            <a:r>
              <a:rPr lang="ru-RU" dirty="0" smtClean="0"/>
              <a:t>Моделирование новых изделий производить через интерфейс СУЖЦ и интегрированной САПР; </a:t>
            </a:r>
            <a:endParaRPr lang="en-US" dirty="0" smtClean="0"/>
          </a:p>
          <a:p>
            <a:r>
              <a:rPr lang="ru-RU" dirty="0" smtClean="0"/>
              <a:t>Бумажные носители сканировать и вводить в систему как изображения;</a:t>
            </a:r>
          </a:p>
          <a:p>
            <a:r>
              <a:rPr lang="ru-RU" dirty="0" smtClean="0"/>
              <a:t>С новыми заказами работать схожим образом.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Обновление объектной модели </a:t>
            </a:r>
            <a:r>
              <a:rPr lang="en-US" dirty="0" smtClean="0"/>
              <a:t>Windchill</a:t>
            </a:r>
            <a:endParaRPr lang="ru-RU" dirty="0"/>
          </a:p>
        </p:txBody>
      </p:sp>
      <p:graphicFrame>
        <p:nvGraphicFramePr>
          <p:cNvPr id="8" name="Содержимое 7"/>
          <p:cNvGraphicFramePr>
            <a:graphicFrameLocks noGrp="1"/>
          </p:cNvGraphicFramePr>
          <p:nvPr>
            <p:ph sz="half" idx="1"/>
          </p:nvPr>
        </p:nvGraphicFramePr>
        <p:xfrm>
          <a:off x="1475656" y="1916832"/>
          <a:ext cx="36576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Тип объекта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Агрегат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Компонент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Содержимое 6"/>
          <p:cNvGraphicFramePr>
            <a:graphicFrameLocks noGrp="1"/>
          </p:cNvGraphicFramePr>
          <p:nvPr>
            <p:ph sz="half" idx="2"/>
          </p:nvPr>
        </p:nvGraphicFramePr>
        <p:xfrm>
          <a:off x="5292080" y="1916832"/>
          <a:ext cx="3657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Тип объекта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Деталь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Заказ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ТТП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Электрический</a:t>
                      </a:r>
                      <a:r>
                        <a:rPr lang="ru-RU" baseline="0" dirty="0" smtClean="0"/>
                        <a:t> компонент</a:t>
                      </a:r>
                      <a:endParaRPr lang="ru-RU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Режим сборки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Сборка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Неразборный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Компонент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Раздел спецификации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Сборочная единица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Деталь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Прочее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Материал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Комплект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2843808" y="1412776"/>
            <a:ext cx="920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Было</a:t>
            </a:r>
            <a:endParaRPr lang="ru-RU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588224" y="1412776"/>
            <a:ext cx="975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Стало</a:t>
            </a:r>
            <a:endParaRPr lang="ru-RU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Проведение конструкторских изменений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916832"/>
            <a:ext cx="4471074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87795" y="2132856"/>
            <a:ext cx="4556205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72000" y="1628800"/>
            <a:ext cx="0" cy="4824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07704" y="1556792"/>
            <a:ext cx="920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Было</a:t>
            </a:r>
            <a:endParaRPr lang="ru-RU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300192" y="1556792"/>
            <a:ext cx="975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Стало</a:t>
            </a:r>
            <a:endParaRPr lang="ru-RU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Система отчетов</a:t>
            </a:r>
            <a:endParaRPr lang="ru-RU" dirty="0"/>
          </a:p>
        </p:txBody>
      </p:sp>
      <p:sp>
        <p:nvSpPr>
          <p:cNvPr id="9" name="Содержимое 8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1200"/>
              </a:spcBef>
              <a:buNone/>
            </a:pPr>
            <a:r>
              <a:rPr lang="ru-RU" sz="3100" dirty="0" smtClean="0"/>
              <a:t>	Основная часть сопроводительной документации создаётся посредством конструктора запросов, либо уже предоставляется по умолчанию.</a:t>
            </a:r>
          </a:p>
          <a:p>
            <a:pPr>
              <a:spcBef>
                <a:spcPts val="1200"/>
              </a:spcBef>
              <a:buNone/>
            </a:pPr>
            <a:r>
              <a:rPr lang="ru-RU" sz="3100" dirty="0" smtClean="0"/>
              <a:t>	Для организации внутреннего документооборота требуются </a:t>
            </a:r>
            <a:r>
              <a:rPr lang="ru-RU" dirty="0" smtClean="0"/>
              <a:t>следующие отчеты в печатном виде:</a:t>
            </a:r>
          </a:p>
          <a:p>
            <a:r>
              <a:rPr lang="ru-RU" dirty="0" smtClean="0"/>
              <a:t>Ведомость покупных;</a:t>
            </a:r>
          </a:p>
          <a:p>
            <a:r>
              <a:rPr lang="ru-RU" dirty="0" smtClean="0"/>
              <a:t>Ведомость применяемости;</a:t>
            </a:r>
          </a:p>
          <a:p>
            <a:r>
              <a:rPr lang="ru-RU" dirty="0" smtClean="0"/>
              <a:t>Картотека трудового нормирования;</a:t>
            </a:r>
          </a:p>
          <a:p>
            <a:r>
              <a:rPr lang="ru-RU" dirty="0" smtClean="0"/>
              <a:t>Картотека планирования.</a:t>
            </a:r>
          </a:p>
          <a:p>
            <a:pPr marL="360000">
              <a:spcBef>
                <a:spcPts val="1200"/>
              </a:spcBef>
              <a:buNone/>
            </a:pPr>
            <a:r>
              <a:rPr lang="ru-RU" dirty="0" smtClean="0"/>
              <a:t>	Основные требования в ТЗ:</a:t>
            </a:r>
          </a:p>
          <a:p>
            <a:r>
              <a:rPr lang="ru-RU" sz="3100" dirty="0" smtClean="0"/>
              <a:t>Создание на основе данных только из </a:t>
            </a:r>
            <a:r>
              <a:rPr lang="en-US" sz="3100" dirty="0" smtClean="0"/>
              <a:t>Windchill</a:t>
            </a:r>
            <a:r>
              <a:rPr lang="ru-RU" sz="3100" dirty="0" smtClean="0"/>
              <a:t>;</a:t>
            </a:r>
          </a:p>
          <a:p>
            <a:r>
              <a:rPr lang="ru-RU" sz="3100" dirty="0" smtClean="0"/>
              <a:t>Возможность просмотра и изменения в электронном виде;</a:t>
            </a:r>
          </a:p>
          <a:p>
            <a:r>
              <a:rPr lang="ru-RU" sz="3100" dirty="0" smtClean="0"/>
              <a:t>Соответствие </a:t>
            </a:r>
            <a:r>
              <a:rPr lang="ru-RU" dirty="0" smtClean="0"/>
              <a:t>печатных форм нормам ЕСКД.</a:t>
            </a:r>
          </a:p>
          <a:p>
            <a:pPr>
              <a:buNone/>
            </a:pPr>
            <a:endParaRPr lang="ru-RU" dirty="0" smtClean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274638"/>
            <a:ext cx="8100392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Синхронизация данных в различных информационных системах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435100" y="1790791"/>
            <a:ext cx="7499350" cy="411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smtClean="0"/>
              <a:t>Разработаны методические рекомендации по организации  перехода специалистов к работе в новой системе;</a:t>
            </a:r>
          </a:p>
          <a:p>
            <a:r>
              <a:rPr lang="ru-RU" dirty="0" smtClean="0"/>
              <a:t>Разработан алгоритм внесения изменений в документации на проект, соответствующий требованиям ГОСТ на ЕСКД;</a:t>
            </a:r>
          </a:p>
          <a:p>
            <a:r>
              <a:rPr lang="ru-RU" dirty="0" smtClean="0"/>
              <a:t>Определен перечень отчетов, требующих реализации в виде самостоятельного программного модуля и предоставлены требования к ним;</a:t>
            </a:r>
          </a:p>
          <a:p>
            <a:r>
              <a:rPr lang="ru-RU" dirty="0" smtClean="0"/>
              <a:t>Создана объектная модель, удовлетворяющая всем потребностям предприятия при автоматической обработке изделия и работе с документацией;</a:t>
            </a:r>
          </a:p>
          <a:p>
            <a:r>
              <a:rPr lang="ru-RU" dirty="0" smtClean="0"/>
              <a:t>Разработана утилита синхронизации данных в разнородных информационных системах.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Благодарю за внимание!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Исполнитель: студент группы 521 Темников Андрей Владимирович</a:t>
            </a:r>
          </a:p>
          <a:p>
            <a:r>
              <a:rPr lang="ru-RU" dirty="0" smtClean="0"/>
              <a:t>Научный руководитель: д.т.н., доцент, профессор кафедры математики и информатики </a:t>
            </a:r>
            <a:r>
              <a:rPr lang="ru-RU" dirty="0" err="1" smtClean="0"/>
              <a:t>Переверзев</a:t>
            </a:r>
            <a:r>
              <a:rPr lang="ru-RU" dirty="0" smtClean="0"/>
              <a:t> Павел Петрович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2725</TotalTime>
  <Words>400</Words>
  <Application>Microsoft Office PowerPoint</Application>
  <PresentationFormat>Экран (4:3)</PresentationFormat>
  <Paragraphs>106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Солнцестояние</vt:lpstr>
      <vt:lpstr>ВЫПУСКНАЯ КВАЛИФИКАЦИОННАЯ (БАКАЛАВРСКАЯ) РАБОТА НА ТЕМУ: «РАЗРАБОТКА ИНФОРМАЦИОННОГО ОБЕСПЕЧЕНИЯ ДЛЯ СИСТЕМ УПРАВЛЕНИЯ ЖИЗНЕННЫМ ЦИКЛОМ ПРОДУКЦИИ НА ПРОМЫШЛЕННОМ ПРЕДПРИЯТИИ НА ПРИМЕРЕ ПАО «РАДИОЗАВОД»</vt:lpstr>
      <vt:lpstr>Описание работы</vt:lpstr>
      <vt:lpstr>Информационное обеспечение</vt:lpstr>
      <vt:lpstr>Описание ПАО «Радиозавод»</vt:lpstr>
      <vt:lpstr>PTC Windchill </vt:lpstr>
      <vt:lpstr>Управление жизненным циклом продукции на ПАО «Радиозавод»</vt:lpstr>
      <vt:lpstr>Обзор выявленных проблем функционирования информационного обеспечения СУЖЦ</vt:lpstr>
      <vt:lpstr>Алгоритм перехода специалистов к работе в СУЖЦ</vt:lpstr>
      <vt:lpstr>Обновление объектной модели Windchill</vt:lpstr>
      <vt:lpstr>Проведение конструкторских изменений</vt:lpstr>
      <vt:lpstr>Система отчетов</vt:lpstr>
      <vt:lpstr>Синхронизация данных в различных информационных системах</vt:lpstr>
      <vt:lpstr>Выводы</vt:lpstr>
      <vt:lpstr>Благодарю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производственной практике на ПАО «Радиозавод» в городе Кыштыме</dc:title>
  <dc:creator>Андрей</dc:creator>
  <cp:lastModifiedBy>Андрей</cp:lastModifiedBy>
  <cp:revision>158</cp:revision>
  <dcterms:created xsi:type="dcterms:W3CDTF">2016-05-07T16:58:22Z</dcterms:created>
  <dcterms:modified xsi:type="dcterms:W3CDTF">2016-06-09T06:21:01Z</dcterms:modified>
</cp:coreProperties>
</file>