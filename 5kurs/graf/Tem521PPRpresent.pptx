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0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C75F85-ECE2-409F-B5A8-176467AFCF14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746C91F-4B1F-4465-8175-98C05733A160}">
      <dgm:prSet phldrT="[Текст]"/>
      <dgm:spPr/>
      <dgm:t>
        <a:bodyPr/>
        <a:lstStyle/>
        <a:p>
          <a:r>
            <a:rPr lang="ru-RU" dirty="0" smtClean="0"/>
            <a:t>КСППР</a:t>
          </a:r>
          <a:endParaRPr lang="ru-RU" dirty="0"/>
        </a:p>
      </dgm:t>
    </dgm:pt>
    <dgm:pt modelId="{9B9539AB-833A-4691-BB6B-64AD0CDE34A8}" type="parTrans" cxnId="{C23F8AE5-7C87-412D-A678-97175B3DB156}">
      <dgm:prSet/>
      <dgm:spPr/>
      <dgm:t>
        <a:bodyPr/>
        <a:lstStyle/>
        <a:p>
          <a:endParaRPr lang="ru-RU"/>
        </a:p>
      </dgm:t>
    </dgm:pt>
    <dgm:pt modelId="{A40A5C8E-8FE2-435C-913B-4F8D7C3421E0}" type="sibTrans" cxnId="{C23F8AE5-7C87-412D-A678-97175B3DB156}">
      <dgm:prSet/>
      <dgm:spPr/>
      <dgm:t>
        <a:bodyPr/>
        <a:lstStyle/>
        <a:p>
          <a:endParaRPr lang="ru-RU"/>
        </a:p>
      </dgm:t>
    </dgm:pt>
    <dgm:pt modelId="{F5D6D4A5-34D2-43C5-AE6D-36E68EF94C99}">
      <dgm:prSet phldrT="[Текст]"/>
      <dgm:spPr/>
      <dgm:t>
        <a:bodyPr/>
        <a:lstStyle/>
        <a:p>
          <a:r>
            <a:rPr lang="en-US" dirty="0" smtClean="0"/>
            <a:t>ERP</a:t>
          </a:r>
          <a:endParaRPr lang="ru-RU" dirty="0"/>
        </a:p>
      </dgm:t>
    </dgm:pt>
    <dgm:pt modelId="{119037E7-367B-4BFF-81C2-7B84EFC3B8DD}" type="parTrans" cxnId="{B31E5606-9477-41B1-BE71-E683683672DE}">
      <dgm:prSet/>
      <dgm:spPr/>
      <dgm:t>
        <a:bodyPr/>
        <a:lstStyle/>
        <a:p>
          <a:endParaRPr lang="ru-RU"/>
        </a:p>
      </dgm:t>
    </dgm:pt>
    <dgm:pt modelId="{FC3DBBE2-1D70-4BF3-A74D-8D2088DDCF34}" type="sibTrans" cxnId="{B31E5606-9477-41B1-BE71-E683683672DE}">
      <dgm:prSet/>
      <dgm:spPr/>
      <dgm:t>
        <a:bodyPr/>
        <a:lstStyle/>
        <a:p>
          <a:endParaRPr lang="ru-RU"/>
        </a:p>
      </dgm:t>
    </dgm:pt>
    <dgm:pt modelId="{27356A8B-E80E-466D-A4B0-B3AEE2D62B7C}">
      <dgm:prSet phldrT="[Текст]"/>
      <dgm:spPr/>
      <dgm:t>
        <a:bodyPr/>
        <a:lstStyle/>
        <a:p>
          <a:r>
            <a:rPr lang="en-US" dirty="0" smtClean="0"/>
            <a:t>CSM</a:t>
          </a:r>
          <a:endParaRPr lang="ru-RU" dirty="0"/>
        </a:p>
      </dgm:t>
    </dgm:pt>
    <dgm:pt modelId="{9AF1024E-DD2A-4455-AAA2-03C0A76D35D4}" type="parTrans" cxnId="{0B82AC6E-BB8F-4CBD-A0D0-27FA8984C44F}">
      <dgm:prSet/>
      <dgm:spPr/>
      <dgm:t>
        <a:bodyPr/>
        <a:lstStyle/>
        <a:p>
          <a:endParaRPr lang="ru-RU"/>
        </a:p>
      </dgm:t>
    </dgm:pt>
    <dgm:pt modelId="{95CEB554-DF26-4837-8C25-3FFD1A002FC9}" type="sibTrans" cxnId="{0B82AC6E-BB8F-4CBD-A0D0-27FA8984C44F}">
      <dgm:prSet/>
      <dgm:spPr/>
      <dgm:t>
        <a:bodyPr/>
        <a:lstStyle/>
        <a:p>
          <a:endParaRPr lang="ru-RU"/>
        </a:p>
      </dgm:t>
    </dgm:pt>
    <dgm:pt modelId="{BE11D951-3C1B-4DC3-A801-B178DAB2D39F}">
      <dgm:prSet phldrT="[Текст]"/>
      <dgm:spPr/>
      <dgm:t>
        <a:bodyPr/>
        <a:lstStyle/>
        <a:p>
          <a:r>
            <a:rPr lang="en-US" dirty="0" smtClean="0"/>
            <a:t>CRM</a:t>
          </a:r>
          <a:endParaRPr lang="ru-RU" dirty="0"/>
        </a:p>
      </dgm:t>
    </dgm:pt>
    <dgm:pt modelId="{9C5A01B0-D8B7-4D7E-8FB5-E2586C7FEBFC}" type="parTrans" cxnId="{B56EDF69-42AB-4E19-AC19-F84F0696B2D6}">
      <dgm:prSet/>
      <dgm:spPr/>
      <dgm:t>
        <a:bodyPr/>
        <a:lstStyle/>
        <a:p>
          <a:endParaRPr lang="ru-RU"/>
        </a:p>
      </dgm:t>
    </dgm:pt>
    <dgm:pt modelId="{10D67A31-9E69-40AC-A22F-115FA30830BF}" type="sibTrans" cxnId="{B56EDF69-42AB-4E19-AC19-F84F0696B2D6}">
      <dgm:prSet/>
      <dgm:spPr/>
      <dgm:t>
        <a:bodyPr/>
        <a:lstStyle/>
        <a:p>
          <a:endParaRPr lang="ru-RU"/>
        </a:p>
      </dgm:t>
    </dgm:pt>
    <dgm:pt modelId="{86908134-5176-4445-B54E-01F2400E2233}">
      <dgm:prSet phldrT="[Текст]"/>
      <dgm:spPr/>
      <dgm:t>
        <a:bodyPr/>
        <a:lstStyle/>
        <a:p>
          <a:r>
            <a:rPr lang="en-US" dirty="0" smtClean="0"/>
            <a:t>PLM</a:t>
          </a:r>
          <a:endParaRPr lang="ru-RU" dirty="0"/>
        </a:p>
      </dgm:t>
    </dgm:pt>
    <dgm:pt modelId="{4067613B-1207-4E98-84C1-E6E3ECC9B915}" type="parTrans" cxnId="{652A323A-5F9B-4BA6-83E6-57520FDBF010}">
      <dgm:prSet/>
      <dgm:spPr/>
      <dgm:t>
        <a:bodyPr/>
        <a:lstStyle/>
        <a:p>
          <a:endParaRPr lang="ru-RU"/>
        </a:p>
      </dgm:t>
    </dgm:pt>
    <dgm:pt modelId="{EB0B0018-335B-4FAA-A84E-9C177381A061}" type="sibTrans" cxnId="{652A323A-5F9B-4BA6-83E6-57520FDBF010}">
      <dgm:prSet/>
      <dgm:spPr/>
      <dgm:t>
        <a:bodyPr/>
        <a:lstStyle/>
        <a:p>
          <a:endParaRPr lang="ru-RU"/>
        </a:p>
      </dgm:t>
    </dgm:pt>
    <dgm:pt modelId="{077C8559-FFE8-47A9-A8F1-0B03F60FD0D2}" type="pres">
      <dgm:prSet presAssocID="{7BC75F85-ECE2-409F-B5A8-176467AFCF14}" presName="cycle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2AB0E042-8A5C-479B-B0E7-62403C6D1687}" type="pres">
      <dgm:prSet presAssocID="{1746C91F-4B1F-4465-8175-98C05733A160}" presName="centerShape" presStyleLbl="node0" presStyleIdx="0" presStyleCnt="1"/>
      <dgm:spPr/>
      <dgm:t>
        <a:bodyPr/>
        <a:lstStyle/>
        <a:p>
          <a:endParaRPr lang="ru-RU"/>
        </a:p>
      </dgm:t>
    </dgm:pt>
    <dgm:pt modelId="{BB1E94A0-5804-4B43-9360-E371ADA41282}" type="pres">
      <dgm:prSet presAssocID="{119037E7-367B-4BFF-81C2-7B84EFC3B8DD}" presName="parTrans" presStyleLbl="bgSibTrans2D1" presStyleIdx="0" presStyleCnt="4"/>
      <dgm:spPr/>
      <dgm:t>
        <a:bodyPr/>
        <a:lstStyle/>
        <a:p>
          <a:endParaRPr lang="ru-RU"/>
        </a:p>
      </dgm:t>
    </dgm:pt>
    <dgm:pt modelId="{78A56745-F5CC-455A-81AA-BB47AA406921}" type="pres">
      <dgm:prSet presAssocID="{F5D6D4A5-34D2-43C5-AE6D-36E68EF94C99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6B48DFA-D4F4-40A8-80A3-8C01DB2C5213}" type="pres">
      <dgm:prSet presAssocID="{9AF1024E-DD2A-4455-AAA2-03C0A76D35D4}" presName="parTrans" presStyleLbl="bgSibTrans2D1" presStyleIdx="1" presStyleCnt="4"/>
      <dgm:spPr/>
      <dgm:t>
        <a:bodyPr/>
        <a:lstStyle/>
        <a:p>
          <a:endParaRPr lang="ru-RU"/>
        </a:p>
      </dgm:t>
    </dgm:pt>
    <dgm:pt modelId="{A42930F9-467B-44B9-9846-00B21B70EE2D}" type="pres">
      <dgm:prSet presAssocID="{27356A8B-E80E-466D-A4B0-B3AEE2D62B7C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CD3254-982B-4916-891C-275BF1D14115}" type="pres">
      <dgm:prSet presAssocID="{9C5A01B0-D8B7-4D7E-8FB5-E2586C7FEBFC}" presName="parTrans" presStyleLbl="bgSibTrans2D1" presStyleIdx="2" presStyleCnt="4"/>
      <dgm:spPr/>
      <dgm:t>
        <a:bodyPr/>
        <a:lstStyle/>
        <a:p>
          <a:endParaRPr lang="ru-RU"/>
        </a:p>
      </dgm:t>
    </dgm:pt>
    <dgm:pt modelId="{CD8C6F4E-C072-45FC-934B-46D50ACB01B1}" type="pres">
      <dgm:prSet presAssocID="{BE11D951-3C1B-4DC3-A801-B178DAB2D39F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77BE649-1BEA-4DDF-8B25-085177C1946B}" type="pres">
      <dgm:prSet presAssocID="{4067613B-1207-4E98-84C1-E6E3ECC9B915}" presName="parTrans" presStyleLbl="bgSibTrans2D1" presStyleIdx="3" presStyleCnt="4"/>
      <dgm:spPr/>
      <dgm:t>
        <a:bodyPr/>
        <a:lstStyle/>
        <a:p>
          <a:endParaRPr lang="ru-RU"/>
        </a:p>
      </dgm:t>
    </dgm:pt>
    <dgm:pt modelId="{CBFADEF7-5F44-4A16-B0D7-94E014C0862A}" type="pres">
      <dgm:prSet presAssocID="{86908134-5176-4445-B54E-01F2400E2233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0B82AC6E-BB8F-4CBD-A0D0-27FA8984C44F}" srcId="{1746C91F-4B1F-4465-8175-98C05733A160}" destId="{27356A8B-E80E-466D-A4B0-B3AEE2D62B7C}" srcOrd="1" destOrd="0" parTransId="{9AF1024E-DD2A-4455-AAA2-03C0A76D35D4}" sibTransId="{95CEB554-DF26-4837-8C25-3FFD1A002FC9}"/>
    <dgm:cxn modelId="{5CFB6E7E-73C1-418D-B512-2FBCAFCA002F}" type="presOf" srcId="{BE11D951-3C1B-4DC3-A801-B178DAB2D39F}" destId="{CD8C6F4E-C072-45FC-934B-46D50ACB01B1}" srcOrd="0" destOrd="0" presId="urn:microsoft.com/office/officeart/2005/8/layout/radial4"/>
    <dgm:cxn modelId="{0BD2E077-294B-4E02-86DC-16B3E66D4454}" type="presOf" srcId="{9AF1024E-DD2A-4455-AAA2-03C0A76D35D4}" destId="{26B48DFA-D4F4-40A8-80A3-8C01DB2C5213}" srcOrd="0" destOrd="0" presId="urn:microsoft.com/office/officeart/2005/8/layout/radial4"/>
    <dgm:cxn modelId="{B31E5606-9477-41B1-BE71-E683683672DE}" srcId="{1746C91F-4B1F-4465-8175-98C05733A160}" destId="{F5D6D4A5-34D2-43C5-AE6D-36E68EF94C99}" srcOrd="0" destOrd="0" parTransId="{119037E7-367B-4BFF-81C2-7B84EFC3B8DD}" sibTransId="{FC3DBBE2-1D70-4BF3-A74D-8D2088DDCF34}"/>
    <dgm:cxn modelId="{2B96316D-03F0-43EB-8B15-97FAB0FC126B}" type="presOf" srcId="{27356A8B-E80E-466D-A4B0-B3AEE2D62B7C}" destId="{A42930F9-467B-44B9-9846-00B21B70EE2D}" srcOrd="0" destOrd="0" presId="urn:microsoft.com/office/officeart/2005/8/layout/radial4"/>
    <dgm:cxn modelId="{652A323A-5F9B-4BA6-83E6-57520FDBF010}" srcId="{1746C91F-4B1F-4465-8175-98C05733A160}" destId="{86908134-5176-4445-B54E-01F2400E2233}" srcOrd="3" destOrd="0" parTransId="{4067613B-1207-4E98-84C1-E6E3ECC9B915}" sibTransId="{EB0B0018-335B-4FAA-A84E-9C177381A061}"/>
    <dgm:cxn modelId="{153A6396-59B4-4B3B-90E9-2231CC957E18}" type="presOf" srcId="{119037E7-367B-4BFF-81C2-7B84EFC3B8DD}" destId="{BB1E94A0-5804-4B43-9360-E371ADA41282}" srcOrd="0" destOrd="0" presId="urn:microsoft.com/office/officeart/2005/8/layout/radial4"/>
    <dgm:cxn modelId="{C5952CE0-19C7-41BC-AF58-EABA619A69C4}" type="presOf" srcId="{7BC75F85-ECE2-409F-B5A8-176467AFCF14}" destId="{077C8559-FFE8-47A9-A8F1-0B03F60FD0D2}" srcOrd="0" destOrd="0" presId="urn:microsoft.com/office/officeart/2005/8/layout/radial4"/>
    <dgm:cxn modelId="{C23F8AE5-7C87-412D-A678-97175B3DB156}" srcId="{7BC75F85-ECE2-409F-B5A8-176467AFCF14}" destId="{1746C91F-4B1F-4465-8175-98C05733A160}" srcOrd="0" destOrd="0" parTransId="{9B9539AB-833A-4691-BB6B-64AD0CDE34A8}" sibTransId="{A40A5C8E-8FE2-435C-913B-4F8D7C3421E0}"/>
    <dgm:cxn modelId="{182E32F2-395B-4D9C-9771-D1FE5CEA27E0}" type="presOf" srcId="{4067613B-1207-4E98-84C1-E6E3ECC9B915}" destId="{D77BE649-1BEA-4DDF-8B25-085177C1946B}" srcOrd="0" destOrd="0" presId="urn:microsoft.com/office/officeart/2005/8/layout/radial4"/>
    <dgm:cxn modelId="{EDD98F7F-27BD-403A-A852-4F3CB424B0D8}" type="presOf" srcId="{86908134-5176-4445-B54E-01F2400E2233}" destId="{CBFADEF7-5F44-4A16-B0D7-94E014C0862A}" srcOrd="0" destOrd="0" presId="urn:microsoft.com/office/officeart/2005/8/layout/radial4"/>
    <dgm:cxn modelId="{87EF7C4F-AFBA-4347-8586-88E7E79127AC}" type="presOf" srcId="{F5D6D4A5-34D2-43C5-AE6D-36E68EF94C99}" destId="{78A56745-F5CC-455A-81AA-BB47AA406921}" srcOrd="0" destOrd="0" presId="urn:microsoft.com/office/officeart/2005/8/layout/radial4"/>
    <dgm:cxn modelId="{B56EDF69-42AB-4E19-AC19-F84F0696B2D6}" srcId="{1746C91F-4B1F-4465-8175-98C05733A160}" destId="{BE11D951-3C1B-4DC3-A801-B178DAB2D39F}" srcOrd="2" destOrd="0" parTransId="{9C5A01B0-D8B7-4D7E-8FB5-E2586C7FEBFC}" sibTransId="{10D67A31-9E69-40AC-A22F-115FA30830BF}"/>
    <dgm:cxn modelId="{899CB0F8-55C6-4429-A696-46B0EE908DE7}" type="presOf" srcId="{1746C91F-4B1F-4465-8175-98C05733A160}" destId="{2AB0E042-8A5C-479B-B0E7-62403C6D1687}" srcOrd="0" destOrd="0" presId="urn:microsoft.com/office/officeart/2005/8/layout/radial4"/>
    <dgm:cxn modelId="{5492F091-7A7E-42D6-BD85-668A1FE0C8A3}" type="presOf" srcId="{9C5A01B0-D8B7-4D7E-8FB5-E2586C7FEBFC}" destId="{8FCD3254-982B-4916-891C-275BF1D14115}" srcOrd="0" destOrd="0" presId="urn:microsoft.com/office/officeart/2005/8/layout/radial4"/>
    <dgm:cxn modelId="{BC707669-5402-40EE-9A55-C5101B39E8DF}" type="presParOf" srcId="{077C8559-FFE8-47A9-A8F1-0B03F60FD0D2}" destId="{2AB0E042-8A5C-479B-B0E7-62403C6D1687}" srcOrd="0" destOrd="0" presId="urn:microsoft.com/office/officeart/2005/8/layout/radial4"/>
    <dgm:cxn modelId="{8132A77A-1E92-4CD2-AA92-38A4BF59E569}" type="presParOf" srcId="{077C8559-FFE8-47A9-A8F1-0B03F60FD0D2}" destId="{BB1E94A0-5804-4B43-9360-E371ADA41282}" srcOrd="1" destOrd="0" presId="urn:microsoft.com/office/officeart/2005/8/layout/radial4"/>
    <dgm:cxn modelId="{DAC280CB-A0AC-4EDA-9171-1E11B99D0C58}" type="presParOf" srcId="{077C8559-FFE8-47A9-A8F1-0B03F60FD0D2}" destId="{78A56745-F5CC-455A-81AA-BB47AA406921}" srcOrd="2" destOrd="0" presId="urn:microsoft.com/office/officeart/2005/8/layout/radial4"/>
    <dgm:cxn modelId="{392E5504-4130-4A2E-8973-E722683A3011}" type="presParOf" srcId="{077C8559-FFE8-47A9-A8F1-0B03F60FD0D2}" destId="{26B48DFA-D4F4-40A8-80A3-8C01DB2C5213}" srcOrd="3" destOrd="0" presId="urn:microsoft.com/office/officeart/2005/8/layout/radial4"/>
    <dgm:cxn modelId="{E26EEA10-ADE0-4B91-A132-4A6600798AB7}" type="presParOf" srcId="{077C8559-FFE8-47A9-A8F1-0B03F60FD0D2}" destId="{A42930F9-467B-44B9-9846-00B21B70EE2D}" srcOrd="4" destOrd="0" presId="urn:microsoft.com/office/officeart/2005/8/layout/radial4"/>
    <dgm:cxn modelId="{C8517398-3650-44B6-8559-871C04F38218}" type="presParOf" srcId="{077C8559-FFE8-47A9-A8F1-0B03F60FD0D2}" destId="{8FCD3254-982B-4916-891C-275BF1D14115}" srcOrd="5" destOrd="0" presId="urn:microsoft.com/office/officeart/2005/8/layout/radial4"/>
    <dgm:cxn modelId="{136E920F-05C7-4084-88BA-DB8878EC6DAA}" type="presParOf" srcId="{077C8559-FFE8-47A9-A8F1-0B03F60FD0D2}" destId="{CD8C6F4E-C072-45FC-934B-46D50ACB01B1}" srcOrd="6" destOrd="0" presId="urn:microsoft.com/office/officeart/2005/8/layout/radial4"/>
    <dgm:cxn modelId="{6692F5BB-00AC-4D3C-B48D-B5138B7E2883}" type="presParOf" srcId="{077C8559-FFE8-47A9-A8F1-0B03F60FD0D2}" destId="{D77BE649-1BEA-4DDF-8B25-085177C1946B}" srcOrd="7" destOrd="0" presId="urn:microsoft.com/office/officeart/2005/8/layout/radial4"/>
    <dgm:cxn modelId="{18CB5D60-72AB-4C01-9717-45CDAABD6741}" type="presParOf" srcId="{077C8559-FFE8-47A9-A8F1-0B03F60FD0D2}" destId="{CBFADEF7-5F44-4A16-B0D7-94E014C0862A}" srcOrd="8" destOrd="0" presId="urn:microsoft.com/office/officeart/2005/8/layout/radial4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/>
          <p:cNvSpPr/>
          <p:nvPr/>
        </p:nvSpPr>
        <p:spPr>
          <a:xfrm flipV="1">
            <a:off x="5410182" y="3810000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Прямоугольник 23"/>
          <p:cNvSpPr/>
          <p:nvPr/>
        </p:nvSpPr>
        <p:spPr>
          <a:xfrm flipV="1">
            <a:off x="5410200" y="3897010"/>
            <a:ext cx="37338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Прямоугольник 24"/>
          <p:cNvSpPr/>
          <p:nvPr/>
        </p:nvSpPr>
        <p:spPr>
          <a:xfrm flipV="1">
            <a:off x="5410200" y="4115167"/>
            <a:ext cx="37338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Прямоугольник 25"/>
          <p:cNvSpPr/>
          <p:nvPr/>
        </p:nvSpPr>
        <p:spPr>
          <a:xfrm flipV="1">
            <a:off x="5410200" y="4164403"/>
            <a:ext cx="196596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Прямоугольник 26"/>
          <p:cNvSpPr/>
          <p:nvPr/>
        </p:nvSpPr>
        <p:spPr>
          <a:xfrm flipV="1">
            <a:off x="5410200" y="4199572"/>
            <a:ext cx="196596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Скругленный прямоугольник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Скругленный прямоугольник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>
          <a:xfrm>
            <a:off x="1" y="3649662"/>
            <a:ext cx="9144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0" y="3675527"/>
            <a:ext cx="9144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414051" y="3643090"/>
            <a:ext cx="2729950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Прямоугольник 18"/>
          <p:cNvSpPr/>
          <p:nvPr/>
        </p:nvSpPr>
        <p:spPr>
          <a:xfrm>
            <a:off x="0" y="0"/>
            <a:ext cx="9144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2401887"/>
            <a:ext cx="84582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457200" y="3899938"/>
            <a:ext cx="4953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>
          <a:xfrm>
            <a:off x="6705600" y="4206240"/>
            <a:ext cx="960120" cy="457200"/>
          </a:xfrm>
        </p:spPr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>
          <a:xfrm>
            <a:off x="5410200" y="4205288"/>
            <a:ext cx="12954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>
          <a:xfrm>
            <a:off x="8320088" y="1136"/>
            <a:ext cx="747712" cy="365760"/>
          </a:xfrm>
        </p:spPr>
        <p:txBody>
          <a:bodyPr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1981200"/>
            <a:ext cx="77724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367088"/>
            <a:ext cx="77724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1143000"/>
            <a:ext cx="8382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81000" y="2244970"/>
            <a:ext cx="404164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721225" y="2244970"/>
            <a:ext cx="4041775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381000" y="2708519"/>
            <a:ext cx="404164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718304" y="2708519"/>
            <a:ext cx="4041775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26" name="Дата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8" name="Нижний колонтитул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6583680" y="612648"/>
            <a:ext cx="957264" cy="457200"/>
          </a:xfrm>
        </p:spPr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5257800" y="612648"/>
            <a:ext cx="132588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8174736" y="2272"/>
            <a:ext cx="762000" cy="365760"/>
          </a:xfrm>
        </p:spPr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53496" y="1101970"/>
            <a:ext cx="338328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5353496" y="2010727"/>
            <a:ext cx="338328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152400" y="776287"/>
            <a:ext cx="5102352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40434" y="1109160"/>
            <a:ext cx="586803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403671" y="1143000"/>
            <a:ext cx="4572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dirty="0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88443" y="3274308"/>
            <a:ext cx="25908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1143000"/>
            <a:ext cx="1905000" cy="5486400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1" y="366818"/>
            <a:ext cx="9144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Прямоугольник 28"/>
          <p:cNvSpPr/>
          <p:nvPr/>
        </p:nvSpPr>
        <p:spPr>
          <a:xfrm>
            <a:off x="0" y="-1"/>
            <a:ext cx="9144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Прямоугольник 29"/>
          <p:cNvSpPr/>
          <p:nvPr/>
        </p:nvSpPr>
        <p:spPr>
          <a:xfrm>
            <a:off x="0" y="308276"/>
            <a:ext cx="9144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Прямоугольник 30"/>
          <p:cNvSpPr/>
          <p:nvPr/>
        </p:nvSpPr>
        <p:spPr>
          <a:xfrm flipV="1">
            <a:off x="5410182" y="360246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Прямоугольник 31"/>
          <p:cNvSpPr/>
          <p:nvPr/>
        </p:nvSpPr>
        <p:spPr>
          <a:xfrm flipV="1">
            <a:off x="5410200" y="440112"/>
            <a:ext cx="37338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Скругленный прямоугольник 32"/>
          <p:cNvSpPr/>
          <p:nvPr/>
        </p:nvSpPr>
        <p:spPr bwMode="white">
          <a:xfrm>
            <a:off x="5407339" y="497504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Скругленный прямоугольник 33"/>
          <p:cNvSpPr/>
          <p:nvPr/>
        </p:nvSpPr>
        <p:spPr bwMode="white">
          <a:xfrm>
            <a:off x="7373646" y="58894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Прямоугольник 34"/>
          <p:cNvSpPr/>
          <p:nvPr/>
        </p:nvSpPr>
        <p:spPr bwMode="invGray">
          <a:xfrm>
            <a:off x="9084966" y="-2001"/>
            <a:ext cx="5762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Прямоугольник 35"/>
          <p:cNvSpPr/>
          <p:nvPr/>
        </p:nvSpPr>
        <p:spPr bwMode="invGray">
          <a:xfrm>
            <a:off x="9044481" y="-2001"/>
            <a:ext cx="2743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Прямоугольник 36"/>
          <p:cNvSpPr/>
          <p:nvPr/>
        </p:nvSpPr>
        <p:spPr bwMode="invGray">
          <a:xfrm>
            <a:off x="9025428" y="-2001"/>
            <a:ext cx="9144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Прямоугольник 37"/>
          <p:cNvSpPr/>
          <p:nvPr/>
        </p:nvSpPr>
        <p:spPr bwMode="invGray">
          <a:xfrm>
            <a:off x="8975423" y="-2001"/>
            <a:ext cx="2743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Прямоугольник 38"/>
          <p:cNvSpPr/>
          <p:nvPr/>
        </p:nvSpPr>
        <p:spPr bwMode="invGray">
          <a:xfrm>
            <a:off x="8915677" y="380"/>
            <a:ext cx="54864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Прямоугольник 39"/>
          <p:cNvSpPr/>
          <p:nvPr/>
        </p:nvSpPr>
        <p:spPr bwMode="invGray">
          <a:xfrm>
            <a:off x="8873475" y="380"/>
            <a:ext cx="9144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2249424"/>
            <a:ext cx="82296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586536" y="612648"/>
            <a:ext cx="957264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13.01.2016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5257800" y="612648"/>
            <a:ext cx="132588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174736" y="2272"/>
            <a:ext cx="762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/>
              <a:t>Возможности поддержки принятия решений в системах управления жизненным циклом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Автор</a:t>
            </a:r>
            <a:r>
              <a:rPr lang="ru-RU" dirty="0" smtClean="0"/>
              <a:t>: Темников А.В., студент группы 521 </a:t>
            </a:r>
            <a:endParaRPr lang="en-US" dirty="0" smtClean="0"/>
          </a:p>
          <a:p>
            <a:r>
              <a:rPr lang="ru-RU" dirty="0" smtClean="0"/>
              <a:t>Финансового Университета при правительстве Российской Федерации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Информационные системы предприятия</a:t>
            </a:r>
            <a:endParaRPr lang="ru-RU" dirty="0"/>
          </a:p>
        </p:txBody>
      </p:sp>
      <p:graphicFrame>
        <p:nvGraphicFramePr>
          <p:cNvPr id="4" name="Содержимое 3"/>
          <p:cNvGraphicFramePr>
            <a:graphicFrameLocks noGrp="1"/>
          </p:cNvGraphicFramePr>
          <p:nvPr>
            <p:ph idx="1"/>
          </p:nvPr>
        </p:nvGraphicFramePr>
        <p:xfrm>
          <a:off x="457200" y="2249488"/>
          <a:ext cx="4257676" cy="432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86380" y="2357430"/>
            <a:ext cx="33575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dirty="0" smtClean="0"/>
              <a:t>ERP – </a:t>
            </a:r>
            <a:r>
              <a:rPr lang="ru-RU" dirty="0" smtClean="0"/>
              <a:t>Планирование (</a:t>
            </a:r>
            <a:r>
              <a:rPr lang="ru-RU" dirty="0" smtClean="0"/>
              <a:t>управление</a:t>
            </a:r>
            <a:r>
              <a:rPr lang="ru-RU" dirty="0" smtClean="0"/>
              <a:t>) ресурсами предприятия </a:t>
            </a: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CSM – </a:t>
            </a:r>
            <a:r>
              <a:rPr lang="ru-RU" dirty="0" smtClean="0"/>
              <a:t>Управление цепочками поставок </a:t>
            </a:r>
            <a:endParaRPr lang="en-US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CRM – </a:t>
            </a:r>
            <a:r>
              <a:rPr lang="ru-RU" dirty="0" smtClean="0"/>
              <a:t>Управление взаимодействием с клиентом</a:t>
            </a: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PLM – </a:t>
            </a:r>
            <a:r>
              <a:rPr lang="ru-RU" dirty="0" smtClean="0"/>
              <a:t>Управление жизненным циклом</a:t>
            </a:r>
            <a:endParaRPr lang="ru-RU" dirty="0" smtClean="0"/>
          </a:p>
          <a:p>
            <a:pPr>
              <a:buFont typeface="Arial" pitchFamily="34" charset="0"/>
              <a:buChar char="•"/>
            </a:pP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КССПР –</a:t>
            </a:r>
            <a:r>
              <a:rPr lang="en-US" dirty="0" smtClean="0"/>
              <a:t> </a:t>
            </a:r>
            <a:r>
              <a:rPr lang="ru-RU" dirty="0" smtClean="0"/>
              <a:t>Комплексная система поддержки принятия решений</a:t>
            </a:r>
            <a:endParaRPr lang="en-US" dirty="0" smtClean="0"/>
          </a:p>
          <a:p>
            <a:endParaRPr lang="ru-RU" dirty="0" smtClean="0"/>
          </a:p>
          <a:p>
            <a:endParaRPr lang="en-US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		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PTC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Windchill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это PLM-система, предназначенная для автоматизации процессов управления данными. 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PTC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Windchill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позволяет управлять всей информацией о структуре изделия при его разработке – от концепции до утилизации, от изготовления отдельных деталей до сдачи их в эксплуатацию и т.д. 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		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PTC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Windchill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предоставляет необходимую функциональность для автоматизации процессов управления данными изделия при одновременной разработке различными группами разработчиков. Архитектура системы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PTC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Windchill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построена на основе web-технологий, что позволяет не только динамично развивать систему, но и использовать стандартные web-инструменты – такой подход существенно упрощает администрирование системы и работу ее пользователей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Содержимое 5" descr="windchill-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5400" y="1285860"/>
            <a:ext cx="4038600" cy="2898673"/>
          </a:xfrm>
        </p:spPr>
      </p:pic>
      <p:pic>
        <p:nvPicPr>
          <p:cNvPr id="7" name="Рисунок 6" descr="Windchill-10-PSB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37" y="3571876"/>
            <a:ext cx="4296781" cy="30003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Классификации СППР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dirty="0" smtClean="0"/>
              <a:t>Взаимодействие с пользователем</a:t>
            </a:r>
            <a:r>
              <a:rPr lang="ru-RU" sz="3100" dirty="0" smtClean="0"/>
              <a:t>:</a:t>
            </a:r>
            <a:endParaRPr lang="ru-RU" sz="3100" dirty="0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 smtClean="0"/>
              <a:t>Пассивные</a:t>
            </a:r>
            <a:r>
              <a:rPr lang="ru-RU" dirty="0" smtClean="0"/>
              <a:t> помогают в процессе принятия решений, но не могут выдвинуть конкретного предложения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Активные</a:t>
            </a:r>
            <a:r>
              <a:rPr lang="ru-RU" dirty="0" smtClean="0"/>
              <a:t> непосредственно участвуют в разработке правильного решения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Кооперативные</a:t>
            </a:r>
            <a:r>
              <a:rPr lang="ru-RU" dirty="0" smtClean="0"/>
              <a:t> предполагают взаимодействие СППР с пользователем. </a:t>
            </a:r>
            <a:endParaRPr lang="ru-RU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Классификации СППР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dirty="0" smtClean="0"/>
              <a:t>По способу поддержки различают</a:t>
            </a:r>
            <a:r>
              <a:rPr lang="ru-RU" sz="3100" dirty="0" smtClean="0"/>
              <a:t>:</a:t>
            </a:r>
            <a:endParaRPr lang="ru-RU" sz="31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ru-RU" b="1" dirty="0" smtClean="0"/>
              <a:t>Модельно-ориентированные СППР</a:t>
            </a:r>
            <a:r>
              <a:rPr lang="ru-RU" dirty="0" smtClean="0"/>
              <a:t>, используют в работе доступ к статистическим, финансовым или иным моделям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СППР</a:t>
            </a:r>
            <a:r>
              <a:rPr lang="ru-RU" b="1" dirty="0" smtClean="0"/>
              <a:t>, основанные на коммуникациях</a:t>
            </a:r>
            <a:r>
              <a:rPr lang="ru-RU" dirty="0" smtClean="0"/>
              <a:t>, поддерживают работу двух и более пользователей, занимающихся общей задачей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СППР</a:t>
            </a:r>
            <a:r>
              <a:rPr lang="ru-RU" b="1" dirty="0" smtClean="0"/>
              <a:t>, ориентированные на данные</a:t>
            </a:r>
            <a:r>
              <a:rPr lang="ru-RU" dirty="0" smtClean="0"/>
              <a:t>, имеют доступ к временным рядам организации. Они используют в работе не только внутренние, но и внешние данные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СППР</a:t>
            </a:r>
            <a:r>
              <a:rPr lang="ru-RU" b="1" dirty="0" smtClean="0"/>
              <a:t>, ориентированные на документы</a:t>
            </a:r>
            <a:r>
              <a:rPr lang="ru-RU" dirty="0" smtClean="0"/>
              <a:t>, манипулируют неструктурированной информацией, заключенной в различных электронных форматах</a:t>
            </a:r>
            <a:r>
              <a:rPr lang="ru-RU" dirty="0" smtClean="0"/>
              <a:t>;</a:t>
            </a:r>
          </a:p>
          <a:p>
            <a:pPr lvl="0"/>
            <a:r>
              <a:rPr lang="ru-RU" b="1" dirty="0" smtClean="0"/>
              <a:t>СППР</a:t>
            </a:r>
            <a:r>
              <a:rPr lang="ru-RU" b="1" dirty="0" smtClean="0"/>
              <a:t>, ориентированные на знания</a:t>
            </a:r>
            <a:r>
              <a:rPr lang="ru-RU" dirty="0" smtClean="0"/>
              <a:t>, предоставляют специализированные решения проблем, основанные на фактах</a:t>
            </a:r>
            <a:r>
              <a:rPr lang="ru-RU" dirty="0" smtClean="0"/>
              <a:t>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/>
            </a:r>
            <a:br>
              <a:rPr lang="ru-RU" dirty="0" smtClean="0"/>
            </a:br>
            <a:r>
              <a:rPr lang="ru-RU" dirty="0" smtClean="0"/>
              <a:t>Классификации СППР 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dirty="0" smtClean="0"/>
              <a:t>По сфере использования выделяют</a:t>
            </a:r>
            <a:r>
              <a:rPr lang="ru-RU" sz="3100" dirty="0" smtClean="0"/>
              <a:t>: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smtClean="0"/>
              <a:t>Общесистемные </a:t>
            </a:r>
            <a:r>
              <a:rPr lang="ru-RU" dirty="0" smtClean="0"/>
              <a:t>работают с большими системами хранения данных и применяются многими пользователями. </a:t>
            </a:r>
            <a:endParaRPr lang="ru-RU" b="1" dirty="0" smtClean="0"/>
          </a:p>
          <a:p>
            <a:pPr lvl="0"/>
            <a:r>
              <a:rPr lang="ru-RU" b="1" dirty="0" smtClean="0"/>
              <a:t>Настольные СППР </a:t>
            </a:r>
            <a:r>
              <a:rPr lang="ru-RU" dirty="0" smtClean="0"/>
              <a:t>являются небольшими системами и подходят для управления с персонального компьютера одного пользователя</a:t>
            </a:r>
            <a:r>
              <a:rPr lang="ru-RU" dirty="0" smtClean="0"/>
              <a:t>.</a:t>
            </a:r>
            <a:endParaRPr lang="ru-RU" b="1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ru-RU" dirty="0" smtClean="0"/>
              <a:t>Структура СППР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dirty="0" smtClean="0"/>
              <a:t>Информационные хранилища данных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ru-RU" dirty="0" smtClean="0"/>
              <a:t>	</a:t>
            </a:r>
            <a:r>
              <a:rPr lang="ru-RU" dirty="0" smtClean="0"/>
              <a:t>	</a:t>
            </a:r>
            <a:r>
              <a:rPr lang="ru-RU" b="1" dirty="0" smtClean="0"/>
              <a:t>Информационные хранилища данных </a:t>
            </a:r>
            <a:r>
              <a:rPr lang="ru-RU" dirty="0" smtClean="0"/>
              <a:t>– это предметно-ориентированные, интегрированные, неизменные, поддерживающие хронологию наборы данных, организованные для целей поддержки управления, призванные выступать в роли единого и единственного источника истины, обеспечивающего менеджеров и аналитиков достоверной информацией, необходимой для оперативного анализа и принятия решений.</a:t>
            </a:r>
            <a:endParaRPr lang="ru-RU" dirty="0"/>
          </a:p>
        </p:txBody>
      </p:sp>
      <p:sp>
        <p:nvSpPr>
          <p:cNvPr id="5" name="Содержимое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 smtClean="0"/>
              <a:t>Объектно-реляционная СУБД</a:t>
            </a:r>
            <a:r>
              <a:rPr lang="ru-RU" dirty="0" smtClean="0"/>
              <a:t> — реляционная СУБД поддерживающая некоторые технологии, реализующие объектно-ориентированный подход: </a:t>
            </a:r>
            <a:r>
              <a:rPr lang="ru-RU" b="1" dirty="0" smtClean="0"/>
              <a:t>объекты</a:t>
            </a:r>
            <a:r>
              <a:rPr lang="ru-RU" dirty="0" smtClean="0"/>
              <a:t>, </a:t>
            </a:r>
            <a:r>
              <a:rPr lang="ru-RU" b="1" dirty="0" smtClean="0"/>
              <a:t>классы</a:t>
            </a:r>
            <a:r>
              <a:rPr lang="ru-RU" dirty="0" smtClean="0"/>
              <a:t> и </a:t>
            </a:r>
            <a:r>
              <a:rPr lang="ru-RU" b="1" dirty="0" smtClean="0"/>
              <a:t>наследование</a:t>
            </a:r>
            <a:r>
              <a:rPr lang="ru-RU" dirty="0" smtClean="0"/>
              <a:t> реализованы в структуре баз данных и языке запросов.</a:t>
            </a:r>
          </a:p>
          <a:p>
            <a:r>
              <a:rPr lang="ru-RU" dirty="0" smtClean="0"/>
              <a:t>Термин </a:t>
            </a:r>
            <a:r>
              <a:rPr lang="ru-RU" b="1" dirty="0" smtClean="0"/>
              <a:t>«</a:t>
            </a:r>
            <a:r>
              <a:rPr lang="ru-RU" b="1" dirty="0" smtClean="0"/>
              <a:t>реляционный</a:t>
            </a:r>
            <a:r>
              <a:rPr lang="ru-RU" b="1" dirty="0" smtClean="0"/>
              <a:t>» </a:t>
            </a:r>
            <a:r>
              <a:rPr lang="ru-RU" dirty="0" smtClean="0"/>
              <a:t>означает, что теория основана на математическом понятии </a:t>
            </a:r>
            <a:r>
              <a:rPr lang="ru-RU" b="1" dirty="0" smtClean="0"/>
              <a:t>отношение</a:t>
            </a:r>
            <a:r>
              <a:rPr lang="ru-RU" dirty="0" smtClean="0"/>
              <a:t> (</a:t>
            </a:r>
            <a:r>
              <a:rPr lang="ru-RU" i="1" dirty="0" err="1" smtClean="0"/>
              <a:t>relation</a:t>
            </a:r>
            <a:r>
              <a:rPr lang="ru-RU" dirty="0" smtClean="0"/>
              <a:t>). В качестве неформального синонима термину «отношение» часто встречается слово </a:t>
            </a:r>
            <a:r>
              <a:rPr lang="ru-RU" b="1" dirty="0" smtClean="0"/>
              <a:t>таблица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Структура СППР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sz="3100" dirty="0" smtClean="0"/>
              <a:t>Средства и методы извлечения, обработки и загрузки данных (</a:t>
            </a:r>
            <a:r>
              <a:rPr lang="ru-RU" sz="3100" dirty="0" smtClean="0"/>
              <a:t>ETL</a:t>
            </a:r>
            <a:r>
              <a:rPr lang="ru-RU" sz="3100" dirty="0" smtClean="0"/>
              <a:t>)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		</a:t>
            </a:r>
            <a:r>
              <a:rPr lang="ru-RU" b="1" dirty="0" smtClean="0"/>
              <a:t>ETL</a:t>
            </a:r>
            <a:r>
              <a:rPr lang="ru-RU" dirty="0" smtClean="0"/>
              <a:t> – аббревиатура от </a:t>
            </a:r>
            <a:r>
              <a:rPr lang="ru-RU" b="1" dirty="0" err="1" smtClean="0"/>
              <a:t>Extract</a:t>
            </a:r>
            <a:r>
              <a:rPr lang="ru-RU" b="1" dirty="0" smtClean="0"/>
              <a:t> </a:t>
            </a:r>
            <a:r>
              <a:rPr lang="ru-RU" dirty="0" smtClean="0"/>
              <a:t>(извлечь), </a:t>
            </a:r>
            <a:r>
              <a:rPr lang="ru-RU" b="1" dirty="0" err="1" smtClean="0"/>
              <a:t>Transform</a:t>
            </a:r>
            <a:r>
              <a:rPr lang="ru-RU" b="1" dirty="0" smtClean="0"/>
              <a:t> </a:t>
            </a:r>
            <a:r>
              <a:rPr lang="ru-RU" dirty="0" smtClean="0"/>
              <a:t>(изменить), </a:t>
            </a:r>
            <a:r>
              <a:rPr lang="ru-RU" b="1" dirty="0" err="1" smtClean="0"/>
              <a:t>Load</a:t>
            </a:r>
            <a:r>
              <a:rPr lang="ru-RU" b="1" dirty="0" smtClean="0"/>
              <a:t> </a:t>
            </a:r>
            <a:r>
              <a:rPr lang="ru-RU" dirty="0" smtClean="0"/>
              <a:t>(загрузить). Это системы корпоративного класса, которые применяются, чтобы привести к одним справочникам и загрузить в</a:t>
            </a:r>
            <a:r>
              <a:rPr lang="en-US" dirty="0" smtClean="0"/>
              <a:t> </a:t>
            </a:r>
            <a:r>
              <a:rPr lang="ru-RU" dirty="0" smtClean="0"/>
              <a:t>хранилище данных информацию из нескольких разных учетных систем</a:t>
            </a:r>
            <a:r>
              <a:rPr lang="ru-RU" dirty="0" smtClean="0"/>
              <a:t>.</a:t>
            </a:r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ru-RU" dirty="0" smtClean="0"/>
              <a:t>Структура СППР</a:t>
            </a:r>
            <a:br>
              <a:rPr lang="ru-RU" dirty="0" smtClean="0"/>
            </a:br>
            <a:r>
              <a:rPr lang="ru-RU" dirty="0" smtClean="0"/>
              <a:t>М</a:t>
            </a:r>
            <a:r>
              <a:rPr lang="ru-RU" sz="3100" dirty="0" smtClean="0"/>
              <a:t>ногомерная БД и средства анализа OLAP</a:t>
            </a:r>
            <a:r>
              <a:rPr lang="ru-RU" sz="3100" dirty="0" smtClean="0"/>
              <a:t>;</a:t>
            </a:r>
            <a:br>
              <a:rPr lang="ru-RU" sz="3100" dirty="0" smtClean="0"/>
            </a:br>
            <a:r>
              <a:rPr lang="ru-RU" sz="3100" dirty="0" smtClean="0"/>
              <a:t>Средства </a:t>
            </a:r>
            <a:r>
              <a:rPr lang="ru-RU" sz="3100" dirty="0" err="1" smtClean="0"/>
              <a:t>Data</a:t>
            </a:r>
            <a:r>
              <a:rPr lang="ru-RU" sz="3100" dirty="0" smtClean="0"/>
              <a:t> </a:t>
            </a:r>
            <a:r>
              <a:rPr lang="ru-RU" sz="3100" dirty="0" err="1" smtClean="0"/>
              <a:t>Mining</a:t>
            </a:r>
            <a:r>
              <a:rPr lang="ru-RU" sz="3100" dirty="0" smtClean="0"/>
              <a:t>.</a:t>
            </a:r>
            <a:endParaRPr lang="ru-RU" sz="3100" dirty="0"/>
          </a:p>
        </p:txBody>
      </p:sp>
      <p:sp>
        <p:nvSpPr>
          <p:cNvPr id="8" name="Содержимое 7"/>
          <p:cNvSpPr>
            <a:spLocks noGrp="1"/>
          </p:cNvSpPr>
          <p:nvPr>
            <p:ph sz="half" idx="1"/>
          </p:nvPr>
        </p:nvSpPr>
        <p:spPr>
          <a:xfrm>
            <a:off x="457200" y="2428868"/>
            <a:ext cx="4043362" cy="4346519"/>
          </a:xfrm>
        </p:spPr>
        <p:txBody>
          <a:bodyPr>
            <a:normAutofit fontScale="85000" lnSpcReduction="10000"/>
          </a:bodyPr>
          <a:lstStyle/>
          <a:p>
            <a:pPr>
              <a:buNone/>
            </a:pPr>
            <a:r>
              <a:rPr lang="en-US" dirty="0" smtClean="0"/>
              <a:t>		</a:t>
            </a:r>
            <a:r>
              <a:rPr lang="ru-RU" b="1" dirty="0" smtClean="0"/>
              <a:t> OLAP</a:t>
            </a:r>
            <a:r>
              <a:rPr lang="ru-RU" dirty="0" smtClean="0"/>
              <a:t> (</a:t>
            </a:r>
            <a:r>
              <a:rPr lang="ru-RU" dirty="0" smtClean="0"/>
              <a:t>англ</a:t>
            </a:r>
            <a:r>
              <a:rPr lang="ru-RU" dirty="0" smtClean="0"/>
              <a:t>. </a:t>
            </a:r>
            <a:r>
              <a:rPr lang="ru-RU" dirty="0" err="1" smtClean="0"/>
              <a:t>online</a:t>
            </a:r>
            <a:r>
              <a:rPr lang="ru-RU" dirty="0" smtClean="0"/>
              <a:t> </a:t>
            </a:r>
            <a:r>
              <a:rPr lang="ru-RU" dirty="0" err="1" smtClean="0"/>
              <a:t>analytical</a:t>
            </a:r>
            <a:r>
              <a:rPr lang="ru-RU" dirty="0" smtClean="0"/>
              <a:t> </a:t>
            </a:r>
            <a:r>
              <a:rPr lang="ru-RU" dirty="0" err="1" smtClean="0"/>
              <a:t>processing</a:t>
            </a:r>
            <a:r>
              <a:rPr lang="ru-RU" dirty="0" smtClean="0"/>
              <a:t>, аналитическая обработка в реальном времени) — технология обработки данных, заключающаяся в подготовке суммарной (</a:t>
            </a:r>
            <a:r>
              <a:rPr lang="ru-RU" dirty="0" smtClean="0"/>
              <a:t>агрегированной</a:t>
            </a:r>
            <a:r>
              <a:rPr lang="ru-RU" dirty="0" smtClean="0"/>
              <a:t>) информации на основе больших массивов данных, структурированных по многомерному принципу</a:t>
            </a:r>
            <a:r>
              <a:rPr lang="ru-RU" dirty="0" smtClean="0"/>
              <a:t>.</a:t>
            </a:r>
            <a:endParaRPr lang="ru-RU" dirty="0" smtClean="0"/>
          </a:p>
          <a:p>
            <a:pPr>
              <a:buNone/>
            </a:pPr>
            <a:r>
              <a:rPr lang="ru-RU" dirty="0" smtClean="0"/>
              <a:t>		Многомерное моделирование предусматривает использование измерений для предоставления максимально возможного контекста для фактов  модели.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sz="half" idx="2"/>
          </p:nvPr>
        </p:nvSpPr>
        <p:spPr>
          <a:xfrm>
            <a:off x="4648200" y="2428868"/>
            <a:ext cx="4067204" cy="4346519"/>
          </a:xfrm>
        </p:spPr>
        <p:txBody>
          <a:bodyPr>
            <a:normAutofit fontScale="85000" lnSpcReduction="10000"/>
          </a:bodyPr>
          <a:lstStyle/>
          <a:p>
            <a:pPr>
              <a:buNone/>
            </a:pPr>
            <a:r>
              <a:rPr lang="ru-RU" b="1" dirty="0" smtClean="0"/>
              <a:t>		</a:t>
            </a:r>
            <a:r>
              <a:rPr lang="ru-RU" b="1" dirty="0" err="1" smtClean="0"/>
              <a:t>Data</a:t>
            </a:r>
            <a:r>
              <a:rPr lang="ru-RU" b="1" dirty="0" smtClean="0"/>
              <a:t> </a:t>
            </a:r>
            <a:r>
              <a:rPr lang="ru-RU" b="1" dirty="0" err="1" smtClean="0"/>
              <a:t>Mining</a:t>
            </a:r>
            <a:r>
              <a:rPr lang="ru-RU" dirty="0" smtClean="0"/>
              <a:t> (</a:t>
            </a:r>
            <a:r>
              <a:rPr lang="ru-RU" dirty="0" smtClean="0"/>
              <a:t>рус</a:t>
            </a:r>
            <a:r>
              <a:rPr lang="ru-RU" dirty="0" smtClean="0"/>
              <a:t>. добыча данных, интеллектуальный анализ данных, глубинный анализ данных) — собирательное название, используемое для обозначения совокупности методов обнаружения в данных ранее неизвестных, нетривиальных, практически полезных и доступных интерпретации знаний, необходимых для принятия решений в различных ...</a:t>
            </a:r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Жизненный цикл продукции:</a:t>
            </a:r>
            <a:endParaRPr lang="ru-RU" dirty="0"/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Маркетинговые исследования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Проектирование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Технологическая подготовка производства (ТПП)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Собственно производство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Послепродажное обслуживание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Эксплуатация продукции</a:t>
            </a:r>
          </a:p>
          <a:p>
            <a:pPr marL="624078" lvl="0" indent="-514350">
              <a:buFont typeface="+mj-lt"/>
              <a:buAutoNum type="arabicPeriod"/>
            </a:pPr>
            <a:r>
              <a:rPr lang="ru-RU" dirty="0" smtClean="0"/>
              <a:t>Утилизация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Данные для поддержки принятия решений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ru-RU" dirty="0" smtClean="0"/>
              <a:t>Количество и параметры покупных комплектующих изделий;</a:t>
            </a:r>
          </a:p>
          <a:p>
            <a:pPr lvl="0"/>
            <a:r>
              <a:rPr lang="ru-RU" dirty="0" smtClean="0"/>
              <a:t>Электрические характеристики радиодеталей; </a:t>
            </a:r>
          </a:p>
          <a:p>
            <a:pPr lvl="0"/>
            <a:r>
              <a:rPr lang="ru-RU" dirty="0" smtClean="0"/>
              <a:t>Допустимые замены стандартных (покупных) изделий;</a:t>
            </a:r>
          </a:p>
          <a:p>
            <a:pPr lvl="0"/>
            <a:r>
              <a:rPr lang="ru-RU" dirty="0" smtClean="0"/>
              <a:t>Используемые материалы и габариты деталей;</a:t>
            </a:r>
          </a:p>
          <a:p>
            <a:pPr lvl="0"/>
            <a:r>
              <a:rPr lang="ru-RU" dirty="0" smtClean="0"/>
              <a:t>Технологический маршрут изделия;</a:t>
            </a:r>
          </a:p>
          <a:p>
            <a:pPr lvl="0"/>
            <a:r>
              <a:rPr lang="ru-RU" dirty="0" smtClean="0"/>
              <a:t>Состав изделия;</a:t>
            </a:r>
          </a:p>
          <a:p>
            <a:pPr lvl="0"/>
            <a:r>
              <a:rPr lang="ru-RU" dirty="0" smtClean="0"/>
              <a:t>Трудоёмкость изделий и требуемый разряд рабочих;</a:t>
            </a:r>
          </a:p>
          <a:p>
            <a:pPr lvl="0"/>
            <a:r>
              <a:rPr lang="ru-RU" dirty="0" smtClean="0"/>
              <a:t>История изменений изделия и др.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lvl="0"/>
            <a:r>
              <a:rPr lang="ru-RU" sz="2800" dirty="0" smtClean="0"/>
              <a:t>Количество и параметры покупных комплектующих </a:t>
            </a:r>
            <a:r>
              <a:rPr lang="ru-RU" sz="2800" dirty="0" smtClean="0"/>
              <a:t>изделий, электрические характеристики, допустимые замены</a:t>
            </a:r>
            <a:endParaRPr lang="ru-RU" sz="28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28596" y="2357430"/>
            <a:ext cx="8229600" cy="4325112"/>
          </a:xfrm>
        </p:spPr>
        <p:txBody>
          <a:bodyPr/>
          <a:lstStyle/>
          <a:p>
            <a:pPr>
              <a:buNone/>
            </a:pPr>
            <a:r>
              <a:rPr lang="ru-RU" dirty="0" smtClean="0"/>
              <a:t>		Возможности </a:t>
            </a:r>
            <a:r>
              <a:rPr lang="ru-RU" dirty="0" smtClean="0"/>
              <a:t>для поддержки принятия </a:t>
            </a:r>
            <a:r>
              <a:rPr lang="ru-RU" dirty="0" smtClean="0"/>
              <a:t>решений:</a:t>
            </a:r>
            <a:endParaRPr lang="ru-RU" dirty="0" smtClean="0"/>
          </a:p>
          <a:p>
            <a:r>
              <a:rPr lang="ru-RU" dirty="0" smtClean="0"/>
              <a:t>Быстрый </a:t>
            </a:r>
            <a:r>
              <a:rPr lang="ru-RU" dirty="0" smtClean="0"/>
              <a:t>поиск радиоэлементов по параметрам;</a:t>
            </a:r>
          </a:p>
          <a:p>
            <a:r>
              <a:rPr lang="ru-RU" dirty="0" smtClean="0"/>
              <a:t>Расчет </a:t>
            </a:r>
            <a:r>
              <a:rPr lang="ru-RU" dirty="0" smtClean="0"/>
              <a:t>электрических параметров и массогабаритных характеристик;</a:t>
            </a:r>
          </a:p>
          <a:p>
            <a:r>
              <a:rPr lang="ru-RU" dirty="0" smtClean="0"/>
              <a:t>Информация </a:t>
            </a:r>
            <a:r>
              <a:rPr lang="ru-RU" dirty="0" smtClean="0"/>
              <a:t>о вхождении ПКИ в изделия;</a:t>
            </a:r>
          </a:p>
          <a:p>
            <a:r>
              <a:rPr lang="ru-RU" dirty="0" smtClean="0"/>
              <a:t>Текущее </a:t>
            </a:r>
            <a:r>
              <a:rPr lang="ru-RU" dirty="0" smtClean="0"/>
              <a:t>значение себестоимости.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Используемые материалы и габариты </a:t>
            </a:r>
            <a:r>
              <a:rPr lang="ru-RU" dirty="0" smtClean="0"/>
              <a:t>деталей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</a:t>
            </a:r>
            <a:r>
              <a:rPr lang="ru-RU" dirty="0" smtClean="0"/>
              <a:t>	Атрибуты для поддержки принятия решений:</a:t>
            </a:r>
          </a:p>
          <a:p>
            <a:r>
              <a:rPr lang="ru-RU" dirty="0" smtClean="0"/>
              <a:t>Значение </a:t>
            </a:r>
            <a:r>
              <a:rPr lang="ru-RU" dirty="0" smtClean="0"/>
              <a:t>отхода производства;</a:t>
            </a:r>
          </a:p>
          <a:p>
            <a:r>
              <a:rPr lang="ru-RU" dirty="0" smtClean="0"/>
              <a:t>Количество </a:t>
            </a:r>
            <a:r>
              <a:rPr lang="ru-RU" dirty="0" smtClean="0"/>
              <a:t>заготовок на один раскрой;</a:t>
            </a:r>
          </a:p>
          <a:p>
            <a:r>
              <a:rPr lang="ru-RU" dirty="0" smtClean="0"/>
              <a:t>Плотность</a:t>
            </a:r>
            <a:r>
              <a:rPr lang="ru-RU" dirty="0" smtClean="0"/>
              <a:t>, прочность, твердость и т.д.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Технологический маршрут изделия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ru-RU" dirty="0" smtClean="0"/>
              <a:t>		Технологический </a:t>
            </a:r>
            <a:r>
              <a:rPr lang="ru-RU" dirty="0" smtClean="0"/>
              <a:t>маршрут может быть использован для принятия решений во многих </a:t>
            </a:r>
            <a:r>
              <a:rPr lang="ru-RU" dirty="0" err="1" smtClean="0"/>
              <a:t>бизнес-процеесах</a:t>
            </a:r>
            <a:r>
              <a:rPr lang="ru-RU" dirty="0" smtClean="0"/>
              <a:t>:</a:t>
            </a:r>
          </a:p>
          <a:p>
            <a:r>
              <a:rPr lang="ru-RU" dirty="0" smtClean="0"/>
              <a:t>Планирование </a:t>
            </a:r>
            <a:r>
              <a:rPr lang="ru-RU" dirty="0" smtClean="0"/>
              <a:t>производства;</a:t>
            </a:r>
          </a:p>
          <a:p>
            <a:r>
              <a:rPr lang="ru-RU" dirty="0" smtClean="0"/>
              <a:t>Распределение </a:t>
            </a:r>
            <a:r>
              <a:rPr lang="ru-RU" dirty="0" smtClean="0"/>
              <a:t>производственных мощностей;</a:t>
            </a:r>
          </a:p>
          <a:p>
            <a:r>
              <a:rPr lang="ru-RU" dirty="0" smtClean="0"/>
              <a:t>Расчет </a:t>
            </a:r>
            <a:r>
              <a:rPr lang="ru-RU" dirty="0" smtClean="0"/>
              <a:t>трудоёмкости изделия;</a:t>
            </a:r>
          </a:p>
          <a:p>
            <a:r>
              <a:rPr lang="ru-RU" dirty="0" smtClean="0"/>
              <a:t>Проектирование </a:t>
            </a:r>
            <a:r>
              <a:rPr lang="ru-RU" dirty="0" smtClean="0"/>
              <a:t>рабочего пространства;</a:t>
            </a:r>
          </a:p>
          <a:p>
            <a:r>
              <a:rPr lang="ru-RU" dirty="0" smtClean="0"/>
              <a:t>Наём </a:t>
            </a:r>
            <a:r>
              <a:rPr lang="ru-RU" dirty="0" smtClean="0"/>
              <a:t>и подготовка требуемого персонала;</a:t>
            </a:r>
          </a:p>
          <a:p>
            <a:r>
              <a:rPr lang="ru-RU" dirty="0" smtClean="0"/>
              <a:t>Управление </a:t>
            </a:r>
            <a:r>
              <a:rPr lang="ru-RU" dirty="0" smtClean="0"/>
              <a:t>цеховой и производственной логистикой;</a:t>
            </a:r>
          </a:p>
          <a:p>
            <a:r>
              <a:rPr lang="ru-RU" dirty="0" smtClean="0"/>
              <a:t>Планирование </a:t>
            </a:r>
            <a:r>
              <a:rPr lang="ru-RU" dirty="0" smtClean="0"/>
              <a:t>складского обеспечения;</a:t>
            </a:r>
          </a:p>
          <a:p>
            <a:r>
              <a:rPr lang="ru-RU" dirty="0" smtClean="0"/>
              <a:t>Подсчет </a:t>
            </a:r>
            <a:r>
              <a:rPr lang="ru-RU" dirty="0" smtClean="0"/>
              <a:t>выработки по цеху и т.д.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Управление составом изделия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ru-RU" dirty="0" smtClean="0"/>
              <a:t>		В </a:t>
            </a:r>
            <a:r>
              <a:rPr lang="ru-RU" dirty="0" smtClean="0"/>
              <a:t>общем случае, при производстве могут применяться следующие типы </a:t>
            </a:r>
            <a:r>
              <a:rPr lang="ru-RU" dirty="0" smtClean="0"/>
              <a:t>объектов:</a:t>
            </a:r>
            <a:endParaRPr lang="ru-RU" dirty="0" smtClean="0"/>
          </a:p>
          <a:p>
            <a:pPr lvl="0"/>
            <a:r>
              <a:rPr lang="ru-RU" dirty="0" smtClean="0"/>
              <a:t>Материал – имеются в виду ещё не прошедшие обработку материальные ресурсы;</a:t>
            </a:r>
          </a:p>
          <a:p>
            <a:pPr lvl="0"/>
            <a:r>
              <a:rPr lang="ru-RU" dirty="0" smtClean="0"/>
              <a:t>Заготовка – материал, с которым были произведены определенные операции;</a:t>
            </a:r>
          </a:p>
          <a:p>
            <a:pPr lvl="0"/>
            <a:r>
              <a:rPr lang="ru-RU" dirty="0" smtClean="0"/>
              <a:t>Деталь – законченный элемент конструкции;</a:t>
            </a:r>
          </a:p>
          <a:p>
            <a:pPr lvl="0"/>
            <a:r>
              <a:rPr lang="ru-RU" dirty="0" smtClean="0"/>
              <a:t>Сборочная единица – деталь, в составе которой содержатся другие детали или сборочные единицы;</a:t>
            </a:r>
          </a:p>
          <a:p>
            <a:pPr lvl="0"/>
            <a:r>
              <a:rPr lang="ru-RU" dirty="0" smtClean="0"/>
              <a:t>Покупное комплектующее изделие – деталь, которая не производится на предприятии, а закупается;</a:t>
            </a:r>
          </a:p>
          <a:p>
            <a:pPr lvl="0"/>
            <a:r>
              <a:rPr lang="ru-RU" dirty="0" smtClean="0"/>
              <a:t>Инструмент – применяется в том случае, если для изготовления или настройки продукции требуется нестандартное оборудование;</a:t>
            </a:r>
          </a:p>
          <a:p>
            <a:pPr lvl="0"/>
            <a:r>
              <a:rPr lang="ru-RU" dirty="0" smtClean="0"/>
              <a:t>Документ – сюда относится вся сопроводительная документация, т.е. чертежи, спецификации, технические условия, перечни, инструкции, схемы и т.д</a:t>
            </a:r>
            <a:r>
              <a:rPr lang="ru-RU" dirty="0" smtClean="0"/>
              <a:t>.</a:t>
            </a:r>
            <a:endParaRPr lang="ru-RU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Трудоёмкость </a:t>
            </a:r>
            <a:r>
              <a:rPr lang="ru-RU" dirty="0" smtClean="0"/>
              <a:t>изделия и требуемый разряд рабочих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	Используется для расчета и формирования:</a:t>
            </a:r>
          </a:p>
          <a:p>
            <a:r>
              <a:rPr lang="ru-RU" dirty="0" smtClean="0"/>
              <a:t>Зарплат (по цехам, по рабочим, по заказам);</a:t>
            </a:r>
          </a:p>
          <a:p>
            <a:r>
              <a:rPr lang="ru-RU" dirty="0" smtClean="0"/>
              <a:t>Производственного плана;</a:t>
            </a:r>
          </a:p>
          <a:p>
            <a:r>
              <a:rPr lang="ru-RU" dirty="0" smtClean="0"/>
              <a:t>Плана подготовки и набора персонала;</a:t>
            </a:r>
          </a:p>
          <a:p>
            <a:r>
              <a:rPr lang="ru-RU" dirty="0" smtClean="0"/>
              <a:t>Распределение трудовых ресурсов и т.д.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История изменений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ru-RU" dirty="0" smtClean="0"/>
              <a:t>		Применение:</a:t>
            </a:r>
          </a:p>
          <a:p>
            <a:r>
              <a:rPr lang="ru-RU" dirty="0" smtClean="0"/>
              <a:t>Восстановление предыдущих значений параметров и структуры;</a:t>
            </a:r>
          </a:p>
          <a:p>
            <a:r>
              <a:rPr lang="ru-RU" dirty="0" smtClean="0"/>
              <a:t>Определение обоснованности предыдущих изменений;</a:t>
            </a:r>
          </a:p>
          <a:p>
            <a:r>
              <a:rPr lang="ru-RU" dirty="0" smtClean="0"/>
              <a:t>Установление номера исполнения изделия.</a:t>
            </a:r>
            <a:endParaRPr lang="ru-RU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Место </a:t>
            </a:r>
            <a:r>
              <a:rPr lang="ru-RU" dirty="0" smtClean="0"/>
              <a:t>СУЖЦ в информационной среде </a:t>
            </a:r>
            <a:r>
              <a:rPr lang="ru-RU" dirty="0" smtClean="0"/>
              <a:t>предприятия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СУЖЦ</a:t>
            </a:r>
            <a:r>
              <a:rPr lang="en-US" dirty="0" smtClean="0"/>
              <a:t> </a:t>
            </a:r>
            <a:r>
              <a:rPr lang="ru-RU" dirty="0" smtClean="0"/>
              <a:t>– </a:t>
            </a:r>
            <a:r>
              <a:rPr lang="ru-RU" dirty="0" smtClean="0"/>
              <a:t>обеспечение </a:t>
            </a:r>
            <a:r>
              <a:rPr lang="ru-RU" dirty="0" smtClean="0"/>
              <a:t>ввода информации в хранилище данных и </a:t>
            </a:r>
            <a:r>
              <a:rPr lang="ru-RU" dirty="0" smtClean="0"/>
              <a:t>предоставление </a:t>
            </a:r>
            <a:r>
              <a:rPr lang="ru-RU" dirty="0" smtClean="0"/>
              <a:t>удобного пользовательского интерфейса для их модификации. Кроме того, СУЖЦ применяется как "прослойка" между САПР и другими системами предприятия</a:t>
            </a:r>
            <a:endParaRPr lang="ru-RU" dirty="0" smtClean="0"/>
          </a:p>
          <a:p>
            <a:r>
              <a:rPr lang="en-US" dirty="0" smtClean="0"/>
              <a:t>ERP </a:t>
            </a:r>
            <a:r>
              <a:rPr lang="ru-RU" dirty="0" smtClean="0"/>
              <a:t>– позволит отслеживать производство и при его анализе улучшать технологический процесс, непосредственно выполняет функции поддержки принятия решений;</a:t>
            </a:r>
          </a:p>
          <a:p>
            <a:r>
              <a:rPr lang="ru-RU" dirty="0" smtClean="0"/>
              <a:t>Электронный </a:t>
            </a:r>
            <a:r>
              <a:rPr lang="ru-RU" dirty="0" smtClean="0"/>
              <a:t>документооборот – автоматизирует передачу документов между заинтересованными лицами и позволяет избавиться от бумажной документации, что значительно ускорит обращение с изделием;</a:t>
            </a:r>
          </a:p>
          <a:p>
            <a:r>
              <a:rPr lang="en-US" dirty="0" smtClean="0"/>
              <a:t>CRM </a:t>
            </a:r>
            <a:r>
              <a:rPr lang="ru-RU" dirty="0" smtClean="0"/>
              <a:t>– позволяет настроить общение с потребителями и держателями документации для автоматизации обмена конструкторскими и технологическими данными.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Выводы:	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624078" indent="-514350">
              <a:buFont typeface="+mj-lt"/>
              <a:buAutoNum type="arabicPeriod"/>
            </a:pPr>
            <a:r>
              <a:rPr lang="ru-RU" dirty="0" smtClean="0"/>
              <a:t>СУЖЦ отвечают основным требованиям к СППР, но не имеют достаточных средств для анализа и прогнозирования</a:t>
            </a:r>
            <a:r>
              <a:rPr lang="ru-RU" dirty="0" smtClean="0"/>
              <a:t>.</a:t>
            </a:r>
          </a:p>
          <a:p>
            <a:pPr marL="624078" indent="-514350">
              <a:buFont typeface="+mj-lt"/>
              <a:buAutoNum type="arabicPeriod"/>
            </a:pPr>
            <a:r>
              <a:rPr lang="ru-RU" dirty="0" smtClean="0"/>
              <a:t>Они </a:t>
            </a:r>
            <a:r>
              <a:rPr lang="ru-RU" dirty="0" smtClean="0"/>
              <a:t>являются отличным инструментом для подготовки информации для дальнейшего принятия решений, а так же оперативного решения возникающих проблем.</a:t>
            </a:r>
          </a:p>
          <a:p>
            <a:pPr marL="624078" indent="-514350">
              <a:buFont typeface="+mj-lt"/>
              <a:buAutoNum type="arabicPeriod"/>
            </a:pPr>
            <a:r>
              <a:rPr lang="ru-RU" dirty="0" smtClean="0"/>
              <a:t>Наиболее </a:t>
            </a:r>
            <a:r>
              <a:rPr lang="ru-RU" dirty="0" smtClean="0"/>
              <a:t>полезными функциями на этапе проектирования являются централизованное управление составом </a:t>
            </a:r>
            <a:r>
              <a:rPr lang="ru-RU" dirty="0" smtClean="0"/>
              <a:t>изделий и </a:t>
            </a:r>
            <a:r>
              <a:rPr lang="ru-RU" dirty="0" smtClean="0"/>
              <a:t>технологическим маршрутом</a:t>
            </a:r>
            <a:r>
              <a:rPr lang="ru-RU" dirty="0" smtClean="0"/>
              <a:t>.</a:t>
            </a:r>
          </a:p>
          <a:p>
            <a:pPr marL="624078" indent="-514350">
              <a:buFont typeface="+mj-lt"/>
              <a:buAutoNum type="arabicPeriod"/>
            </a:pPr>
            <a:r>
              <a:rPr lang="ru-RU" dirty="0" smtClean="0"/>
              <a:t>СУЖЦ занимает важное место в информационной среде предприятия </a:t>
            </a:r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Автор: Темников А.В., студент группы 521 </a:t>
            </a:r>
            <a:endParaRPr lang="en-US" dirty="0" smtClean="0"/>
          </a:p>
          <a:p>
            <a:r>
              <a:rPr lang="ru-RU" dirty="0" smtClean="0"/>
              <a:t>Финансового Университета при правительстве Российской Федерации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Городская">
  <a:themeElements>
    <a:clrScheme name="Городская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Городская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Городская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191</TotalTime>
  <Words>555</Words>
  <PresentationFormat>Экран (4:3)</PresentationFormat>
  <Paragraphs>113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Городская</vt:lpstr>
      <vt:lpstr>Возможности поддержки принятия решений в системах управления жизненным циклом</vt:lpstr>
      <vt:lpstr>Информационные системы предприятия</vt:lpstr>
      <vt:lpstr>PTC Windchill</vt:lpstr>
      <vt:lpstr>Классификации СППР Взаимодействие с пользователем:</vt:lpstr>
      <vt:lpstr>Классификации СППР По способу поддержки различают:</vt:lpstr>
      <vt:lpstr> Классификации СППР  По сфере использования выделяют: </vt:lpstr>
      <vt:lpstr>Структура СППР Информационные хранилища данных</vt:lpstr>
      <vt:lpstr>Структура СППР Средства и методы извлечения, обработки и загрузки данных (ETL) </vt:lpstr>
      <vt:lpstr>Структура СППР Многомерная БД и средства анализа OLAP; Средства Data Mining.</vt:lpstr>
      <vt:lpstr>Жизненный цикл продукции:</vt:lpstr>
      <vt:lpstr>Данные для поддержки принятия решений</vt:lpstr>
      <vt:lpstr>Количество и параметры покупных комплектующих изделий, электрические характеристики, допустимые замены</vt:lpstr>
      <vt:lpstr>Используемые материалы и габариты деталей</vt:lpstr>
      <vt:lpstr>Технологический маршрут изделия</vt:lpstr>
      <vt:lpstr>Управление составом изделия </vt:lpstr>
      <vt:lpstr>Трудоёмкость изделия и требуемый разряд рабочих</vt:lpstr>
      <vt:lpstr>История изменений</vt:lpstr>
      <vt:lpstr>Место СУЖЦ в информационной среде предприятия</vt:lpstr>
      <vt:lpstr>Выводы: 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TemnikovAV</dc:creator>
  <cp:lastModifiedBy>TemnikovAV</cp:lastModifiedBy>
  <cp:revision>47</cp:revision>
  <dcterms:created xsi:type="dcterms:W3CDTF">2016-01-11T05:54:02Z</dcterms:created>
  <dcterms:modified xsi:type="dcterms:W3CDTF">2016-01-13T10:47:09Z</dcterms:modified>
</cp:coreProperties>
</file>