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C75F85-ECE2-409F-B5A8-176467AFCF14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46C91F-4B1F-4465-8175-98C05733A160}">
      <dgm:prSet phldrT="[Текст]"/>
      <dgm:spPr/>
      <dgm:t>
        <a:bodyPr/>
        <a:lstStyle/>
        <a:p>
          <a:r>
            <a:rPr lang="ru-RU" dirty="0" smtClean="0"/>
            <a:t>КСППР</a:t>
          </a:r>
          <a:endParaRPr lang="ru-RU" dirty="0"/>
        </a:p>
      </dgm:t>
    </dgm:pt>
    <dgm:pt modelId="{9B9539AB-833A-4691-BB6B-64AD0CDE34A8}" type="parTrans" cxnId="{C23F8AE5-7C87-412D-A678-97175B3DB156}">
      <dgm:prSet/>
      <dgm:spPr/>
      <dgm:t>
        <a:bodyPr/>
        <a:lstStyle/>
        <a:p>
          <a:endParaRPr lang="ru-RU"/>
        </a:p>
      </dgm:t>
    </dgm:pt>
    <dgm:pt modelId="{A40A5C8E-8FE2-435C-913B-4F8D7C3421E0}" type="sibTrans" cxnId="{C23F8AE5-7C87-412D-A678-97175B3DB156}">
      <dgm:prSet/>
      <dgm:spPr/>
      <dgm:t>
        <a:bodyPr/>
        <a:lstStyle/>
        <a:p>
          <a:endParaRPr lang="ru-RU"/>
        </a:p>
      </dgm:t>
    </dgm:pt>
    <dgm:pt modelId="{F5D6D4A5-34D2-43C5-AE6D-36E68EF94C99}">
      <dgm:prSet phldrT="[Текст]"/>
      <dgm:spPr/>
      <dgm:t>
        <a:bodyPr/>
        <a:lstStyle/>
        <a:p>
          <a:r>
            <a:rPr lang="en-US" dirty="0" smtClean="0"/>
            <a:t>ERP</a:t>
          </a:r>
          <a:endParaRPr lang="ru-RU" dirty="0"/>
        </a:p>
      </dgm:t>
    </dgm:pt>
    <dgm:pt modelId="{119037E7-367B-4BFF-81C2-7B84EFC3B8DD}" type="parTrans" cxnId="{B31E5606-9477-41B1-BE71-E683683672DE}">
      <dgm:prSet/>
      <dgm:spPr/>
      <dgm:t>
        <a:bodyPr/>
        <a:lstStyle/>
        <a:p>
          <a:endParaRPr lang="ru-RU"/>
        </a:p>
      </dgm:t>
    </dgm:pt>
    <dgm:pt modelId="{FC3DBBE2-1D70-4BF3-A74D-8D2088DDCF34}" type="sibTrans" cxnId="{B31E5606-9477-41B1-BE71-E683683672DE}">
      <dgm:prSet/>
      <dgm:spPr/>
      <dgm:t>
        <a:bodyPr/>
        <a:lstStyle/>
        <a:p>
          <a:endParaRPr lang="ru-RU"/>
        </a:p>
      </dgm:t>
    </dgm:pt>
    <dgm:pt modelId="{27356A8B-E80E-466D-A4B0-B3AEE2D62B7C}">
      <dgm:prSet phldrT="[Текст]"/>
      <dgm:spPr/>
      <dgm:t>
        <a:bodyPr/>
        <a:lstStyle/>
        <a:p>
          <a:r>
            <a:rPr lang="en-US" dirty="0" smtClean="0"/>
            <a:t>CSM</a:t>
          </a:r>
          <a:endParaRPr lang="ru-RU" dirty="0"/>
        </a:p>
      </dgm:t>
    </dgm:pt>
    <dgm:pt modelId="{9AF1024E-DD2A-4455-AAA2-03C0A76D35D4}" type="parTrans" cxnId="{0B82AC6E-BB8F-4CBD-A0D0-27FA8984C44F}">
      <dgm:prSet/>
      <dgm:spPr/>
      <dgm:t>
        <a:bodyPr/>
        <a:lstStyle/>
        <a:p>
          <a:endParaRPr lang="ru-RU"/>
        </a:p>
      </dgm:t>
    </dgm:pt>
    <dgm:pt modelId="{95CEB554-DF26-4837-8C25-3FFD1A002FC9}" type="sibTrans" cxnId="{0B82AC6E-BB8F-4CBD-A0D0-27FA8984C44F}">
      <dgm:prSet/>
      <dgm:spPr/>
      <dgm:t>
        <a:bodyPr/>
        <a:lstStyle/>
        <a:p>
          <a:endParaRPr lang="ru-RU"/>
        </a:p>
      </dgm:t>
    </dgm:pt>
    <dgm:pt modelId="{BE11D951-3C1B-4DC3-A801-B178DAB2D39F}">
      <dgm:prSet phldrT="[Текст]"/>
      <dgm:spPr/>
      <dgm:t>
        <a:bodyPr/>
        <a:lstStyle/>
        <a:p>
          <a:r>
            <a:rPr lang="en-US" dirty="0" smtClean="0"/>
            <a:t>CRM</a:t>
          </a:r>
          <a:endParaRPr lang="ru-RU" dirty="0"/>
        </a:p>
      </dgm:t>
    </dgm:pt>
    <dgm:pt modelId="{9C5A01B0-D8B7-4D7E-8FB5-E2586C7FEBFC}" type="parTrans" cxnId="{B56EDF69-42AB-4E19-AC19-F84F0696B2D6}">
      <dgm:prSet/>
      <dgm:spPr/>
      <dgm:t>
        <a:bodyPr/>
        <a:lstStyle/>
        <a:p>
          <a:endParaRPr lang="ru-RU"/>
        </a:p>
      </dgm:t>
    </dgm:pt>
    <dgm:pt modelId="{10D67A31-9E69-40AC-A22F-115FA30830BF}" type="sibTrans" cxnId="{B56EDF69-42AB-4E19-AC19-F84F0696B2D6}">
      <dgm:prSet/>
      <dgm:spPr/>
      <dgm:t>
        <a:bodyPr/>
        <a:lstStyle/>
        <a:p>
          <a:endParaRPr lang="ru-RU"/>
        </a:p>
      </dgm:t>
    </dgm:pt>
    <dgm:pt modelId="{86908134-5176-4445-B54E-01F2400E2233}">
      <dgm:prSet phldrT="[Текст]"/>
      <dgm:spPr/>
      <dgm:t>
        <a:bodyPr/>
        <a:lstStyle/>
        <a:p>
          <a:r>
            <a:rPr lang="en-US" dirty="0" smtClean="0"/>
            <a:t>PLM</a:t>
          </a:r>
          <a:endParaRPr lang="ru-RU" dirty="0"/>
        </a:p>
      </dgm:t>
    </dgm:pt>
    <dgm:pt modelId="{4067613B-1207-4E98-84C1-E6E3ECC9B915}" type="parTrans" cxnId="{652A323A-5F9B-4BA6-83E6-57520FDBF010}">
      <dgm:prSet/>
      <dgm:spPr/>
      <dgm:t>
        <a:bodyPr/>
        <a:lstStyle/>
        <a:p>
          <a:endParaRPr lang="ru-RU"/>
        </a:p>
      </dgm:t>
    </dgm:pt>
    <dgm:pt modelId="{EB0B0018-335B-4FAA-A84E-9C177381A061}" type="sibTrans" cxnId="{652A323A-5F9B-4BA6-83E6-57520FDBF010}">
      <dgm:prSet/>
      <dgm:spPr/>
      <dgm:t>
        <a:bodyPr/>
        <a:lstStyle/>
        <a:p>
          <a:endParaRPr lang="ru-RU"/>
        </a:p>
      </dgm:t>
    </dgm:pt>
    <dgm:pt modelId="{077C8559-FFE8-47A9-A8F1-0B03F60FD0D2}" type="pres">
      <dgm:prSet presAssocID="{7BC75F85-ECE2-409F-B5A8-176467AFCF14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AB0E042-8A5C-479B-B0E7-62403C6D1687}" type="pres">
      <dgm:prSet presAssocID="{1746C91F-4B1F-4465-8175-98C05733A160}" presName="centerShape" presStyleLbl="node0" presStyleIdx="0" presStyleCnt="1"/>
      <dgm:spPr/>
      <dgm:t>
        <a:bodyPr/>
        <a:lstStyle/>
        <a:p>
          <a:endParaRPr lang="ru-RU"/>
        </a:p>
      </dgm:t>
    </dgm:pt>
    <dgm:pt modelId="{BB1E94A0-5804-4B43-9360-E371ADA41282}" type="pres">
      <dgm:prSet presAssocID="{119037E7-367B-4BFF-81C2-7B84EFC3B8DD}" presName="parTrans" presStyleLbl="bgSibTrans2D1" presStyleIdx="0" presStyleCnt="4"/>
      <dgm:spPr/>
      <dgm:t>
        <a:bodyPr/>
        <a:lstStyle/>
        <a:p>
          <a:endParaRPr lang="ru-RU"/>
        </a:p>
      </dgm:t>
    </dgm:pt>
    <dgm:pt modelId="{78A56745-F5CC-455A-81AA-BB47AA406921}" type="pres">
      <dgm:prSet presAssocID="{F5D6D4A5-34D2-43C5-AE6D-36E68EF94C9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B48DFA-D4F4-40A8-80A3-8C01DB2C5213}" type="pres">
      <dgm:prSet presAssocID="{9AF1024E-DD2A-4455-AAA2-03C0A76D35D4}" presName="parTrans" presStyleLbl="bgSibTrans2D1" presStyleIdx="1" presStyleCnt="4"/>
      <dgm:spPr/>
      <dgm:t>
        <a:bodyPr/>
        <a:lstStyle/>
        <a:p>
          <a:endParaRPr lang="ru-RU"/>
        </a:p>
      </dgm:t>
    </dgm:pt>
    <dgm:pt modelId="{A42930F9-467B-44B9-9846-00B21B70EE2D}" type="pres">
      <dgm:prSet presAssocID="{27356A8B-E80E-466D-A4B0-B3AEE2D62B7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CD3254-982B-4916-891C-275BF1D14115}" type="pres">
      <dgm:prSet presAssocID="{9C5A01B0-D8B7-4D7E-8FB5-E2586C7FEBFC}" presName="parTrans" presStyleLbl="bgSibTrans2D1" presStyleIdx="2" presStyleCnt="4"/>
      <dgm:spPr/>
      <dgm:t>
        <a:bodyPr/>
        <a:lstStyle/>
        <a:p>
          <a:endParaRPr lang="ru-RU"/>
        </a:p>
      </dgm:t>
    </dgm:pt>
    <dgm:pt modelId="{CD8C6F4E-C072-45FC-934B-46D50ACB01B1}" type="pres">
      <dgm:prSet presAssocID="{BE11D951-3C1B-4DC3-A801-B178DAB2D39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7BE649-1BEA-4DDF-8B25-085177C1946B}" type="pres">
      <dgm:prSet presAssocID="{4067613B-1207-4E98-84C1-E6E3ECC9B915}" presName="parTrans" presStyleLbl="bgSibTrans2D1" presStyleIdx="3" presStyleCnt="4"/>
      <dgm:spPr/>
      <dgm:t>
        <a:bodyPr/>
        <a:lstStyle/>
        <a:p>
          <a:endParaRPr lang="ru-RU"/>
        </a:p>
      </dgm:t>
    </dgm:pt>
    <dgm:pt modelId="{CBFADEF7-5F44-4A16-B0D7-94E014C0862A}" type="pres">
      <dgm:prSet presAssocID="{86908134-5176-4445-B54E-01F2400E223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B82AC6E-BB8F-4CBD-A0D0-27FA8984C44F}" srcId="{1746C91F-4B1F-4465-8175-98C05733A160}" destId="{27356A8B-E80E-466D-A4B0-B3AEE2D62B7C}" srcOrd="1" destOrd="0" parTransId="{9AF1024E-DD2A-4455-AAA2-03C0A76D35D4}" sibTransId="{95CEB554-DF26-4837-8C25-3FFD1A002FC9}"/>
    <dgm:cxn modelId="{5CFB6E7E-73C1-418D-B512-2FBCAFCA002F}" type="presOf" srcId="{BE11D951-3C1B-4DC3-A801-B178DAB2D39F}" destId="{CD8C6F4E-C072-45FC-934B-46D50ACB01B1}" srcOrd="0" destOrd="0" presId="urn:microsoft.com/office/officeart/2005/8/layout/radial4"/>
    <dgm:cxn modelId="{0BD2E077-294B-4E02-86DC-16B3E66D4454}" type="presOf" srcId="{9AF1024E-DD2A-4455-AAA2-03C0A76D35D4}" destId="{26B48DFA-D4F4-40A8-80A3-8C01DB2C5213}" srcOrd="0" destOrd="0" presId="urn:microsoft.com/office/officeart/2005/8/layout/radial4"/>
    <dgm:cxn modelId="{B31E5606-9477-41B1-BE71-E683683672DE}" srcId="{1746C91F-4B1F-4465-8175-98C05733A160}" destId="{F5D6D4A5-34D2-43C5-AE6D-36E68EF94C99}" srcOrd="0" destOrd="0" parTransId="{119037E7-367B-4BFF-81C2-7B84EFC3B8DD}" sibTransId="{FC3DBBE2-1D70-4BF3-A74D-8D2088DDCF34}"/>
    <dgm:cxn modelId="{2B96316D-03F0-43EB-8B15-97FAB0FC126B}" type="presOf" srcId="{27356A8B-E80E-466D-A4B0-B3AEE2D62B7C}" destId="{A42930F9-467B-44B9-9846-00B21B70EE2D}" srcOrd="0" destOrd="0" presId="urn:microsoft.com/office/officeart/2005/8/layout/radial4"/>
    <dgm:cxn modelId="{652A323A-5F9B-4BA6-83E6-57520FDBF010}" srcId="{1746C91F-4B1F-4465-8175-98C05733A160}" destId="{86908134-5176-4445-B54E-01F2400E2233}" srcOrd="3" destOrd="0" parTransId="{4067613B-1207-4E98-84C1-E6E3ECC9B915}" sibTransId="{EB0B0018-335B-4FAA-A84E-9C177381A061}"/>
    <dgm:cxn modelId="{153A6396-59B4-4B3B-90E9-2231CC957E18}" type="presOf" srcId="{119037E7-367B-4BFF-81C2-7B84EFC3B8DD}" destId="{BB1E94A0-5804-4B43-9360-E371ADA41282}" srcOrd="0" destOrd="0" presId="urn:microsoft.com/office/officeart/2005/8/layout/radial4"/>
    <dgm:cxn modelId="{C5952CE0-19C7-41BC-AF58-EABA619A69C4}" type="presOf" srcId="{7BC75F85-ECE2-409F-B5A8-176467AFCF14}" destId="{077C8559-FFE8-47A9-A8F1-0B03F60FD0D2}" srcOrd="0" destOrd="0" presId="urn:microsoft.com/office/officeart/2005/8/layout/radial4"/>
    <dgm:cxn modelId="{C23F8AE5-7C87-412D-A678-97175B3DB156}" srcId="{7BC75F85-ECE2-409F-B5A8-176467AFCF14}" destId="{1746C91F-4B1F-4465-8175-98C05733A160}" srcOrd="0" destOrd="0" parTransId="{9B9539AB-833A-4691-BB6B-64AD0CDE34A8}" sibTransId="{A40A5C8E-8FE2-435C-913B-4F8D7C3421E0}"/>
    <dgm:cxn modelId="{182E32F2-395B-4D9C-9771-D1FE5CEA27E0}" type="presOf" srcId="{4067613B-1207-4E98-84C1-E6E3ECC9B915}" destId="{D77BE649-1BEA-4DDF-8B25-085177C1946B}" srcOrd="0" destOrd="0" presId="urn:microsoft.com/office/officeart/2005/8/layout/radial4"/>
    <dgm:cxn modelId="{EDD98F7F-27BD-403A-A852-4F3CB424B0D8}" type="presOf" srcId="{86908134-5176-4445-B54E-01F2400E2233}" destId="{CBFADEF7-5F44-4A16-B0D7-94E014C0862A}" srcOrd="0" destOrd="0" presId="urn:microsoft.com/office/officeart/2005/8/layout/radial4"/>
    <dgm:cxn modelId="{87EF7C4F-AFBA-4347-8586-88E7E79127AC}" type="presOf" srcId="{F5D6D4A5-34D2-43C5-AE6D-36E68EF94C99}" destId="{78A56745-F5CC-455A-81AA-BB47AA406921}" srcOrd="0" destOrd="0" presId="urn:microsoft.com/office/officeart/2005/8/layout/radial4"/>
    <dgm:cxn modelId="{B56EDF69-42AB-4E19-AC19-F84F0696B2D6}" srcId="{1746C91F-4B1F-4465-8175-98C05733A160}" destId="{BE11D951-3C1B-4DC3-A801-B178DAB2D39F}" srcOrd="2" destOrd="0" parTransId="{9C5A01B0-D8B7-4D7E-8FB5-E2586C7FEBFC}" sibTransId="{10D67A31-9E69-40AC-A22F-115FA30830BF}"/>
    <dgm:cxn modelId="{899CB0F8-55C6-4429-A696-46B0EE908DE7}" type="presOf" srcId="{1746C91F-4B1F-4465-8175-98C05733A160}" destId="{2AB0E042-8A5C-479B-B0E7-62403C6D1687}" srcOrd="0" destOrd="0" presId="urn:microsoft.com/office/officeart/2005/8/layout/radial4"/>
    <dgm:cxn modelId="{5492F091-7A7E-42D6-BD85-668A1FE0C8A3}" type="presOf" srcId="{9C5A01B0-D8B7-4D7E-8FB5-E2586C7FEBFC}" destId="{8FCD3254-982B-4916-891C-275BF1D14115}" srcOrd="0" destOrd="0" presId="urn:microsoft.com/office/officeart/2005/8/layout/radial4"/>
    <dgm:cxn modelId="{BC707669-5402-40EE-9A55-C5101B39E8DF}" type="presParOf" srcId="{077C8559-FFE8-47A9-A8F1-0B03F60FD0D2}" destId="{2AB0E042-8A5C-479B-B0E7-62403C6D1687}" srcOrd="0" destOrd="0" presId="urn:microsoft.com/office/officeart/2005/8/layout/radial4"/>
    <dgm:cxn modelId="{8132A77A-1E92-4CD2-AA92-38A4BF59E569}" type="presParOf" srcId="{077C8559-FFE8-47A9-A8F1-0B03F60FD0D2}" destId="{BB1E94A0-5804-4B43-9360-E371ADA41282}" srcOrd="1" destOrd="0" presId="urn:microsoft.com/office/officeart/2005/8/layout/radial4"/>
    <dgm:cxn modelId="{DAC280CB-A0AC-4EDA-9171-1E11B99D0C58}" type="presParOf" srcId="{077C8559-FFE8-47A9-A8F1-0B03F60FD0D2}" destId="{78A56745-F5CC-455A-81AA-BB47AA406921}" srcOrd="2" destOrd="0" presId="urn:microsoft.com/office/officeart/2005/8/layout/radial4"/>
    <dgm:cxn modelId="{392E5504-4130-4A2E-8973-E722683A3011}" type="presParOf" srcId="{077C8559-FFE8-47A9-A8F1-0B03F60FD0D2}" destId="{26B48DFA-D4F4-40A8-80A3-8C01DB2C5213}" srcOrd="3" destOrd="0" presId="urn:microsoft.com/office/officeart/2005/8/layout/radial4"/>
    <dgm:cxn modelId="{E26EEA10-ADE0-4B91-A132-4A6600798AB7}" type="presParOf" srcId="{077C8559-FFE8-47A9-A8F1-0B03F60FD0D2}" destId="{A42930F9-467B-44B9-9846-00B21B70EE2D}" srcOrd="4" destOrd="0" presId="urn:microsoft.com/office/officeart/2005/8/layout/radial4"/>
    <dgm:cxn modelId="{C8517398-3650-44B6-8559-871C04F38218}" type="presParOf" srcId="{077C8559-FFE8-47A9-A8F1-0B03F60FD0D2}" destId="{8FCD3254-982B-4916-891C-275BF1D14115}" srcOrd="5" destOrd="0" presId="urn:microsoft.com/office/officeart/2005/8/layout/radial4"/>
    <dgm:cxn modelId="{136E920F-05C7-4084-88BA-DB8878EC6DAA}" type="presParOf" srcId="{077C8559-FFE8-47A9-A8F1-0B03F60FD0D2}" destId="{CD8C6F4E-C072-45FC-934B-46D50ACB01B1}" srcOrd="6" destOrd="0" presId="urn:microsoft.com/office/officeart/2005/8/layout/radial4"/>
    <dgm:cxn modelId="{6692F5BB-00AC-4D3C-B48D-B5138B7E2883}" type="presParOf" srcId="{077C8559-FFE8-47A9-A8F1-0B03F60FD0D2}" destId="{D77BE649-1BEA-4DDF-8B25-085177C1946B}" srcOrd="7" destOrd="0" presId="urn:microsoft.com/office/officeart/2005/8/layout/radial4"/>
    <dgm:cxn modelId="{18CB5D60-72AB-4C01-9717-45CDAABD6741}" type="presParOf" srcId="{077C8559-FFE8-47A9-A8F1-0B03F60FD0D2}" destId="{CBFADEF7-5F44-4A16-B0D7-94E014C0862A}" srcOrd="8" destOrd="0" presId="urn:microsoft.com/office/officeart/2005/8/layout/radial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13.01.2016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Возможности поддержки принятия решений в системах управления жизненным циклом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Автор</a:t>
            </a:r>
            <a:r>
              <a:rPr lang="ru-RU" dirty="0" smtClean="0"/>
              <a:t>: Темников А.В., студент группы 521 </a:t>
            </a:r>
            <a:endParaRPr lang="en-US" dirty="0" smtClean="0"/>
          </a:p>
          <a:p>
            <a:r>
              <a:rPr lang="ru-RU" dirty="0" smtClean="0"/>
              <a:t>Финансового Университета при правительстве Российской Федерации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Информационные системы предприятия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2249488"/>
          <a:ext cx="4257676" cy="432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86380" y="2357430"/>
            <a:ext cx="33575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ERP – </a:t>
            </a:r>
            <a:r>
              <a:rPr lang="ru-RU" dirty="0" smtClean="0"/>
              <a:t>Планирование (</a:t>
            </a:r>
            <a:r>
              <a:rPr lang="ru-RU" dirty="0" smtClean="0"/>
              <a:t>управление</a:t>
            </a:r>
            <a:r>
              <a:rPr lang="ru-RU" dirty="0" smtClean="0"/>
              <a:t>) ресурсами предприятия </a:t>
            </a: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CSM – </a:t>
            </a:r>
            <a:r>
              <a:rPr lang="ru-RU" dirty="0" smtClean="0"/>
              <a:t>Управление цепочками поставок 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CRM – </a:t>
            </a:r>
            <a:r>
              <a:rPr lang="ru-RU" dirty="0" smtClean="0"/>
              <a:t>Управление взаимодействием с клиентом</a:t>
            </a: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PLM – </a:t>
            </a:r>
            <a:r>
              <a:rPr lang="ru-RU" dirty="0" smtClean="0"/>
              <a:t>Управление жизненным циклом</a:t>
            </a:r>
            <a:endParaRPr lang="ru-RU" dirty="0" smtClean="0"/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КССПР –</a:t>
            </a:r>
            <a:r>
              <a:rPr lang="en-US" dirty="0" smtClean="0"/>
              <a:t> </a:t>
            </a:r>
            <a:r>
              <a:rPr lang="ru-RU" dirty="0" smtClean="0"/>
              <a:t>Комплексная система поддержки принятия решений</a:t>
            </a:r>
            <a:endParaRPr lang="en-US" dirty="0" smtClean="0"/>
          </a:p>
          <a:p>
            <a:endParaRPr lang="ru-RU" dirty="0" smtClean="0"/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PTC </a:t>
            </a:r>
            <a:r>
              <a:rPr lang="en-US" dirty="0" err="1" smtClean="0"/>
              <a:t>Windchill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		PTC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Windchill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PLM-система, предназначенная для автоматизации процессов управления данными. 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PTC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Windchill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управлять всей информацией о структуре изделия при его разработке – от концепции до утилизации, от изготовления отдельных деталей до сдачи их в эксплуатацию и т.д. </a:t>
            </a:r>
          </a:p>
          <a:p>
            <a:pPr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	PTC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Windchill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предоставляет необходимую функциональность для автоматизации процессов управления данными изделия при одновременной разработке различными группами разработчиков. Архитектура системы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PTC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Windchill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построена на основе web-технологий, что позволяет не только динамично развивать систему, но и использовать стандартные web-инструменты – такой подход существенно упрощает администрирование системы и работу ее пользователей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Содержимое 5" descr="windchill-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05400" y="1285860"/>
            <a:ext cx="4038600" cy="2898673"/>
          </a:xfrm>
        </p:spPr>
      </p:pic>
      <p:pic>
        <p:nvPicPr>
          <p:cNvPr id="7" name="Рисунок 6" descr="Windchill-10-PSB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7" y="3571876"/>
            <a:ext cx="4296781" cy="3000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Классификации </a:t>
            </a:r>
            <a:r>
              <a:rPr lang="ru-RU" dirty="0" smtClean="0"/>
              <a:t>СППР</a:t>
            </a:r>
            <a:br>
              <a:rPr lang="ru-RU" dirty="0" smtClean="0"/>
            </a:br>
            <a:r>
              <a:rPr lang="ru-RU" sz="3100" dirty="0" smtClean="0"/>
              <a:t>Взаимодействие с пользователем:</a:t>
            </a:r>
            <a:endParaRPr lang="ru-RU" sz="31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b="1" dirty="0" smtClean="0"/>
              <a:t>Пассивные</a:t>
            </a:r>
            <a:r>
              <a:rPr lang="ru-RU" dirty="0" smtClean="0"/>
              <a:t> </a:t>
            </a:r>
            <a:r>
              <a:rPr lang="ru-RU" dirty="0" smtClean="0"/>
              <a:t>помогают в процессе принятия решений, но не могут выдвинуть конкретного предложения;</a:t>
            </a:r>
          </a:p>
          <a:p>
            <a:pPr lvl="0"/>
            <a:r>
              <a:rPr lang="ru-RU" b="1" dirty="0" smtClean="0"/>
              <a:t>Активные</a:t>
            </a:r>
            <a:r>
              <a:rPr lang="ru-RU" dirty="0" smtClean="0"/>
              <a:t> </a:t>
            </a:r>
            <a:r>
              <a:rPr lang="ru-RU" dirty="0" smtClean="0"/>
              <a:t>непосредственно участвуют в разработке правильного решения;</a:t>
            </a:r>
          </a:p>
          <a:p>
            <a:pPr lvl="0"/>
            <a:r>
              <a:rPr lang="ru-RU" b="1" dirty="0" smtClean="0"/>
              <a:t>Кооперативные</a:t>
            </a:r>
            <a:r>
              <a:rPr lang="ru-RU" dirty="0" smtClean="0"/>
              <a:t> предполагают взаимодействие СППР с пользователем. </a:t>
            </a:r>
            <a:endParaRPr lang="ru-RU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Классификации СППР</a:t>
            </a:r>
            <a:br>
              <a:rPr lang="ru-RU" dirty="0" smtClean="0"/>
            </a:br>
            <a:r>
              <a:rPr lang="ru-RU" sz="3100" dirty="0" smtClean="0"/>
              <a:t>По способу поддержки различают</a:t>
            </a:r>
            <a:r>
              <a:rPr lang="ru-RU" sz="3100" dirty="0" smtClean="0"/>
              <a:t>:</a:t>
            </a:r>
            <a:endParaRPr lang="ru-RU" sz="31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b="1" dirty="0" smtClean="0"/>
              <a:t>Модельно-ориентированные </a:t>
            </a:r>
            <a:r>
              <a:rPr lang="ru-RU" b="1" dirty="0" smtClean="0"/>
              <a:t>СППР</a:t>
            </a:r>
            <a:r>
              <a:rPr lang="ru-RU" dirty="0" smtClean="0"/>
              <a:t>, используют в работе доступ к статистическим, финансовым или иным моделям;</a:t>
            </a:r>
          </a:p>
          <a:p>
            <a:pPr lvl="0"/>
            <a:r>
              <a:rPr lang="ru-RU" b="1" dirty="0" smtClean="0"/>
              <a:t>СППР, основанные на коммуникациях</a:t>
            </a:r>
            <a:r>
              <a:rPr lang="ru-RU" dirty="0" smtClean="0"/>
              <a:t>, поддерживают работу двух и более пользователей, занимающихся общей задачей;</a:t>
            </a:r>
          </a:p>
          <a:p>
            <a:pPr lvl="0"/>
            <a:r>
              <a:rPr lang="ru-RU" b="1" dirty="0" smtClean="0"/>
              <a:t>СППР, ориентированные на данные</a:t>
            </a:r>
            <a:r>
              <a:rPr lang="ru-RU" dirty="0" smtClean="0"/>
              <a:t>, имеют доступ к временным рядам организации. Они используют в работе не только внутренние, но и внешние данные;</a:t>
            </a:r>
          </a:p>
          <a:p>
            <a:pPr lvl="0"/>
            <a:r>
              <a:rPr lang="ru-RU" b="1" dirty="0" smtClean="0"/>
              <a:t>СППР, ориентированные на документы</a:t>
            </a:r>
            <a:r>
              <a:rPr lang="ru-RU" dirty="0" smtClean="0"/>
              <a:t>, манипулируют неструктурированной информацией, заключенной в различных электронных форматах;</a:t>
            </a:r>
          </a:p>
          <a:p>
            <a:pPr lvl="0"/>
            <a:r>
              <a:rPr lang="ru-RU" b="1" dirty="0" smtClean="0"/>
              <a:t>СППР, ориентированные на знания</a:t>
            </a:r>
            <a:r>
              <a:rPr lang="ru-RU" dirty="0" smtClean="0"/>
              <a:t>, предоставляют специализированные решения проблем, основанные на фактах.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Классификации </a:t>
            </a:r>
            <a:r>
              <a:rPr lang="ru-RU" dirty="0" smtClean="0"/>
              <a:t>СППР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3100" dirty="0" smtClean="0"/>
              <a:t>По </a:t>
            </a:r>
            <a:r>
              <a:rPr lang="ru-RU" sz="3100" dirty="0" smtClean="0"/>
              <a:t>сфере использования выделяют: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Общесистемные </a:t>
            </a:r>
            <a:r>
              <a:rPr lang="ru-RU" dirty="0" smtClean="0"/>
              <a:t>работают с </a:t>
            </a:r>
            <a:r>
              <a:rPr lang="ru-RU" dirty="0" smtClean="0"/>
              <a:t>большими системами хранения данных и применяются многими пользователями. </a:t>
            </a:r>
            <a:endParaRPr lang="ru-RU" b="1" dirty="0" smtClean="0"/>
          </a:p>
          <a:p>
            <a:pPr lvl="0"/>
            <a:r>
              <a:rPr lang="ru-RU" b="1" dirty="0" smtClean="0"/>
              <a:t>Настольные СППР </a:t>
            </a:r>
            <a:r>
              <a:rPr lang="ru-RU" dirty="0" smtClean="0"/>
              <a:t>являются </a:t>
            </a:r>
            <a:r>
              <a:rPr lang="ru-RU" dirty="0" smtClean="0"/>
              <a:t>небольшими системами и подходят для управления с персонального компьютера одного пользователя.</a:t>
            </a:r>
            <a:endParaRPr lang="ru-RU" b="1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66</TotalTime>
  <Words>213</Words>
  <PresentationFormat>Экран (4:3)</PresentationFormat>
  <Paragraphs>32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Городская</vt:lpstr>
      <vt:lpstr>Возможности поддержки принятия решений в системах управления жизненным циклом</vt:lpstr>
      <vt:lpstr>Информационные системы предприятия</vt:lpstr>
      <vt:lpstr>PTC Windchill</vt:lpstr>
      <vt:lpstr>Классификации СППР Взаимодействие с пользователем:</vt:lpstr>
      <vt:lpstr>Классификации СППР По способу поддержки различают:</vt:lpstr>
      <vt:lpstr> Классификации СППР  По сфере использования выделяют: 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TemnikovAV</dc:creator>
  <cp:lastModifiedBy>TemnikovAV</cp:lastModifiedBy>
  <cp:revision>14</cp:revision>
  <dcterms:created xsi:type="dcterms:W3CDTF">2016-01-11T05:54:02Z</dcterms:created>
  <dcterms:modified xsi:type="dcterms:W3CDTF">2016-01-13T08:20:11Z</dcterms:modified>
</cp:coreProperties>
</file>